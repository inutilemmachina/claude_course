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4"/>
  </p:notesMasterIdLst>
  <p:sldIdLst>
    <p:sldId id="274" r:id="rId2"/>
    <p:sldId id="281" r:id="rId3"/>
    <p:sldId id="275" r:id="rId4"/>
    <p:sldId id="257" r:id="rId5"/>
    <p:sldId id="264" r:id="rId6"/>
    <p:sldId id="277" r:id="rId7"/>
    <p:sldId id="259" r:id="rId8"/>
    <p:sldId id="260" r:id="rId9"/>
    <p:sldId id="261" r:id="rId10"/>
    <p:sldId id="283" r:id="rId11"/>
    <p:sldId id="285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1" autoAdjust="0"/>
  </p:normalViewPr>
  <p:slideViewPr>
    <p:cSldViewPr snapToObjects="1">
      <p:cViewPr varScale="1">
        <p:scale>
          <a:sx n="95" d="100"/>
          <a:sy n="95" d="100"/>
        </p:scale>
        <p:origin x="107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CÍM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slide_main_title</a:t>
            </a:r>
            <a:r>
              <a:rPr dirty="0"/>
              <a:t>  : </a:t>
            </a:r>
            <a:r>
              <a:rPr dirty="0" err="1"/>
              <a:t>főcím</a:t>
            </a:r>
            <a:r>
              <a:rPr dirty="0"/>
              <a:t> (max. 2–3 </a:t>
            </a:r>
            <a:r>
              <a:rPr dirty="0" err="1"/>
              <a:t>sor</a:t>
            </a:r>
            <a:r>
              <a:rPr dirty="0"/>
              <a:t>, Garamond 34pt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slide_subtitle</a:t>
            </a:r>
            <a:r>
              <a:rPr dirty="0"/>
              <a:t>    : </a:t>
            </a:r>
            <a:r>
              <a:rPr dirty="0" err="1"/>
              <a:t>tantárgy</a:t>
            </a:r>
            <a:r>
              <a:rPr dirty="0"/>
              <a:t> / </a:t>
            </a:r>
            <a:r>
              <a:rPr dirty="0" err="1"/>
              <a:t>intézet</a:t>
            </a:r>
            <a:r>
              <a:rPr dirty="0"/>
              <a:t> (</a:t>
            </a:r>
            <a:r>
              <a:rPr lang="hu-HU" dirty="0" err="1"/>
              <a:t>Aptos</a:t>
            </a:r>
            <a:r>
              <a:rPr dirty="0"/>
              <a:t> 15pt, </a:t>
            </a:r>
            <a:r>
              <a:rPr dirty="0" err="1"/>
              <a:t>dőlt</a:t>
            </a:r>
            <a:r>
              <a:rPr dirty="0"/>
              <a:t>, </a:t>
            </a:r>
            <a:r>
              <a:rPr dirty="0" err="1"/>
              <a:t>szürke</a:t>
            </a:r>
            <a:r>
              <a:rPr dirty="0"/>
              <a:t>)</a:t>
            </a:r>
          </a:p>
          <a:p>
            <a:r>
              <a:rPr dirty="0" err="1"/>
              <a:t>footer_author</a:t>
            </a:r>
            <a:r>
              <a:rPr dirty="0"/>
              <a:t>     : </a:t>
            </a:r>
            <a:r>
              <a:rPr dirty="0" err="1"/>
              <a:t>előadó</a:t>
            </a:r>
            <a:r>
              <a:rPr dirty="0"/>
              <a:t> neve</a:t>
            </a:r>
          </a:p>
          <a:p>
            <a:r>
              <a:rPr dirty="0" err="1"/>
              <a:t>footer_date</a:t>
            </a:r>
            <a:r>
              <a:rPr dirty="0"/>
              <a:t>       : </a:t>
            </a:r>
            <a:r>
              <a:rPr dirty="0" err="1"/>
              <a:t>dátum</a:t>
            </a:r>
            <a:r>
              <a:rPr dirty="0"/>
              <a:t> (ÉÉÉÉ.HH.NN. </a:t>
            </a:r>
            <a:r>
              <a:rPr dirty="0" err="1"/>
              <a:t>formátum</a:t>
            </a:r>
            <a:r>
              <a:rPr dirty="0"/>
              <a:t>)</a:t>
            </a:r>
          </a:p>
          <a:p>
            <a:r>
              <a:rPr dirty="0" err="1"/>
              <a:t>watermark_logo</a:t>
            </a:r>
            <a:r>
              <a:rPr dirty="0"/>
              <a:t>    : </a:t>
            </a:r>
            <a:r>
              <a:rPr dirty="0" err="1"/>
              <a:t>vízjel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– NE </a:t>
            </a:r>
            <a:r>
              <a:rPr dirty="0" err="1"/>
              <a:t>töröld</a:t>
            </a:r>
            <a:r>
              <a:rPr dirty="0"/>
              <a:t>; opacity XML-ben van</a:t>
            </a:r>
          </a:p>
          <a:p>
            <a:r>
              <a:rPr dirty="0" err="1"/>
              <a:t>logo_small</a:t>
            </a:r>
            <a:r>
              <a:rPr dirty="0"/>
              <a:t>        : </a:t>
            </a:r>
            <a:r>
              <a:rPr dirty="0" err="1"/>
              <a:t>kis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felső</a:t>
            </a:r>
            <a:r>
              <a:rPr dirty="0"/>
              <a:t> </a:t>
            </a:r>
            <a:r>
              <a:rPr dirty="0" err="1"/>
              <a:t>sarokba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 </a:t>
            </a:r>
            <a:r>
              <a:rPr dirty="0" err="1"/>
              <a:t>példa</a:t>
            </a:r>
            <a:r>
              <a:rPr dirty="0"/>
              <a:t>:</a:t>
            </a:r>
          </a:p>
          <a:p>
            <a:r>
              <a:rPr dirty="0"/>
              <a:t>  '</a:t>
            </a:r>
            <a:r>
              <a:rPr dirty="0" err="1"/>
              <a:t>Cseréld</a:t>
            </a:r>
            <a:r>
              <a:rPr dirty="0"/>
              <a:t> le a </a:t>
            </a:r>
            <a:r>
              <a:rPr dirty="0" err="1"/>
              <a:t>slide_main_title</a:t>
            </a:r>
            <a:r>
              <a:rPr dirty="0"/>
              <a:t> </a:t>
            </a:r>
            <a:r>
              <a:rPr dirty="0" err="1"/>
              <a:t>szövegét</a:t>
            </a:r>
            <a:r>
              <a:rPr dirty="0"/>
              <a:t> </a:t>
            </a:r>
            <a:r>
              <a:rPr dirty="0" err="1"/>
              <a:t>erre</a:t>
            </a:r>
            <a:r>
              <a:rPr dirty="0"/>
              <a:t>: ...'</a:t>
            </a:r>
          </a:p>
          <a:p>
            <a:r>
              <a:rPr dirty="0"/>
              <a:t>  'Az </a:t>
            </a:r>
            <a:r>
              <a:rPr dirty="0" err="1"/>
              <a:t>footer_author</a:t>
            </a:r>
            <a:r>
              <a:rPr dirty="0"/>
              <a:t> </a:t>
            </a:r>
            <a:r>
              <a:rPr dirty="0" err="1"/>
              <a:t>mezőbe</a:t>
            </a:r>
            <a:r>
              <a:rPr dirty="0"/>
              <a:t> </a:t>
            </a:r>
            <a:r>
              <a:rPr dirty="0" err="1"/>
              <a:t>írd</a:t>
            </a:r>
            <a:r>
              <a:rPr dirty="0"/>
              <a:t>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0886-CE11-DF65-11A8-3E9D73BB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6D950-E4F3-4521-893A-27FEB9FCC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3C44-8910-3B73-5B59-55092FB81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4A9-680E-972A-D43F-27357B81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5E8B-BF41-D958-3757-F8B20B05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EF653-FACD-A2E4-B91D-3442D8769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5B391-86B6-1719-59C0-222EBF083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SZAKASZFEJLÉC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section_number</a:t>
            </a:r>
            <a:r>
              <a:rPr dirty="0"/>
              <a:t>      : </a:t>
            </a:r>
            <a:r>
              <a:rPr dirty="0" err="1"/>
              <a:t>fejezet</a:t>
            </a:r>
            <a:r>
              <a:rPr dirty="0"/>
              <a:t> </a:t>
            </a:r>
            <a:r>
              <a:rPr dirty="0" err="1"/>
              <a:t>sorszáma</a:t>
            </a:r>
            <a:r>
              <a:rPr dirty="0"/>
              <a:t> (pl. '03') – Garamond 72pt</a:t>
            </a:r>
          </a:p>
          <a:p>
            <a:r>
              <a:rPr dirty="0" err="1"/>
              <a:t>section_title</a:t>
            </a:r>
            <a:r>
              <a:rPr dirty="0"/>
              <a:t>       : </a:t>
            </a:r>
            <a:r>
              <a:rPr dirty="0" err="1"/>
              <a:t>fejezet</a:t>
            </a:r>
            <a:r>
              <a:rPr dirty="0"/>
              <a:t> neve (max 2 </a:t>
            </a:r>
            <a:r>
              <a:rPr dirty="0" err="1"/>
              <a:t>sor</a:t>
            </a:r>
            <a:r>
              <a:rPr dirty="0"/>
              <a:t>, Garamond 24pt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section_description</a:t>
            </a:r>
            <a:r>
              <a:rPr dirty="0"/>
              <a:t> :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rövid</a:t>
            </a:r>
            <a:r>
              <a:rPr dirty="0"/>
              <a:t> </a:t>
            </a:r>
            <a:r>
              <a:rPr dirty="0" err="1"/>
              <a:t>leírás</a:t>
            </a:r>
            <a:r>
              <a:rPr dirty="0"/>
              <a:t> (Calibri 16pt)</a:t>
            </a:r>
          </a:p>
          <a:p>
            <a:r>
              <a:rPr dirty="0" err="1"/>
              <a:t>bottom_stripe</a:t>
            </a:r>
            <a:r>
              <a:rPr dirty="0"/>
              <a:t>       : </a:t>
            </a:r>
            <a:r>
              <a:rPr dirty="0" err="1"/>
              <a:t>narancs</a:t>
            </a:r>
            <a:r>
              <a:rPr dirty="0"/>
              <a:t> </a:t>
            </a:r>
            <a:r>
              <a:rPr dirty="0" err="1"/>
              <a:t>alap</a:t>
            </a:r>
            <a:r>
              <a:rPr dirty="0"/>
              <a:t> </a:t>
            </a:r>
            <a:r>
              <a:rPr dirty="0" err="1"/>
              <a:t>sáv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r>
              <a:rPr dirty="0" err="1"/>
              <a:t>section_bg_left</a:t>
            </a:r>
            <a:r>
              <a:rPr dirty="0"/>
              <a:t>     : navy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sáv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:</a:t>
            </a:r>
          </a:p>
          <a:p>
            <a:r>
              <a:rPr dirty="0"/>
              <a:t>  'A </a:t>
            </a:r>
            <a:r>
              <a:rPr dirty="0" err="1"/>
              <a:t>section_number</a:t>
            </a:r>
            <a:r>
              <a:rPr dirty="0"/>
              <a:t> </a:t>
            </a:r>
            <a:r>
              <a:rPr dirty="0" err="1"/>
              <a:t>értékét</a:t>
            </a:r>
            <a:r>
              <a:rPr dirty="0"/>
              <a:t> </a:t>
            </a:r>
            <a:r>
              <a:rPr dirty="0" err="1"/>
              <a:t>cseréld</a:t>
            </a:r>
            <a:r>
              <a:rPr dirty="0"/>
              <a:t>: 03'</a:t>
            </a:r>
          </a:p>
          <a:p>
            <a:r>
              <a:rPr dirty="0"/>
              <a:t>  'A </a:t>
            </a:r>
            <a:r>
              <a:rPr dirty="0" err="1"/>
              <a:t>section_title</a:t>
            </a:r>
            <a:r>
              <a:rPr dirty="0"/>
              <a:t> </a:t>
            </a:r>
            <a:r>
              <a:rPr dirty="0" err="1"/>
              <a:t>szövege</a:t>
            </a:r>
            <a:r>
              <a:rPr dirty="0"/>
              <a:t> </a:t>
            </a:r>
            <a:r>
              <a:rPr dirty="0" err="1"/>
              <a:t>legyen</a:t>
            </a:r>
            <a:r>
              <a:rPr dirty="0"/>
              <a:t>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45925-CAB8-3895-75E8-B4D48EC0F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11760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5680-55D7-47FA-0E76-C47B7A67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EFF75-B238-7F3E-4DD2-12C652902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DD28-28A4-502C-D647-A15569295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EE00-929B-332C-DEF1-C19DC03B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891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B7CD-33E7-1BC8-B6BD-4076BA53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283F4-4227-06E7-7AF6-F8CEF8575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0999-E8F6-71A3-C8C2-B8939D7C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0343-DCA1-F857-50A5-02A9B7080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6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KÉP + SZÖVEG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slide_title</a:t>
            </a:r>
            <a:r>
              <a:rPr dirty="0"/>
              <a:t>      : </a:t>
            </a:r>
            <a:r>
              <a:rPr dirty="0" err="1"/>
              <a:t>cím</a:t>
            </a:r>
            <a:r>
              <a:rPr dirty="0"/>
              <a:t> (max 1–2 </a:t>
            </a:r>
            <a:r>
              <a:rPr dirty="0" err="1"/>
              <a:t>sor</a:t>
            </a:r>
            <a:r>
              <a:rPr dirty="0"/>
              <a:t>, navy </a:t>
            </a:r>
            <a:r>
              <a:rPr dirty="0" err="1"/>
              <a:t>sávban</a:t>
            </a:r>
            <a:r>
              <a:rPr dirty="0"/>
              <a:t>)</a:t>
            </a:r>
          </a:p>
          <a:p>
            <a:r>
              <a:rPr dirty="0" err="1"/>
              <a:t>col_left_body</a:t>
            </a:r>
            <a:r>
              <a:rPr dirty="0"/>
              <a:t>    :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felsorolás</a:t>
            </a:r>
            <a:endParaRPr dirty="0"/>
          </a:p>
          <a:p>
            <a:r>
              <a:rPr dirty="0" err="1"/>
              <a:t>col_right_image</a:t>
            </a:r>
            <a:r>
              <a:rPr dirty="0"/>
              <a:t>  : </a:t>
            </a:r>
            <a:r>
              <a:rPr dirty="0" err="1"/>
              <a:t>kép</a:t>
            </a:r>
            <a:r>
              <a:rPr dirty="0"/>
              <a:t> placeholder – </a:t>
            </a:r>
            <a:r>
              <a:rPr dirty="0" err="1"/>
              <a:t>cseréld</a:t>
            </a:r>
            <a:r>
              <a:rPr dirty="0"/>
              <a:t> le: </a:t>
            </a:r>
          </a:p>
          <a:p>
            <a:r>
              <a:rPr dirty="0"/>
              <a:t>                   </a:t>
            </a:r>
            <a:r>
              <a:rPr dirty="0" err="1"/>
              <a:t>slide.shapes</a:t>
            </a:r>
            <a:r>
              <a:rPr dirty="0"/>
              <a:t>['</a:t>
            </a:r>
            <a:r>
              <a:rPr dirty="0" err="1"/>
              <a:t>col_right_image</a:t>
            </a:r>
            <a:r>
              <a:rPr dirty="0"/>
              <a:t>'] </a:t>
            </a:r>
            <a:r>
              <a:rPr dirty="0" err="1"/>
              <a:t>törlése</a:t>
            </a:r>
            <a:r>
              <a:rPr dirty="0"/>
              <a:t> </a:t>
            </a:r>
            <a:r>
              <a:rPr dirty="0" err="1"/>
              <a:t>után</a:t>
            </a:r>
            <a:endParaRPr dirty="0"/>
          </a:p>
          <a:p>
            <a:r>
              <a:rPr dirty="0"/>
              <a:t>                   </a:t>
            </a:r>
            <a:r>
              <a:rPr dirty="0" err="1"/>
              <a:t>slide.shapes.add_picture</a:t>
            </a:r>
            <a:r>
              <a:rPr dirty="0"/>
              <a:t>(...) </a:t>
            </a:r>
            <a:r>
              <a:rPr dirty="0" err="1"/>
              <a:t>ugyanazon</a:t>
            </a:r>
            <a:r>
              <a:rPr dirty="0"/>
              <a:t> </a:t>
            </a:r>
            <a:r>
              <a:rPr dirty="0" err="1"/>
              <a:t>koordinátákkal</a:t>
            </a:r>
            <a:endParaRPr dirty="0"/>
          </a:p>
          <a:p>
            <a:r>
              <a:rPr dirty="0" err="1"/>
              <a:t>figure_caption</a:t>
            </a:r>
            <a:r>
              <a:rPr dirty="0"/>
              <a:t>   : '1. </a:t>
            </a:r>
            <a:r>
              <a:rPr dirty="0" err="1"/>
              <a:t>ábra</a:t>
            </a:r>
            <a:r>
              <a:rPr dirty="0"/>
              <a:t>: [</a:t>
            </a:r>
            <a:r>
              <a:rPr dirty="0" err="1"/>
              <a:t>szöveg</a:t>
            </a:r>
            <a:r>
              <a:rPr dirty="0"/>
              <a:t>]' – runs[0]=</a:t>
            </a:r>
            <a:r>
              <a:rPr dirty="0" err="1"/>
              <a:t>szám+prefix</a:t>
            </a:r>
            <a:r>
              <a:rPr dirty="0"/>
              <a:t>, runs[1]=</a:t>
            </a:r>
            <a:r>
              <a:rPr dirty="0" err="1"/>
              <a:t>szöveg</a:t>
            </a:r>
            <a:endParaRPr dirty="0"/>
          </a:p>
          <a:p>
            <a:r>
              <a:rPr dirty="0" err="1"/>
              <a:t>col_separator</a:t>
            </a:r>
            <a:r>
              <a:rPr dirty="0"/>
              <a:t>    : CONNECTOR </a:t>
            </a:r>
            <a:r>
              <a:rPr dirty="0" err="1"/>
              <a:t>vonal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koordináták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széle</a:t>
            </a:r>
            <a:r>
              <a:rPr dirty="0"/>
              <a:t> : ML + CW*0.53 + GAP  ≈ 20.2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teteje</a:t>
            </a:r>
            <a:r>
              <a:rPr dirty="0"/>
              <a:t>    : TITLE_H + 6mm = 36 mm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szélesség</a:t>
            </a:r>
            <a:r>
              <a:rPr dirty="0"/>
              <a:t> : ~14.8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magassága</a:t>
            </a:r>
            <a:r>
              <a:rPr dirty="0"/>
              <a:t>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>                   l=ML=12mm, t=CT≈36mm, w=CW≈309mm, h≈133mm</a:t>
            </a:r>
          </a:p>
          <a:p>
            <a:r>
              <a:t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>                   runs[0].text = '1. ábra: '</a:t>
            </a:r>
          </a:p>
          <a:p>
            <a:r>
              <a:t>                   runs[1].text = 'a felirat szövege'</a:t>
            </a:r>
          </a:p>
          <a:p>
            <a:r>
              <a:t>figure_separator : CONNECTOR vonal – NE módosítsd</a:t>
            </a:r>
          </a:p>
          <a:p>
            <a:endParaRPr/>
          </a:p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>                        runs[0].text = '1. táblázat: '</a:t>
            </a:r>
          </a:p>
          <a:p>
            <a:r>
              <a:t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>                        cella elérése: table.cell(sor, oszlop).text = ...</a:t>
            </a:r>
          </a:p>
          <a:p>
            <a:r>
              <a:t>                        fejléc: sor=0, adatok: sor=1..(ROWS-1)</a:t>
            </a:r>
          </a:p>
          <a:p>
            <a:endParaRPr/>
          </a:p>
          <a:p>
            <a:r>
              <a:t>Sorok/oszlopok módosítása:</a:t>
            </a:r>
          </a:p>
          <a:p>
            <a:r>
              <a:t>  Sorokat a python-pptx nem tud dinamikusan hozzáadni –</a:t>
            </a:r>
          </a:p>
          <a:p>
            <a:r>
              <a:t>  a táblát törölve és újra létrehozva kell generálni.</a:t>
            </a:r>
          </a:p>
          <a:p>
            <a:r>
              <a:t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3">
            <a:alphaModFix amt="12000"/>
          </a:blip>
          <a:stretch/>
        </p:blipFill>
        <p:spPr>
          <a:xfrm>
            <a:off x="7224119" y="2545200"/>
            <a:ext cx="5760000" cy="5760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Garamond"/>
              </a:rPr>
              <a:t>Előadás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főcíme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:
Lorem ipsum dolor sit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amet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consectetur</a:t>
            </a:r>
            <a:endParaRPr sz="3400" b="1" i="0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hu-HU"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Egyetem neve – Képzés neve 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– </a:t>
            </a:r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Intézet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</a:t>
            </a:r>
            <a:r>
              <a:rPr lang="hu-HU" sz="1600" i="1" dirty="0">
                <a:solidFill>
                  <a:srgbClr val="7A8A9E"/>
                </a:solidFill>
                <a:latin typeface="Aptos" panose="020B0004020202020204" pitchFamily="34" charset="0"/>
              </a:rPr>
              <a:t>  –  Tantárgy neve</a:t>
            </a:r>
            <a:endParaRPr sz="1600" b="0" i="1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hu-HU" sz="1300" dirty="0">
                <a:solidFill>
                  <a:srgbClr val="7A8A9E"/>
                </a:solidFill>
                <a:latin typeface="Aptos" panose="020B0004020202020204" pitchFamily="34" charset="0"/>
              </a:rPr>
              <a:t>Előadó neve</a:t>
            </a:r>
            <a:endParaRPr sz="1300" b="0" i="0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03A70"/>
                </a:solidFill>
                <a:latin typeface="Aptos" panose="020B0004020202020204" pitchFamily="34" charset="0"/>
              </a:rPr>
              <a:t>2026.05.20.</a:t>
            </a:r>
          </a:p>
        </p:txBody>
      </p:sp>
    </p:spTree>
    <p:extLst>
      <p:ext uri="{BB962C8B-B14F-4D97-AF65-F5344CB8AC3E}">
        <p14:creationId xmlns:p14="http://schemas.microsoft.com/office/powerpoint/2010/main" val="425192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83DF-5349-0397-F90D-0B334788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B3C69D0C-CD4B-647C-089A-4F4621DAA1B6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C02EE7BC-359B-AF6A-3ABA-6BB0AA2FF615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Tartalom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4" name="logo_small" descr="due_logo_pici.png">
            <a:extLst>
              <a:ext uri="{FF2B5EF4-FFF2-40B4-BE49-F238E27FC236}">
                <a16:creationId xmlns:a16="http://schemas.microsoft.com/office/drawing/2014/main" id="{A53AB1D3-219D-EC21-9F8C-7F16A00A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02E12FA1-E5A7-8854-8028-0FBEB469FAA4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6F077C84-8685-21CB-C27A-AF00DE504042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91D4CFB3-89CC-C58A-AA17-42DD5563327C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DC23E99F-B203-0E6E-7AB7-568EF5010DBA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7EE0F0E6-B429-F36B-BD43-9FA7D1621C06}"/>
              </a:ext>
            </a:extLst>
          </p:cNvPr>
          <p:cNvSpPr txBox="1"/>
          <p:nvPr/>
        </p:nvSpPr>
        <p:spPr>
          <a:xfrm>
            <a:off x="432000" y="1296000"/>
            <a:ext cx="11328119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szakasz</a:t>
            </a: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1.1.1.</a:t>
            </a:r>
            <a:r>
              <a:rPr sz="1600" dirty="0">
                <a:solidFill>
                  <a:srgbClr val="ED7D31"/>
                </a:solidFill>
                <a:latin typeface="Aptos" panose="020B0004020202020204" pitchFamily="34" charset="0"/>
              </a:rPr>
              <a:t>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alszakasz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.1.1.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alszakasz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5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8865-2C40-468A-8BE1-A830291B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_bg_left">
            <a:extLst>
              <a:ext uri="{FF2B5EF4-FFF2-40B4-BE49-F238E27FC236}">
                <a16:creationId xmlns:a16="http://schemas.microsoft.com/office/drawing/2014/main" id="{7A470439-C485-0C09-A4E5-CBEE5F251329}"/>
              </a:ext>
            </a:extLst>
          </p:cNvPr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ection_accent_line">
            <a:extLst>
              <a:ext uri="{FF2B5EF4-FFF2-40B4-BE49-F238E27FC236}">
                <a16:creationId xmlns:a16="http://schemas.microsoft.com/office/drawing/2014/main" id="{59FCE9DB-E97D-36F4-B3D6-C9B442E65468}"/>
              </a:ext>
            </a:extLst>
          </p:cNvPr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>
            <a:extLst>
              <a:ext uri="{FF2B5EF4-FFF2-40B4-BE49-F238E27FC236}">
                <a16:creationId xmlns:a16="http://schemas.microsoft.com/office/drawing/2014/main" id="{78201977-051C-530E-3AC9-659A0CE85B58}"/>
              </a:ext>
            </a:extLst>
          </p:cNvPr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number">
            <a:extLst>
              <a:ext uri="{FF2B5EF4-FFF2-40B4-BE49-F238E27FC236}">
                <a16:creationId xmlns:a16="http://schemas.microsoft.com/office/drawing/2014/main" id="{C08E8861-3D89-BCFA-75D3-BAE0F468F95C}"/>
              </a:ext>
            </a:extLst>
          </p:cNvPr>
          <p:cNvSpPr txBox="1"/>
          <p:nvPr/>
        </p:nvSpPr>
        <p:spPr>
          <a:xfrm>
            <a:off x="432000" y="2738835"/>
            <a:ext cx="454468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 dirty="0">
                <a:solidFill>
                  <a:srgbClr val="ED7D31"/>
                </a:solidFill>
                <a:latin typeface="Garamond"/>
              </a:rPr>
              <a:t>0</a:t>
            </a:r>
            <a:r>
              <a:rPr lang="hu-HU" sz="7200" b="1" i="0" dirty="0">
                <a:solidFill>
                  <a:srgbClr val="ED7D31"/>
                </a:solidFill>
                <a:latin typeface="Garamond"/>
              </a:rPr>
              <a:t>1</a:t>
            </a:r>
            <a:endParaRPr sz="7200" b="1" i="0" dirty="0">
              <a:solidFill>
                <a:srgbClr val="ED7D31"/>
              </a:solidFill>
              <a:latin typeface="Garamond"/>
            </a:endParaRPr>
          </a:p>
        </p:txBody>
      </p:sp>
      <p:sp>
        <p:nvSpPr>
          <p:cNvPr id="6" name="section_title">
            <a:extLst>
              <a:ext uri="{FF2B5EF4-FFF2-40B4-BE49-F238E27FC236}">
                <a16:creationId xmlns:a16="http://schemas.microsoft.com/office/drawing/2014/main" id="{6073252F-F104-79A4-2730-ED51B846E467}"/>
              </a:ext>
            </a:extLst>
          </p:cNvPr>
          <p:cNvSpPr txBox="1"/>
          <p:nvPr/>
        </p:nvSpPr>
        <p:spPr>
          <a:xfrm>
            <a:off x="432000" y="3566160"/>
            <a:ext cx="45446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hu-HU" sz="2400" b="1" i="0" dirty="0">
                <a:solidFill>
                  <a:srgbClr val="FFFFFF"/>
                </a:solidFill>
                <a:latin typeface="Garamond"/>
              </a:rPr>
              <a:t>Fejezet</a:t>
            </a:r>
            <a:r>
              <a:rPr sz="2400" b="1" i="0" dirty="0">
                <a:solidFill>
                  <a:srgbClr val="FFFFFF"/>
                </a:solidFill>
                <a:latin typeface="Garamond"/>
              </a:rPr>
              <a:t> neve –
Lorem ipsum</a:t>
            </a:r>
          </a:p>
        </p:txBody>
      </p:sp>
      <p:sp>
        <p:nvSpPr>
          <p:cNvPr id="7" name="section_description">
            <a:extLst>
              <a:ext uri="{FF2B5EF4-FFF2-40B4-BE49-F238E27FC236}">
                <a16:creationId xmlns:a16="http://schemas.microsoft.com/office/drawing/2014/main" id="{FB7ABF20-6B07-5960-4E2E-A44AB8704085}"/>
              </a:ext>
            </a:extLst>
          </p:cNvPr>
          <p:cNvSpPr txBox="1"/>
          <p:nvPr/>
        </p:nvSpPr>
        <p:spPr>
          <a:xfrm>
            <a:off x="5768689" y="2767280"/>
            <a:ext cx="627943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Ez a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fejezet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témájának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rövid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összefoglalója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.
Lorem ipsum dolor sit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,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F4615F05-B95E-9834-FEAB-B0D24EA1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3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B3D5-B7E8-81DA-1C5D-B270CB42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9D96639D-954B-CD24-4F19-6C8CED8F8ABB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96B11FEA-FF88-09B3-1F7B-F3C1727132D3}"/>
              </a:ext>
            </a:extLst>
          </p:cNvPr>
          <p:cNvSpPr txBox="1"/>
          <p:nvPr/>
        </p:nvSpPr>
        <p:spPr>
          <a:xfrm>
            <a:off x="432000" y="173279"/>
            <a:ext cx="1024811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F7ECA1F2-09B4-0709-CC64-3C26C0770C82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52CC730B-6681-762B-45E2-E31B91DC1A74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7CD98314-DEAB-5C44-8066-09D023A8A15D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A2123CE8-FBF0-6CD4-2656-41F359372421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0B42CABB-E559-DADD-DA9F-B029EDC29C06}"/>
              </a:ext>
            </a:extLst>
          </p:cNvPr>
          <p:cNvSpPr txBox="1"/>
          <p:nvPr/>
        </p:nvSpPr>
        <p:spPr>
          <a:xfrm>
            <a:off x="432000" y="1296000"/>
            <a:ext cx="11328119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42566306-7696-3284-7A24-8F6BFD2E0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1579-6991-55D8-4BDA-125E3D4B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4452B802-1E7A-0EAE-8984-FC06B6D5DE18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96D470E7-127A-5756-4AD1-2692BED1507A}"/>
              </a:ext>
            </a:extLst>
          </p:cNvPr>
          <p:cNvSpPr txBox="1"/>
          <p:nvPr/>
        </p:nvSpPr>
        <p:spPr>
          <a:xfrm>
            <a:off x="432000" y="4002"/>
            <a:ext cx="10248119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1.1.1. Első alszakasz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758FD5D7-B21D-D13C-3748-87C6FE93D426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7A92BB04-2E1E-360E-71E1-50B6238FDC05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B54449D1-67B4-B0BC-4EC7-4D92828B027B}"/>
              </a:ext>
            </a:extLst>
          </p:cNvPr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B5878863-1C05-C30B-FD8D-383331F4EE6B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4F9D2E34-E7BD-2E74-63FC-17E38F954F21}"/>
              </a:ext>
            </a:extLst>
          </p:cNvPr>
          <p:cNvSpPr txBox="1"/>
          <p:nvPr/>
        </p:nvSpPr>
        <p:spPr>
          <a:xfrm>
            <a:off x="432000" y="1296000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2DD16240-62F6-1D30-C41F-5C92F07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0403A95D-DC8A-0364-1343-1A4EA2E3B655}"/>
              </a:ext>
            </a:extLst>
          </p:cNvPr>
          <p:cNvSpPr txBox="1"/>
          <p:nvPr/>
        </p:nvSpPr>
        <p:spPr>
          <a:xfrm>
            <a:off x="431881" y="2963679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lang="hu-HU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6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Garamond"/>
              </a:rPr>
              <a:t>Kép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és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szöveg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– Lorem ipsum dolor sit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amet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>
            <a:cxnSpLocks/>
          </p:cNvCxnSpPr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>
            <a:cxnSpLocks/>
          </p:cNvCxnSpPr>
          <p:nvPr/>
        </p:nvCxnSpPr>
        <p:spPr>
          <a:xfrm>
            <a:off x="66159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0" y="1296000"/>
            <a:ext cx="6003903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Első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Második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Harmadik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Negyedik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col_right_image"/>
          <p:cNvSpPr/>
          <p:nvPr/>
        </p:nvSpPr>
        <p:spPr>
          <a:xfrm>
            <a:off x="6795903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7A8A9E"/>
                </a:solidFill>
                <a:latin typeface="Aptos" panose="020B0004020202020204" pitchFamily="34" charset="0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6795903" y="5107500"/>
            <a:ext cx="496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rövid leírása lorem ipsum</a:t>
            </a:r>
          </a:p>
        </p:txBody>
      </p:sp>
      <p:pic>
        <p:nvPicPr>
          <p:cNvPr id="13" name="logo_small" descr="due_logo_pici.png">
            <a:extLst>
              <a:ext uri="{FF2B5EF4-FFF2-40B4-BE49-F238E27FC236}">
                <a16:creationId xmlns:a16="http://schemas.microsoft.com/office/drawing/2014/main" id="{777FF3AA-D68E-ABE6-C200-8F7DD6BF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1132811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[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Ábra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helye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–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cseréld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le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add_picture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()-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rel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]</a:t>
            </a:r>
          </a:p>
        </p:txBody>
      </p:sp>
      <p:cxnSp>
        <p:nvCxnSpPr>
          <p:cNvPr id="10" name="figure_separator"/>
          <p:cNvCxnSpPr/>
          <p:nvPr/>
        </p:nvCxnSpPr>
        <p:spPr>
          <a:xfrm>
            <a:off x="432000" y="5742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igure_caption"/>
          <p:cNvSpPr txBox="1"/>
          <p:nvPr/>
        </p:nvSpPr>
        <p:spPr>
          <a:xfrm>
            <a:off x="432000" y="5814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részletes felirata – lorem ipsum dolor sit amet consectetur</a:t>
            </a:r>
          </a:p>
        </p:txBody>
      </p:sp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8603FF6-8E4E-97FB-D9D4-070EF061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táblázat: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Összefoglaló adatok – lorem ipsum measurement results</a:t>
            </a:r>
          </a:p>
        </p:txBody>
      </p:sp>
      <p:cxnSp>
        <p:nvCxnSpPr>
          <p:cNvPr id="10" name="table_title_separator"/>
          <p:cNvCxnSpPr/>
          <p:nvPr/>
        </p:nvCxnSpPr>
        <p:spPr>
          <a:xfrm>
            <a:off x="432000" y="1656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4365"/>
              </p:ext>
            </p:extLst>
          </p:nvPr>
        </p:nvGraphicFramePr>
        <p:xfrm>
          <a:off x="432000" y="1728000"/>
          <a:ext cx="11328119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Paraméter</a:t>
                      </a:r>
                      <a:endParaRPr sz="16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AE58600-92A8-ECDF-D883-EBC730E9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b="0" dirty="0">
                <a:solidFill>
                  <a:srgbClr val="FFFFFF"/>
                </a:solidFill>
                <a:latin typeface="Aptos"/>
              </a:rPr>
              <a:t>Irodalomjegyzék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[1]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A. (2023). A cím. Kiadó, Város.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[2]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B. – Szerző, C. (2022). Cím. Folyóirat neve, 10(2), 45–67.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[3]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D. (2021). Fejezet címe. In: Szerkesztő (szerk.), Könyv. Kiadó.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[4]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E. (2020). Weboldal neve. URL: https://example.com [Letöltve: 2024]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[5]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F. (2019). Konferencia-előadás. In: Konferencia neve, 123–130.</a:t>
            </a: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2400" dirty="0"/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dirty="0">
                <a:solidFill>
                  <a:srgbClr val="FFFFFF"/>
                </a:solidFill>
                <a:latin typeface="Aptos"/>
              </a:rPr>
              <a:t>Változásjegyzék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b="1" dirty="0">
                <a:solidFill>
                  <a:srgbClr val="003A70"/>
                </a:solidFill>
                <a:latin typeface="Aptos"/>
              </a:rPr>
              <a:t>Verzió	Dátum	Szerző	Leírás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400" dirty="0">
              <a:solidFill>
                <a:srgbClr val="ED7D31"/>
              </a:solidFill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0.0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Branding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0.1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Hári László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Mindmap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0.2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</a:t>
            </a:r>
            <a:r>
              <a:rPr lang="hu-HU" sz="1400">
                <a:solidFill>
                  <a:srgbClr val="212121"/>
                </a:solidFill>
                <a:latin typeface="Aptos"/>
              </a:rPr>
              <a:t>	Finomítás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3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642564775]">
  <a:themeElements>
    <a:clrScheme name="Office">
      <a:dk1>
        <a:srgbClr val="212121"/>
      </a:dk1>
      <a:lt1>
        <a:srgbClr val="FFFFFF"/>
      </a:lt1>
      <a:dk2>
        <a:srgbClr val="003A70"/>
      </a:dk2>
      <a:lt2>
        <a:srgbClr val="F2F2F2"/>
      </a:lt2>
      <a:accent1>
        <a:srgbClr val="003A70"/>
      </a:accent1>
      <a:accent2>
        <a:srgbClr val="ED7D31"/>
      </a:accent2>
      <a:accent3>
        <a:srgbClr val="2E74B5"/>
      </a:accent3>
      <a:accent4>
        <a:srgbClr val="70AD47"/>
      </a:accent4>
      <a:accent5>
        <a:srgbClr val="FFC000"/>
      </a:accent5>
      <a:accent6>
        <a:srgbClr val="5A5A5A"/>
      </a:accent6>
      <a:hlink>
        <a:srgbClr val="003A70"/>
      </a:hlink>
      <a:folHlink>
        <a:srgbClr val="7F7F7F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5988C-382B-4614-8C53-45C3FD16C5DF}">
  <we:reference id="wa200010001" version="1.0.0.1" store="hu-HU" storeType="OMEX"/>
  <we:alternateReferences>
    <we:reference id="WA200010001" version="1.0.0.1" store="" storeType="OMEX"/>
  </we:alternateReferences>
  <we:properties>
    <we:property name="claude.fileId" value="&quot;7405527b-01ff-46cd-986b-3ab2542bcb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2072</Words>
  <Application>Microsoft Office PowerPoint</Application>
  <PresentationFormat>Szélesvásznú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Garamond</vt:lpstr>
      <vt:lpstr>Office Theme [1779642564775]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Hári László</dc:creator>
  <cp:keywords/>
  <dc:description>generated using python-pptx</dc:description>
  <cp:lastModifiedBy>László Hári</cp:lastModifiedBy>
  <cp:revision>34</cp:revision>
  <dcterms:created xsi:type="dcterms:W3CDTF">2013-01-27T09:14:16Z</dcterms:created>
  <dcterms:modified xsi:type="dcterms:W3CDTF">2026-06-08T09:46:39Z</dcterms:modified>
  <cp:category/>
</cp:coreProperties>
</file>