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12"/>
  </p:notesMasterIdLst>
  <p:sldIdLst>
    <p:sldId id="274" r:id="rId2"/>
    <p:sldId id="280" r:id="rId3"/>
    <p:sldId id="276" r:id="rId4"/>
    <p:sldId id="266" r:id="rId5"/>
    <p:sldId id="259" r:id="rId6"/>
    <p:sldId id="260" r:id="rId7"/>
    <p:sldId id="261" r:id="rId8"/>
    <p:sldId id="283" r:id="rId9"/>
    <p:sldId id="285" r:id="rId10"/>
    <p:sldId id="28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4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11" autoAdjust="0"/>
  </p:normalViewPr>
  <p:slideViewPr>
    <p:cSldViewPr snapToGrid="0" snapToObjects="1">
      <p:cViewPr varScale="1">
        <p:scale>
          <a:sx n="55" d="100"/>
          <a:sy n="55" d="100"/>
        </p:scale>
        <p:origin x="100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19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CÍM DIA – </a:t>
            </a:r>
            <a:r>
              <a:rPr dirty="0" err="1"/>
              <a:t>szerkesztési</a:t>
            </a:r>
            <a:r>
              <a:rPr dirty="0"/>
              <a:t> </a:t>
            </a:r>
            <a:r>
              <a:rPr dirty="0" err="1"/>
              <a:t>útmutató</a:t>
            </a:r>
            <a:endParaRPr dirty="0"/>
          </a:p>
          <a:p>
            <a:r>
              <a:rPr dirty="0"/>
              <a:t>─────────────────────────────────────────</a:t>
            </a:r>
          </a:p>
          <a:p>
            <a:r>
              <a:rPr dirty="0" err="1"/>
              <a:t>slide_main_title</a:t>
            </a:r>
            <a:r>
              <a:rPr dirty="0"/>
              <a:t>  : </a:t>
            </a:r>
            <a:r>
              <a:rPr dirty="0" err="1"/>
              <a:t>főcím</a:t>
            </a:r>
            <a:r>
              <a:rPr dirty="0"/>
              <a:t> (max. 2–3 </a:t>
            </a:r>
            <a:r>
              <a:rPr dirty="0" err="1"/>
              <a:t>sor</a:t>
            </a:r>
            <a:r>
              <a:rPr dirty="0"/>
              <a:t>, Garamond 34pt </a:t>
            </a:r>
            <a:r>
              <a:rPr dirty="0" err="1"/>
              <a:t>fehér</a:t>
            </a:r>
            <a:r>
              <a:rPr dirty="0"/>
              <a:t>)</a:t>
            </a:r>
          </a:p>
          <a:p>
            <a:r>
              <a:rPr dirty="0" err="1"/>
              <a:t>slide_subtitle</a:t>
            </a:r>
            <a:r>
              <a:rPr dirty="0"/>
              <a:t>    : </a:t>
            </a:r>
            <a:r>
              <a:rPr dirty="0" err="1"/>
              <a:t>tantárgy</a:t>
            </a:r>
            <a:r>
              <a:rPr dirty="0"/>
              <a:t> / </a:t>
            </a:r>
            <a:r>
              <a:rPr dirty="0" err="1"/>
              <a:t>intézet</a:t>
            </a:r>
            <a:r>
              <a:rPr dirty="0"/>
              <a:t> (</a:t>
            </a:r>
            <a:r>
              <a:rPr lang="hu-HU" dirty="0" err="1"/>
              <a:t>Aptos</a:t>
            </a:r>
            <a:r>
              <a:rPr dirty="0"/>
              <a:t> 15pt, </a:t>
            </a:r>
            <a:r>
              <a:rPr dirty="0" err="1"/>
              <a:t>dőlt</a:t>
            </a:r>
            <a:r>
              <a:rPr dirty="0"/>
              <a:t>, </a:t>
            </a:r>
            <a:r>
              <a:rPr dirty="0" err="1"/>
              <a:t>szürke</a:t>
            </a:r>
            <a:r>
              <a:rPr dirty="0"/>
              <a:t>)</a:t>
            </a:r>
          </a:p>
          <a:p>
            <a:r>
              <a:rPr dirty="0" err="1"/>
              <a:t>footer_author</a:t>
            </a:r>
            <a:r>
              <a:rPr dirty="0"/>
              <a:t>     : </a:t>
            </a:r>
            <a:r>
              <a:rPr dirty="0" err="1"/>
              <a:t>előadó</a:t>
            </a:r>
            <a:r>
              <a:rPr dirty="0"/>
              <a:t> neve</a:t>
            </a:r>
          </a:p>
          <a:p>
            <a:r>
              <a:rPr dirty="0" err="1"/>
              <a:t>footer_date</a:t>
            </a:r>
            <a:r>
              <a:rPr dirty="0"/>
              <a:t>       : </a:t>
            </a:r>
            <a:r>
              <a:rPr dirty="0" err="1"/>
              <a:t>dátum</a:t>
            </a:r>
            <a:r>
              <a:rPr dirty="0"/>
              <a:t> (ÉÉÉÉ.HH.NN. </a:t>
            </a:r>
            <a:r>
              <a:rPr dirty="0" err="1"/>
              <a:t>formátum</a:t>
            </a:r>
            <a:r>
              <a:rPr dirty="0"/>
              <a:t>)</a:t>
            </a:r>
          </a:p>
          <a:p>
            <a:r>
              <a:rPr dirty="0" err="1"/>
              <a:t>watermark_logo</a:t>
            </a:r>
            <a:r>
              <a:rPr dirty="0"/>
              <a:t>    : </a:t>
            </a:r>
            <a:r>
              <a:rPr dirty="0" err="1"/>
              <a:t>vízjel</a:t>
            </a:r>
            <a:r>
              <a:rPr dirty="0"/>
              <a:t> </a:t>
            </a:r>
            <a:r>
              <a:rPr dirty="0" err="1"/>
              <a:t>logó</a:t>
            </a:r>
            <a:r>
              <a:rPr dirty="0"/>
              <a:t> – NE </a:t>
            </a:r>
            <a:r>
              <a:rPr dirty="0" err="1"/>
              <a:t>töröld</a:t>
            </a:r>
            <a:r>
              <a:rPr dirty="0"/>
              <a:t>; opacity XML-ben van</a:t>
            </a:r>
          </a:p>
          <a:p>
            <a:r>
              <a:rPr dirty="0" err="1"/>
              <a:t>logo_small</a:t>
            </a:r>
            <a:r>
              <a:rPr dirty="0"/>
              <a:t>        : </a:t>
            </a:r>
            <a:r>
              <a:rPr dirty="0" err="1"/>
              <a:t>kis</a:t>
            </a:r>
            <a:r>
              <a:rPr dirty="0"/>
              <a:t> </a:t>
            </a:r>
            <a:r>
              <a:rPr dirty="0" err="1"/>
              <a:t>logó</a:t>
            </a:r>
            <a:r>
              <a:rPr dirty="0"/>
              <a:t> </a:t>
            </a:r>
            <a:r>
              <a:rPr dirty="0" err="1"/>
              <a:t>jobb</a:t>
            </a:r>
            <a:r>
              <a:rPr dirty="0"/>
              <a:t> </a:t>
            </a:r>
            <a:r>
              <a:rPr dirty="0" err="1"/>
              <a:t>felső</a:t>
            </a:r>
            <a:r>
              <a:rPr dirty="0"/>
              <a:t> </a:t>
            </a:r>
            <a:r>
              <a:rPr dirty="0" err="1"/>
              <a:t>sarokba</a:t>
            </a:r>
            <a:endParaRPr dirty="0"/>
          </a:p>
          <a:p>
            <a:endParaRPr dirty="0"/>
          </a:p>
          <a:p>
            <a:r>
              <a:rPr dirty="0" err="1"/>
              <a:t>Cowork</a:t>
            </a:r>
            <a:r>
              <a:rPr dirty="0"/>
              <a:t> </a:t>
            </a:r>
            <a:r>
              <a:rPr dirty="0" err="1"/>
              <a:t>utasítás</a:t>
            </a:r>
            <a:r>
              <a:rPr dirty="0"/>
              <a:t> </a:t>
            </a:r>
            <a:r>
              <a:rPr dirty="0" err="1"/>
              <a:t>példa</a:t>
            </a:r>
            <a:r>
              <a:rPr dirty="0"/>
              <a:t>:</a:t>
            </a:r>
          </a:p>
          <a:p>
            <a:r>
              <a:rPr dirty="0"/>
              <a:t>  '</a:t>
            </a:r>
            <a:r>
              <a:rPr dirty="0" err="1"/>
              <a:t>Cseréld</a:t>
            </a:r>
            <a:r>
              <a:rPr dirty="0"/>
              <a:t> le a </a:t>
            </a:r>
            <a:r>
              <a:rPr dirty="0" err="1"/>
              <a:t>slide_main_title</a:t>
            </a:r>
            <a:r>
              <a:rPr dirty="0"/>
              <a:t> </a:t>
            </a:r>
            <a:r>
              <a:rPr dirty="0" err="1"/>
              <a:t>szövegét</a:t>
            </a:r>
            <a:r>
              <a:rPr dirty="0"/>
              <a:t> </a:t>
            </a:r>
            <a:r>
              <a:rPr dirty="0" err="1"/>
              <a:t>erre</a:t>
            </a:r>
            <a:r>
              <a:rPr dirty="0"/>
              <a:t>: ...'</a:t>
            </a:r>
          </a:p>
          <a:p>
            <a:r>
              <a:rPr dirty="0"/>
              <a:t>  'Az </a:t>
            </a:r>
            <a:r>
              <a:rPr dirty="0" err="1"/>
              <a:t>footer_author</a:t>
            </a:r>
            <a:r>
              <a:rPr dirty="0"/>
              <a:t> </a:t>
            </a:r>
            <a:r>
              <a:rPr dirty="0" err="1"/>
              <a:t>mezőbe</a:t>
            </a:r>
            <a:r>
              <a:rPr dirty="0"/>
              <a:t> </a:t>
            </a:r>
            <a:r>
              <a:rPr dirty="0" err="1"/>
              <a:t>írd</a:t>
            </a:r>
            <a:r>
              <a:rPr dirty="0"/>
              <a:t> be: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50886-CE11-DF65-11A8-3E9D73BB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6D950-E4F3-4521-893A-27FEB9FCCA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33C44-8910-3B73-5B59-55092FB81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814A9-680E-972A-D43F-27357B81F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77365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72EB8-B070-A2FB-BF46-BB7FDC6F0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01966-A81A-B4CA-FB14-E69A53363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0C3905-6A6A-0E4B-F118-69CA34BB7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SZAKASZFEJLÉC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section_number      : fejezet sorszáma (pl. '03') – Garamond 72pt</a:t>
            </a:r>
          </a:p>
          <a:p>
            <a:r>
              <a:t>section_title       : fejezet neve (max 2 sor, Garamond 24pt fehér)</a:t>
            </a:r>
          </a:p>
          <a:p>
            <a:r>
              <a:t>section_description : jobb oldali rövid leírás (Calibri 16pt)</a:t>
            </a:r>
          </a:p>
          <a:p>
            <a:r>
              <a:t>bottom_stripe       : narancs alap sáv – NE módosítsd</a:t>
            </a:r>
          </a:p>
          <a:p>
            <a:r>
              <a:t>section_bg_left     : navy bal sáv – NE módosítsd</a:t>
            </a:r>
          </a:p>
          <a:p>
            <a:endParaRPr/>
          </a:p>
          <a:p>
            <a:r>
              <a:t>Cowork utasítás:</a:t>
            </a:r>
          </a:p>
          <a:p>
            <a:r>
              <a:t>  'A section_number értékét cseréld: 03'</a:t>
            </a:r>
          </a:p>
          <a:p>
            <a:r>
              <a:t>  'A section_title szövege legyen: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7B8E8-F163-E2DB-DED2-A8CB77D139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09170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B54D8-3437-3933-FC7D-EBD8BB03A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CA1B3-45D9-60F8-D396-1B325072F1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E9CE3-BF0D-8363-1F7B-B22FBB9BD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2AC49-F2A3-43D1-F909-D56ADCD15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52045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KÉP + SZÖVEG DIA – </a:t>
            </a:r>
            <a:r>
              <a:rPr dirty="0" err="1"/>
              <a:t>szerkesztési</a:t>
            </a:r>
            <a:r>
              <a:rPr dirty="0"/>
              <a:t> </a:t>
            </a:r>
            <a:r>
              <a:rPr dirty="0" err="1"/>
              <a:t>útmutató</a:t>
            </a:r>
            <a:endParaRPr dirty="0"/>
          </a:p>
          <a:p>
            <a:r>
              <a:rPr dirty="0"/>
              <a:t>─────────────────────────────────────────</a:t>
            </a:r>
          </a:p>
          <a:p>
            <a:r>
              <a:rPr dirty="0" err="1"/>
              <a:t>slide_title</a:t>
            </a:r>
            <a:r>
              <a:rPr dirty="0"/>
              <a:t>      : </a:t>
            </a:r>
            <a:r>
              <a:rPr dirty="0" err="1"/>
              <a:t>cím</a:t>
            </a:r>
            <a:r>
              <a:rPr dirty="0"/>
              <a:t> (max 1–2 </a:t>
            </a:r>
            <a:r>
              <a:rPr dirty="0" err="1"/>
              <a:t>sor</a:t>
            </a:r>
            <a:r>
              <a:rPr dirty="0"/>
              <a:t>, navy </a:t>
            </a:r>
            <a:r>
              <a:rPr dirty="0" err="1"/>
              <a:t>sávban</a:t>
            </a:r>
            <a:r>
              <a:rPr dirty="0"/>
              <a:t>)</a:t>
            </a:r>
          </a:p>
          <a:p>
            <a:r>
              <a:rPr dirty="0" err="1"/>
              <a:t>col_left_body</a:t>
            </a:r>
            <a:r>
              <a:rPr dirty="0"/>
              <a:t>    : </a:t>
            </a:r>
            <a:r>
              <a:rPr dirty="0" err="1"/>
              <a:t>bal</a:t>
            </a:r>
            <a:r>
              <a:rPr dirty="0"/>
              <a:t> </a:t>
            </a:r>
            <a:r>
              <a:rPr dirty="0" err="1"/>
              <a:t>oldali</a:t>
            </a:r>
            <a:r>
              <a:rPr dirty="0"/>
              <a:t> </a:t>
            </a:r>
            <a:r>
              <a:rPr dirty="0" err="1"/>
              <a:t>felsorolás</a:t>
            </a:r>
            <a:endParaRPr dirty="0"/>
          </a:p>
          <a:p>
            <a:r>
              <a:rPr dirty="0" err="1"/>
              <a:t>col_right_image</a:t>
            </a:r>
            <a:r>
              <a:rPr dirty="0"/>
              <a:t>  : </a:t>
            </a:r>
            <a:r>
              <a:rPr dirty="0" err="1"/>
              <a:t>kép</a:t>
            </a:r>
            <a:r>
              <a:rPr dirty="0"/>
              <a:t> placeholder – </a:t>
            </a:r>
            <a:r>
              <a:rPr dirty="0" err="1"/>
              <a:t>cseréld</a:t>
            </a:r>
            <a:r>
              <a:rPr dirty="0"/>
              <a:t> le: </a:t>
            </a:r>
          </a:p>
          <a:p>
            <a:r>
              <a:rPr dirty="0"/>
              <a:t>                   </a:t>
            </a:r>
            <a:r>
              <a:rPr dirty="0" err="1"/>
              <a:t>slide.shapes</a:t>
            </a:r>
            <a:r>
              <a:rPr dirty="0"/>
              <a:t>['</a:t>
            </a:r>
            <a:r>
              <a:rPr dirty="0" err="1"/>
              <a:t>col_right_image</a:t>
            </a:r>
            <a:r>
              <a:rPr dirty="0"/>
              <a:t>'] </a:t>
            </a:r>
            <a:r>
              <a:rPr dirty="0" err="1"/>
              <a:t>törlése</a:t>
            </a:r>
            <a:r>
              <a:rPr dirty="0"/>
              <a:t> </a:t>
            </a:r>
            <a:r>
              <a:rPr dirty="0" err="1"/>
              <a:t>után</a:t>
            </a:r>
            <a:endParaRPr dirty="0"/>
          </a:p>
          <a:p>
            <a:r>
              <a:rPr dirty="0"/>
              <a:t>                   </a:t>
            </a:r>
            <a:r>
              <a:rPr dirty="0" err="1"/>
              <a:t>slide.shapes.add_picture</a:t>
            </a:r>
            <a:r>
              <a:rPr dirty="0"/>
              <a:t>(...) </a:t>
            </a:r>
            <a:r>
              <a:rPr dirty="0" err="1"/>
              <a:t>ugyanazon</a:t>
            </a:r>
            <a:r>
              <a:rPr dirty="0"/>
              <a:t> </a:t>
            </a:r>
            <a:r>
              <a:rPr dirty="0" err="1"/>
              <a:t>koordinátákkal</a:t>
            </a:r>
            <a:endParaRPr dirty="0"/>
          </a:p>
          <a:p>
            <a:r>
              <a:rPr dirty="0" err="1"/>
              <a:t>figure_caption</a:t>
            </a:r>
            <a:r>
              <a:rPr dirty="0"/>
              <a:t>   : '1. </a:t>
            </a:r>
            <a:r>
              <a:rPr dirty="0" err="1"/>
              <a:t>ábra</a:t>
            </a:r>
            <a:r>
              <a:rPr dirty="0"/>
              <a:t>: [</a:t>
            </a:r>
            <a:r>
              <a:rPr dirty="0" err="1"/>
              <a:t>szöveg</a:t>
            </a:r>
            <a:r>
              <a:rPr dirty="0"/>
              <a:t>]' – runs[0]=</a:t>
            </a:r>
            <a:r>
              <a:rPr dirty="0" err="1"/>
              <a:t>szám+prefix</a:t>
            </a:r>
            <a:r>
              <a:rPr dirty="0"/>
              <a:t>, runs[1]=</a:t>
            </a:r>
            <a:r>
              <a:rPr dirty="0" err="1"/>
              <a:t>szöveg</a:t>
            </a:r>
            <a:endParaRPr dirty="0"/>
          </a:p>
          <a:p>
            <a:r>
              <a:rPr dirty="0" err="1"/>
              <a:t>col_separator</a:t>
            </a:r>
            <a:r>
              <a:rPr dirty="0"/>
              <a:t>    : CONNECTOR </a:t>
            </a:r>
            <a:r>
              <a:rPr dirty="0" err="1"/>
              <a:t>vonal</a:t>
            </a:r>
            <a:r>
              <a:rPr dirty="0"/>
              <a:t> – NE </a:t>
            </a:r>
            <a:r>
              <a:rPr dirty="0" err="1"/>
              <a:t>módosítsd</a:t>
            </a:r>
            <a:endParaRPr dirty="0"/>
          </a:p>
          <a:p>
            <a:endParaRPr dirty="0"/>
          </a:p>
          <a:p>
            <a:r>
              <a:rPr dirty="0" err="1"/>
              <a:t>Cowork</a:t>
            </a:r>
            <a:r>
              <a:rPr dirty="0"/>
              <a:t> </a:t>
            </a:r>
            <a:r>
              <a:rPr dirty="0" err="1"/>
              <a:t>koordináták</a:t>
            </a:r>
            <a:r>
              <a:rPr dirty="0"/>
              <a:t>: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bal</a:t>
            </a:r>
            <a:r>
              <a:rPr dirty="0"/>
              <a:t> </a:t>
            </a:r>
            <a:r>
              <a:rPr dirty="0" err="1"/>
              <a:t>széle</a:t>
            </a:r>
            <a:r>
              <a:rPr dirty="0"/>
              <a:t> : ML + CW*0.53 + GAP  ≈ 20.2 cm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teteje</a:t>
            </a:r>
            <a:r>
              <a:rPr dirty="0"/>
              <a:t>    : TITLE_H + 6mm = 36 mm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szélesség</a:t>
            </a:r>
            <a:r>
              <a:rPr dirty="0"/>
              <a:t> : ~14.8 cm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magassága</a:t>
            </a:r>
            <a:r>
              <a:rPr dirty="0"/>
              <a:t> : ~11.3 cm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ÁBRA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   : dia és ábra témája</a:t>
            </a:r>
          </a:p>
          <a:p>
            <a:r>
              <a:t>figure_image     : kép placeholder – koordináták:</a:t>
            </a:r>
          </a:p>
          <a:p>
            <a:r>
              <a:t>                   l=ML=12mm, t=CT≈36mm, w=CW≈309mm, h≈133mm</a:t>
            </a:r>
          </a:p>
          <a:p>
            <a:r>
              <a:t>                   Cseréld: töröld a placeholder-t, add add_picture()</a:t>
            </a:r>
          </a:p>
          <a:p>
            <a:r>
              <a:t>figure_caption   : ábra felirat</a:t>
            </a:r>
          </a:p>
          <a:p>
            <a:r>
              <a:t>                   runs[0].text = '1. ábra: '</a:t>
            </a:r>
          </a:p>
          <a:p>
            <a:r>
              <a:t>                   runs[1].text = 'a felirat szövege'</a:t>
            </a:r>
          </a:p>
          <a:p>
            <a:r>
              <a:t>figure_separator : CONNECTOR vonal – NE módosítsd</a:t>
            </a:r>
          </a:p>
          <a:p>
            <a:endParaRPr/>
          </a:p>
          <a:p>
            <a:r>
              <a:t>Ábra sorszámozás: az egész prezentációban folyamatos (nem dianként újra)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TÁBLÁZAT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        : dia témája (navy sávban)</a:t>
            </a:r>
          </a:p>
          <a:p>
            <a:r>
              <a:t>table_title           : '1. táblázat: [felirat]'</a:t>
            </a:r>
          </a:p>
          <a:p>
            <a:r>
              <a:t>                        runs[0].text = '1. táblázat: '</a:t>
            </a:r>
          </a:p>
          <a:p>
            <a:r>
              <a:t>                        runs[1].text = 'a felirat szövege'</a:t>
            </a:r>
          </a:p>
          <a:p>
            <a:r>
              <a:t>table_title_separator : CONNECTOR vonal – NE módosítsd</a:t>
            </a:r>
          </a:p>
          <a:p>
            <a:r>
              <a:t>data_table (shape)    : python-pptx Table objektum</a:t>
            </a:r>
          </a:p>
          <a:p>
            <a:r>
              <a:t>                        cella elérése: table.cell(sor, oszlop).text = ...</a:t>
            </a:r>
          </a:p>
          <a:p>
            <a:r>
              <a:t>                        fejléc: sor=0, adatok: sor=1..(ROWS-1)</a:t>
            </a:r>
          </a:p>
          <a:p>
            <a:endParaRPr/>
          </a:p>
          <a:p>
            <a:r>
              <a:t>Sorok/oszlopok módosítása:</a:t>
            </a:r>
          </a:p>
          <a:p>
            <a:r>
              <a:t>  Sorokat a python-pptx nem tud dinamikusan hozzáadni –</a:t>
            </a:r>
          </a:p>
          <a:p>
            <a:r>
              <a:t>  a táblát törölve és újra létrehozva kell generálni.</a:t>
            </a:r>
          </a:p>
          <a:p>
            <a:r>
              <a:t>  Cowork szkript: 'Hozz létre új táblázat diát N sorral és M oszloppal.'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>content_body  : felsorolás (Calibri 13.5pt); </a:t>
            </a:r>
          </a:p>
          <a:p>
            <a:r>
              <a:t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>  'A slide_title szövegét cseréld erre: ...'</a:t>
            </a:r>
          </a:p>
          <a:p>
            <a:r>
              <a:t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navy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ccent_stripe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watermark_logo" descr="due_logo_nagy.png"/>
          <p:cNvPicPr>
            <a:picLocks noChangeAspect="1"/>
          </p:cNvPicPr>
          <p:nvPr/>
        </p:nvPicPr>
        <p:blipFill>
          <a:blip r:embed="rId3">
            <a:alphaModFix amt="12000"/>
          </a:blip>
          <a:stretch/>
        </p:blipFill>
        <p:spPr>
          <a:xfrm>
            <a:off x="7224119" y="2545200"/>
            <a:ext cx="5760000" cy="5760000"/>
          </a:xfrm>
          <a:prstGeom prst="rect">
            <a:avLst/>
          </a:prstGeom>
        </p:spPr>
      </p:pic>
      <p:sp>
        <p:nvSpPr>
          <p:cNvPr id="6" name="slide_main_title"/>
          <p:cNvSpPr txBox="1"/>
          <p:nvPr/>
        </p:nvSpPr>
        <p:spPr>
          <a:xfrm>
            <a:off x="720000" y="1260000"/>
            <a:ext cx="9888119" cy="2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 dirty="0" err="1">
                <a:solidFill>
                  <a:srgbClr val="FFFFFF"/>
                </a:solidFill>
                <a:latin typeface="Garamond"/>
              </a:rPr>
              <a:t>Előadás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főcíme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>:
Lorem ipsum dolor sit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amet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consectetur</a:t>
            </a:r>
            <a:endParaRPr sz="3400" b="1" i="0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7" name="title_rule"/>
          <p:cNvCxnSpPr/>
          <p:nvPr/>
        </p:nvCxnSpPr>
        <p:spPr>
          <a:xfrm>
            <a:off x="720000" y="3960000"/>
            <a:ext cx="4320000" cy="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_subtitle"/>
          <p:cNvSpPr txBox="1"/>
          <p:nvPr/>
        </p:nvSpPr>
        <p:spPr>
          <a:xfrm>
            <a:off x="720000" y="4140000"/>
            <a:ext cx="1075211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1" dirty="0" err="1">
                <a:solidFill>
                  <a:srgbClr val="7A8A9E"/>
                </a:solidFill>
                <a:latin typeface="Aptos" panose="020B0004020202020204" pitchFamily="34" charset="0"/>
              </a:rPr>
              <a:t>Tantárgy</a:t>
            </a:r>
            <a:r>
              <a:rPr sz="1600" b="0" i="1" dirty="0">
                <a:solidFill>
                  <a:srgbClr val="7A8A9E"/>
                </a:solidFill>
                <a:latin typeface="Aptos" panose="020B0004020202020204" pitchFamily="34" charset="0"/>
              </a:rPr>
              <a:t> neve – </a:t>
            </a:r>
            <a:r>
              <a:rPr sz="1600" b="0" i="1" dirty="0" err="1">
                <a:solidFill>
                  <a:srgbClr val="7A8A9E"/>
                </a:solidFill>
                <a:latin typeface="Aptos" panose="020B0004020202020204" pitchFamily="34" charset="0"/>
              </a:rPr>
              <a:t>Intézet</a:t>
            </a:r>
            <a:r>
              <a:rPr sz="1600" b="0" i="1" dirty="0">
                <a:solidFill>
                  <a:srgbClr val="7A8A9E"/>
                </a:solidFill>
                <a:latin typeface="Aptos" panose="020B0004020202020204" pitchFamily="34" charset="0"/>
              </a:rPr>
              <a:t> neve</a:t>
            </a:r>
            <a:r>
              <a:rPr lang="hu-HU" sz="1600" i="1" dirty="0">
                <a:solidFill>
                  <a:srgbClr val="7A8A9E"/>
                </a:solidFill>
                <a:latin typeface="Aptos" panose="020B0004020202020204" pitchFamily="34" charset="0"/>
              </a:rPr>
              <a:t>  –  ?</a:t>
            </a:r>
            <a:endParaRPr sz="1600" b="0" i="1" dirty="0">
              <a:solidFill>
                <a:srgbClr val="7A8A9E"/>
              </a:solidFill>
              <a:latin typeface="Aptos" panose="020B0004020202020204" pitchFamily="34" charset="0"/>
            </a:endParaRPr>
          </a:p>
        </p:txBody>
      </p:sp>
      <p:sp>
        <p:nvSpPr>
          <p:cNvPr id="9" name="footer_author"/>
          <p:cNvSpPr txBox="1"/>
          <p:nvPr/>
        </p:nvSpPr>
        <p:spPr>
          <a:xfrm>
            <a:off x="720000" y="5850000"/>
            <a:ext cx="5040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hu-HU" sz="1300" b="0" i="0" dirty="0">
                <a:solidFill>
                  <a:srgbClr val="7A8A9E"/>
                </a:solidFill>
                <a:latin typeface="Aptos" panose="020B0004020202020204" pitchFamily="34" charset="0"/>
              </a:rPr>
              <a:t>Előadó neve</a:t>
            </a:r>
            <a:endParaRPr sz="1300" b="0" i="0" dirty="0">
              <a:solidFill>
                <a:srgbClr val="7A8A9E"/>
              </a:solidFill>
              <a:latin typeface="Aptos" panose="020B0004020202020204" pitchFamily="34" charset="0"/>
            </a:endParaRPr>
          </a:p>
        </p:txBody>
      </p:sp>
      <p:sp>
        <p:nvSpPr>
          <p:cNvPr id="10" name="footer_date"/>
          <p:cNvSpPr txBox="1"/>
          <p:nvPr/>
        </p:nvSpPr>
        <p:spPr>
          <a:xfrm>
            <a:off x="720000" y="6354000"/>
            <a:ext cx="28800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003A70"/>
                </a:solidFill>
                <a:latin typeface="Aptos" panose="020B0004020202020204" pitchFamily="34" charset="0"/>
              </a:rPr>
              <a:t>2026.05.20.</a:t>
            </a:r>
          </a:p>
        </p:txBody>
      </p:sp>
    </p:spTree>
    <p:extLst>
      <p:ext uri="{BB962C8B-B14F-4D97-AF65-F5344CB8AC3E}">
        <p14:creationId xmlns:p14="http://schemas.microsoft.com/office/powerpoint/2010/main" val="4251927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83DF-5349-0397-F90D-0B334788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>
            <a:extLst>
              <a:ext uri="{FF2B5EF4-FFF2-40B4-BE49-F238E27FC236}">
                <a16:creationId xmlns:a16="http://schemas.microsoft.com/office/drawing/2014/main" id="{B3C69D0C-CD4B-647C-089A-4F4621DAA1B6}"/>
              </a:ext>
            </a:extLst>
          </p:cNvPr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>
            <a:extLst>
              <a:ext uri="{FF2B5EF4-FFF2-40B4-BE49-F238E27FC236}">
                <a16:creationId xmlns:a16="http://schemas.microsoft.com/office/drawing/2014/main" id="{C02EE7BC-359B-AF6A-3ABA-6BB0AA2FF615}"/>
              </a:ext>
            </a:extLst>
          </p:cNvPr>
          <p:cNvSpPr txBox="1"/>
          <p:nvPr/>
        </p:nvSpPr>
        <p:spPr>
          <a:xfrm>
            <a:off x="432000" y="342556"/>
            <a:ext cx="1024811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Tartalom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pic>
        <p:nvPicPr>
          <p:cNvPr id="4" name="logo_small" descr="due_logo_pici.png">
            <a:extLst>
              <a:ext uri="{FF2B5EF4-FFF2-40B4-BE49-F238E27FC236}">
                <a16:creationId xmlns:a16="http://schemas.microsoft.com/office/drawing/2014/main" id="{A53AB1D3-219D-EC21-9F8C-7F16A00A2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cxnSp>
        <p:nvCxnSpPr>
          <p:cNvPr id="5" name="separator_footer">
            <a:extLst>
              <a:ext uri="{FF2B5EF4-FFF2-40B4-BE49-F238E27FC236}">
                <a16:creationId xmlns:a16="http://schemas.microsoft.com/office/drawing/2014/main" id="{02E12FA1-E5A7-8854-8028-0FBEB469FAA4}"/>
              </a:ext>
            </a:extLst>
          </p:cNvPr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>
            <a:extLst>
              <a:ext uri="{FF2B5EF4-FFF2-40B4-BE49-F238E27FC236}">
                <a16:creationId xmlns:a16="http://schemas.microsoft.com/office/drawing/2014/main" id="{6F077C84-8685-21CB-C27A-AF00DE504042}"/>
              </a:ext>
            </a:extLst>
          </p:cNvPr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>
            <a:extLst>
              <a:ext uri="{FF2B5EF4-FFF2-40B4-BE49-F238E27FC236}">
                <a16:creationId xmlns:a16="http://schemas.microsoft.com/office/drawing/2014/main" id="{91D4CFB3-89CC-C58A-AA17-42DD5563327C}"/>
              </a:ext>
            </a:extLst>
          </p:cNvPr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>
            <a:extLst>
              <a:ext uri="{FF2B5EF4-FFF2-40B4-BE49-F238E27FC236}">
                <a16:creationId xmlns:a16="http://schemas.microsoft.com/office/drawing/2014/main" id="{DC23E99F-B203-0E6E-7AB7-568EF5010DBA}"/>
              </a:ext>
            </a:extLst>
          </p:cNvPr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>
            <a:extLst>
              <a:ext uri="{FF2B5EF4-FFF2-40B4-BE49-F238E27FC236}">
                <a16:creationId xmlns:a16="http://schemas.microsoft.com/office/drawing/2014/main" id="{7EE0F0E6-B429-F36B-BD43-9FA7D1621C06}"/>
              </a:ext>
            </a:extLst>
          </p:cNvPr>
          <p:cNvSpPr txBox="1"/>
          <p:nvPr/>
        </p:nvSpPr>
        <p:spPr>
          <a:xfrm>
            <a:off x="431801" y="1295400"/>
            <a:ext cx="8283936" cy="4977573"/>
          </a:xfrm>
          <a:prstGeom prst="rect">
            <a:avLst/>
          </a:prstGeom>
          <a:noFill/>
        </p:spPr>
        <p:txBody>
          <a:bodyPr wrap="square" numCol="2">
            <a:noAutofit/>
          </a:bodyPr>
          <a:lstStyle/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fejezet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1.1.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szakasz</a:t>
            </a: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	1.1.1.</a:t>
            </a:r>
            <a:r>
              <a:rPr sz="1600" dirty="0">
                <a:solidFill>
                  <a:srgbClr val="ED7D31"/>
                </a:solidFill>
                <a:latin typeface="Aptos" panose="020B0004020202020204" pitchFamily="34" charset="0"/>
              </a:rPr>
              <a:t> 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alszakasz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fejezet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szakasz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		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.1.1. 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alszakasz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</a:rPr>
              <a:t>3. </a:t>
            </a:r>
            <a:r>
              <a:rPr lang="hu-HU" sz="1600" dirty="0">
                <a:solidFill>
                  <a:srgbClr val="212121"/>
                </a:solidFill>
              </a:rPr>
              <a:t>Harmadik fejezet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</a:rPr>
              <a:t>	3.1. </a:t>
            </a:r>
            <a:r>
              <a:rPr lang="hu-HU" sz="1600" dirty="0"/>
              <a:t>Első s</a:t>
            </a:r>
            <a:r>
              <a:rPr lang="hu-HU" sz="1600" dirty="0">
                <a:solidFill>
                  <a:srgbClr val="212121"/>
                </a:solidFill>
              </a:rPr>
              <a:t>zakasz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212121"/>
                </a:solidFill>
              </a:rPr>
              <a:t>		</a:t>
            </a:r>
            <a:r>
              <a:rPr lang="hu-HU" sz="1600" dirty="0">
                <a:solidFill>
                  <a:srgbClr val="ED7D31"/>
                </a:solidFill>
              </a:rPr>
              <a:t>3.2. 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</a:rPr>
              <a:t>4. </a:t>
            </a:r>
            <a:r>
              <a:rPr lang="hu-HU" sz="1600" dirty="0">
                <a:solidFill>
                  <a:srgbClr val="212121"/>
                </a:solidFill>
              </a:rPr>
              <a:t>Negyedik fejezet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</a:rPr>
              <a:t>	4.1. </a:t>
            </a:r>
            <a:r>
              <a:rPr lang="hu-HU" sz="1600" dirty="0">
                <a:solidFill>
                  <a:srgbClr val="212121"/>
                </a:solidFill>
              </a:rPr>
              <a:t>Negyedik szakasz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r>
              <a:rPr lang="hu-HU" sz="1600" dirty="0">
                <a:solidFill>
                  <a:srgbClr val="212121"/>
                </a:solidFill>
              </a:rPr>
              <a:t>Q</a:t>
            </a:r>
          </a:p>
          <a:p>
            <a:endParaRPr lang="hu-HU" sz="1600" dirty="0">
              <a:solidFill>
                <a:srgbClr val="212121"/>
              </a:solidFill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  <p:sp>
        <p:nvSpPr>
          <p:cNvPr id="14" name="content_body_right"/>
          <p:cNvSpPr>
            <a:spLocks noGrp="1"/>
          </p:cNvSpPr>
          <p:nvPr/>
        </p:nvSpPr>
        <p:spPr>
          <a:xfrm>
            <a:off x="5994400" y="1295400"/>
            <a:ext cx="5765800" cy="5130800"/>
          </a:xfrm>
          <a:prstGeom prst="rect">
            <a:avLst/>
          </a:prstGeom>
          <a:noFill/>
        </p:spPr>
        <p:txBody>
          <a:bodyPr wrap="square" lIns="0" tIns="45720" rIns="0" bIns="45720">
            <a:normAutofit/>
          </a:bodyPr>
          <a:lstStyle/>
          <a:p>
            <a:endParaRPr sz="1600" dirty="0">
              <a:solidFill>
                <a:srgbClr val="212121"/>
              </a:solidFill>
              <a:latin typeface="Aptos"/>
            </a:endParaRPr>
          </a:p>
        </p:txBody>
      </p:sp>
      <p:sp>
        <p:nvSpPr>
          <p:cNvPr id="15" name="col_separator"/>
          <p:cNvSpPr>
            <a:spLocks noGrp="1"/>
          </p:cNvSpPr>
          <p:nvPr/>
        </p:nvSpPr>
        <p:spPr>
          <a:xfrm>
            <a:off x="4502715" y="1331200"/>
            <a:ext cx="0" cy="5130800"/>
          </a:xfrm>
          <a:prstGeom prst="line">
            <a:avLst/>
          </a:prstGeom>
          <a:noFill/>
          <a:ln w="9525">
            <a:solidFill>
              <a:srgbClr val="E0E0E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content_body">
            <a:extLst>
              <a:ext uri="{FF2B5EF4-FFF2-40B4-BE49-F238E27FC236}">
                <a16:creationId xmlns:a16="http://schemas.microsoft.com/office/drawing/2014/main" id="{12BA615E-D7C7-135A-ED5F-DF8AF2A8EEA4}"/>
              </a:ext>
            </a:extLst>
          </p:cNvPr>
          <p:cNvSpPr txBox="1"/>
          <p:nvPr/>
        </p:nvSpPr>
        <p:spPr>
          <a:xfrm>
            <a:off x="8825023" y="1296000"/>
            <a:ext cx="2935096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 err="1">
                <a:solidFill>
                  <a:srgbClr val="D4622A"/>
                </a:solidFill>
                <a:latin typeface="Aptos" panose="020B0004020202020204" pitchFamily="34" charset="0"/>
              </a:rPr>
              <a:t>Mindmap</a:t>
            </a:r>
            <a:endParaRPr lang="hu-HU" sz="1600" b="1" dirty="0">
              <a:solidFill>
                <a:srgbClr val="D4622A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fejezet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fejezet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endParaRPr lang="hu-HU" sz="1600" b="1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  <p:cxnSp>
        <p:nvCxnSpPr>
          <p:cNvPr id="11" name="col_separator">
            <a:extLst>
              <a:ext uri="{FF2B5EF4-FFF2-40B4-BE49-F238E27FC236}">
                <a16:creationId xmlns:a16="http://schemas.microsoft.com/office/drawing/2014/main" id="{4F3FAF8F-1450-72EA-7C29-BADD7C797974}"/>
              </a:ext>
            </a:extLst>
          </p:cNvPr>
          <p:cNvCxnSpPr>
            <a:cxnSpLocks/>
          </p:cNvCxnSpPr>
          <p:nvPr/>
        </p:nvCxnSpPr>
        <p:spPr>
          <a:xfrm>
            <a:off x="88511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04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936A8-2A7F-D1EE-A45A-4AA312680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_bg_left">
            <a:extLst>
              <a:ext uri="{FF2B5EF4-FFF2-40B4-BE49-F238E27FC236}">
                <a16:creationId xmlns:a16="http://schemas.microsoft.com/office/drawing/2014/main" id="{9A4F6AA7-13D2-4D51-03D2-E0356A279B49}"/>
              </a:ext>
            </a:extLst>
          </p:cNvPr>
          <p:cNvSpPr/>
          <p:nvPr/>
        </p:nvSpPr>
        <p:spPr>
          <a:xfrm>
            <a:off x="0" y="0"/>
            <a:ext cx="5120689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section_accent_line">
            <a:extLst>
              <a:ext uri="{FF2B5EF4-FFF2-40B4-BE49-F238E27FC236}">
                <a16:creationId xmlns:a16="http://schemas.microsoft.com/office/drawing/2014/main" id="{A66295D9-E895-2313-DCDC-D1C08164F6B8}"/>
              </a:ext>
            </a:extLst>
          </p:cNvPr>
          <p:cNvCxnSpPr/>
          <p:nvPr/>
        </p:nvCxnSpPr>
        <p:spPr>
          <a:xfrm>
            <a:off x="5120688" y="0"/>
            <a:ext cx="0" cy="6858000"/>
          </a:xfrm>
          <a:prstGeom prst="line">
            <a:avLst/>
          </a:prstGeom>
          <a:ln w="381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ttom_stripe">
            <a:extLst>
              <a:ext uri="{FF2B5EF4-FFF2-40B4-BE49-F238E27FC236}">
                <a16:creationId xmlns:a16="http://schemas.microsoft.com/office/drawing/2014/main" id="{53F16C9A-E6A9-502A-5271-CE083C0D668C}"/>
              </a:ext>
            </a:extLst>
          </p:cNvPr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ection_number">
            <a:extLst>
              <a:ext uri="{FF2B5EF4-FFF2-40B4-BE49-F238E27FC236}">
                <a16:creationId xmlns:a16="http://schemas.microsoft.com/office/drawing/2014/main" id="{1BD56C0B-29BA-3C6F-40F4-048E9B1217BC}"/>
              </a:ext>
            </a:extLst>
          </p:cNvPr>
          <p:cNvSpPr txBox="1"/>
          <p:nvPr/>
        </p:nvSpPr>
        <p:spPr>
          <a:xfrm>
            <a:off x="432000" y="2738835"/>
            <a:ext cx="4544689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200" b="1" i="0" dirty="0">
                <a:solidFill>
                  <a:srgbClr val="ED7D31"/>
                </a:solidFill>
                <a:latin typeface="Garamond"/>
              </a:rPr>
              <a:t>0</a:t>
            </a:r>
            <a:r>
              <a:rPr lang="hu-HU" sz="7200" b="1" i="0" dirty="0">
                <a:solidFill>
                  <a:srgbClr val="ED7D31"/>
                </a:solidFill>
                <a:latin typeface="Garamond"/>
              </a:rPr>
              <a:t>1</a:t>
            </a:r>
            <a:endParaRPr sz="7200" b="1" i="0" dirty="0">
              <a:solidFill>
                <a:srgbClr val="ED7D31"/>
              </a:solidFill>
              <a:latin typeface="Garamond"/>
            </a:endParaRPr>
          </a:p>
        </p:txBody>
      </p:sp>
      <p:sp>
        <p:nvSpPr>
          <p:cNvPr id="6" name="section_title">
            <a:extLst>
              <a:ext uri="{FF2B5EF4-FFF2-40B4-BE49-F238E27FC236}">
                <a16:creationId xmlns:a16="http://schemas.microsoft.com/office/drawing/2014/main" id="{AC8CDABE-0E69-3F39-5185-97C852DBBCCD}"/>
              </a:ext>
            </a:extLst>
          </p:cNvPr>
          <p:cNvSpPr txBox="1"/>
          <p:nvPr/>
        </p:nvSpPr>
        <p:spPr>
          <a:xfrm>
            <a:off x="432000" y="3566160"/>
            <a:ext cx="4544689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hu-HU" sz="2400" b="1" i="0" dirty="0">
                <a:solidFill>
                  <a:srgbClr val="FFFFFF"/>
                </a:solidFill>
                <a:latin typeface="Garamond"/>
              </a:rPr>
              <a:t>Fejezet</a:t>
            </a:r>
            <a:r>
              <a:rPr sz="2400" b="1" i="0" dirty="0">
                <a:solidFill>
                  <a:srgbClr val="FFFFFF"/>
                </a:solidFill>
                <a:latin typeface="Garamond"/>
              </a:rPr>
              <a:t> neve –
Lorem ipsum</a:t>
            </a: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80B56FB6-2D09-80C8-A780-61ED7A3B1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sp>
        <p:nvSpPr>
          <p:cNvPr id="11" name="content_body">
            <a:extLst>
              <a:ext uri="{FF2B5EF4-FFF2-40B4-BE49-F238E27FC236}">
                <a16:creationId xmlns:a16="http://schemas.microsoft.com/office/drawing/2014/main" id="{8E5E1B3E-7BA6-D683-0BDF-FF674F42CFB4}"/>
              </a:ext>
            </a:extLst>
          </p:cNvPr>
          <p:cNvSpPr txBox="1"/>
          <p:nvPr/>
        </p:nvSpPr>
        <p:spPr>
          <a:xfrm>
            <a:off x="5264687" y="1296000"/>
            <a:ext cx="3560335" cy="342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lang="hu-HU"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Primus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lang="hu-HU"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punctus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: Lorem ipsum dolor sit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aliqua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Secundus punctus: Ut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ullamco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laboris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nisi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aliquip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commodo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consequat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Tertius punctus: Duis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esse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cillum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eu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fugiat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nulla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pariatur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  <p:sp>
        <p:nvSpPr>
          <p:cNvPr id="12" name="content_body">
            <a:extLst>
              <a:ext uri="{FF2B5EF4-FFF2-40B4-BE49-F238E27FC236}">
                <a16:creationId xmlns:a16="http://schemas.microsoft.com/office/drawing/2014/main" id="{E4BC4679-CB09-AF5F-FCE5-7AB2A4C714C2}"/>
              </a:ext>
            </a:extLst>
          </p:cNvPr>
          <p:cNvSpPr txBox="1"/>
          <p:nvPr/>
        </p:nvSpPr>
        <p:spPr>
          <a:xfrm>
            <a:off x="8825023" y="1296000"/>
            <a:ext cx="2935096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ED7D31"/>
                </a:solidFill>
                <a:latin typeface="Aptos" panose="020B0004020202020204" pitchFamily="34" charset="0"/>
              </a:rPr>
              <a:t>1. </a:t>
            </a:r>
            <a:r>
              <a:rPr lang="hu-HU" sz="1600" b="1" dirty="0">
                <a:solidFill>
                  <a:srgbClr val="212121"/>
                </a:solidFill>
                <a:latin typeface="Aptos" panose="020B0004020202020204" pitchFamily="34" charset="0"/>
              </a:rPr>
              <a:t>Első fejezet</a:t>
            </a:r>
            <a:endParaRPr sz="1600" b="1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>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fejezet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chemeClr val="accent2"/>
                </a:solidFill>
                <a:latin typeface="Aptos" panose="020B0004020202020204" pitchFamily="34" charset="0"/>
              </a:rPr>
              <a:t>3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. Harmadik Fejezet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  <p:cxnSp>
        <p:nvCxnSpPr>
          <p:cNvPr id="7" name="col_separator">
            <a:extLst>
              <a:ext uri="{FF2B5EF4-FFF2-40B4-BE49-F238E27FC236}">
                <a16:creationId xmlns:a16="http://schemas.microsoft.com/office/drawing/2014/main" id="{A371207D-DFD5-4A0F-1E5A-114CC2B65C3F}"/>
              </a:ext>
            </a:extLst>
          </p:cNvPr>
          <p:cNvCxnSpPr>
            <a:cxnSpLocks/>
          </p:cNvCxnSpPr>
          <p:nvPr/>
        </p:nvCxnSpPr>
        <p:spPr>
          <a:xfrm>
            <a:off x="88511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426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4EDCA-4D4F-4442-0D3E-914619518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>
            <a:extLst>
              <a:ext uri="{FF2B5EF4-FFF2-40B4-BE49-F238E27FC236}">
                <a16:creationId xmlns:a16="http://schemas.microsoft.com/office/drawing/2014/main" id="{1858C800-BB15-06D3-6F35-3D3525386225}"/>
              </a:ext>
            </a:extLst>
          </p:cNvPr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>
            <a:extLst>
              <a:ext uri="{FF2B5EF4-FFF2-40B4-BE49-F238E27FC236}">
                <a16:creationId xmlns:a16="http://schemas.microsoft.com/office/drawing/2014/main" id="{266EF14A-5D5B-2863-5EB0-FBA983E93AED}"/>
              </a:ext>
            </a:extLst>
          </p:cNvPr>
          <p:cNvSpPr txBox="1"/>
          <p:nvPr/>
        </p:nvSpPr>
        <p:spPr>
          <a:xfrm>
            <a:off x="432000" y="342556"/>
            <a:ext cx="1024811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1.1.1. Első alszakasz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5" name="separator_footer">
            <a:extLst>
              <a:ext uri="{FF2B5EF4-FFF2-40B4-BE49-F238E27FC236}">
                <a16:creationId xmlns:a16="http://schemas.microsoft.com/office/drawing/2014/main" id="{2EB2DD62-413A-B6A8-9D4B-1A0E34C92D6A}"/>
              </a:ext>
            </a:extLst>
          </p:cNvPr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>
            <a:extLst>
              <a:ext uri="{FF2B5EF4-FFF2-40B4-BE49-F238E27FC236}">
                <a16:creationId xmlns:a16="http://schemas.microsoft.com/office/drawing/2014/main" id="{E034AC29-CD4D-9AA6-4B66-F54DA5BDE7A7}"/>
              </a:ext>
            </a:extLst>
          </p:cNvPr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>
            <a:extLst>
              <a:ext uri="{FF2B5EF4-FFF2-40B4-BE49-F238E27FC236}">
                <a16:creationId xmlns:a16="http://schemas.microsoft.com/office/drawing/2014/main" id="{BFCAF5FD-7550-5C9A-D180-C547E1612508}"/>
              </a:ext>
            </a:extLst>
          </p:cNvPr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>
            <a:extLst>
              <a:ext uri="{FF2B5EF4-FFF2-40B4-BE49-F238E27FC236}">
                <a16:creationId xmlns:a16="http://schemas.microsoft.com/office/drawing/2014/main" id="{0E2E5663-3D23-B6FA-F83A-28183FFABC22}"/>
              </a:ext>
            </a:extLst>
          </p:cNvPr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>
            <a:extLst>
              <a:ext uri="{FF2B5EF4-FFF2-40B4-BE49-F238E27FC236}">
                <a16:creationId xmlns:a16="http://schemas.microsoft.com/office/drawing/2014/main" id="{2F99A402-B2C7-9FF3-38AD-DBC419791845}"/>
              </a:ext>
            </a:extLst>
          </p:cNvPr>
          <p:cNvSpPr txBox="1"/>
          <p:nvPr/>
        </p:nvSpPr>
        <p:spPr>
          <a:xfrm>
            <a:off x="432001" y="1296000"/>
            <a:ext cx="8393022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Primus punctus: Lorem ipsum dolor sit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aliqua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Secundus punctus: Ut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ullamco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laboris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nisi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aliquip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ea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commodo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consequat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Tertius punctus: Duis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velit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esse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cillum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dolore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eu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fugiat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nulla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pariatur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0FF6C180-7CC4-CE26-804F-FF08FF955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sp>
        <p:nvSpPr>
          <p:cNvPr id="4" name="content_body">
            <a:extLst>
              <a:ext uri="{FF2B5EF4-FFF2-40B4-BE49-F238E27FC236}">
                <a16:creationId xmlns:a16="http://schemas.microsoft.com/office/drawing/2014/main" id="{9C40CCF3-3498-856B-06AF-F6BB1104CD6C}"/>
              </a:ext>
            </a:extLst>
          </p:cNvPr>
          <p:cNvSpPr txBox="1"/>
          <p:nvPr/>
        </p:nvSpPr>
        <p:spPr>
          <a:xfrm>
            <a:off x="8825023" y="1296000"/>
            <a:ext cx="2935096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fejezet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1.1.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szakasz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	1.1.1.</a:t>
            </a: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  </a:t>
            </a:r>
            <a:r>
              <a:rPr lang="hu-HU" sz="1600" b="1" dirty="0">
                <a:solidFill>
                  <a:srgbClr val="1A1A2E"/>
                </a:solidFill>
                <a:latin typeface="Aptos" panose="020B0004020202020204" pitchFamily="34" charset="0"/>
              </a:rPr>
              <a:t>Első alszakasz</a:t>
            </a:r>
          </a:p>
        </p:txBody>
      </p:sp>
      <p:cxnSp>
        <p:nvCxnSpPr>
          <p:cNvPr id="12" name="col_separator">
            <a:extLst>
              <a:ext uri="{FF2B5EF4-FFF2-40B4-BE49-F238E27FC236}">
                <a16:creationId xmlns:a16="http://schemas.microsoft.com/office/drawing/2014/main" id="{045895FE-7E2B-3BCD-4296-A41EF045F7BF}"/>
              </a:ext>
            </a:extLst>
          </p:cNvPr>
          <p:cNvCxnSpPr>
            <a:cxnSpLocks/>
          </p:cNvCxnSpPr>
          <p:nvPr/>
        </p:nvCxnSpPr>
        <p:spPr>
          <a:xfrm>
            <a:off x="88511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84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Garamond"/>
              </a:rPr>
              <a:t>Kép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és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szöveg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– Lorem ipsum dolor sit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amet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5" name="separator_footer"/>
          <p:cNvCxnSpPr>
            <a:cxnSpLocks/>
          </p:cNvCxnSpPr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4</a:t>
            </a:r>
          </a:p>
        </p:txBody>
      </p:sp>
      <p:cxnSp>
        <p:nvCxnSpPr>
          <p:cNvPr id="9" name="col_separator"/>
          <p:cNvCxnSpPr>
            <a:cxnSpLocks/>
          </p:cNvCxnSpPr>
          <p:nvPr/>
        </p:nvCxnSpPr>
        <p:spPr>
          <a:xfrm>
            <a:off x="3548609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l_left_body"/>
          <p:cNvSpPr txBox="1"/>
          <p:nvPr/>
        </p:nvSpPr>
        <p:spPr>
          <a:xfrm>
            <a:off x="432001" y="1296000"/>
            <a:ext cx="2984410" cy="323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Első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Lorem ipsum dolor sit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elit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Második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Sed do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labore et dolore magna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Harmadik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Ut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ullamco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Negyedik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Duis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velit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  <p:sp>
        <p:nvSpPr>
          <p:cNvPr id="11" name="col_right_image"/>
          <p:cNvSpPr/>
          <p:nvPr/>
        </p:nvSpPr>
        <p:spPr>
          <a:xfrm>
            <a:off x="3728609" y="1296000"/>
            <a:ext cx="4964216" cy="3739500"/>
          </a:xfrm>
          <a:prstGeom prst="rect">
            <a:avLst/>
          </a:prstGeom>
          <a:solidFill>
            <a:srgbClr val="E8EDF3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>
                <a:solidFill>
                  <a:srgbClr val="7A8A9E"/>
                </a:solidFill>
                <a:latin typeface="Aptos" panose="020B0004020202020204" pitchFamily="34" charset="0"/>
              </a:rPr>
              <a:t>[Kép / ábra helye]</a:t>
            </a:r>
          </a:p>
        </p:txBody>
      </p:sp>
      <p:sp>
        <p:nvSpPr>
          <p:cNvPr id="12" name="figure_caption"/>
          <p:cNvSpPr txBox="1"/>
          <p:nvPr/>
        </p:nvSpPr>
        <p:spPr>
          <a:xfrm>
            <a:off x="3728609" y="5107500"/>
            <a:ext cx="4964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>1. ábra: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Az ábra rövid leírása lorem ipsum</a:t>
            </a:r>
          </a:p>
        </p:txBody>
      </p:sp>
      <p:pic>
        <p:nvPicPr>
          <p:cNvPr id="13" name="logo_small" descr="due_logo_pici.png">
            <a:extLst>
              <a:ext uri="{FF2B5EF4-FFF2-40B4-BE49-F238E27FC236}">
                <a16:creationId xmlns:a16="http://schemas.microsoft.com/office/drawing/2014/main" id="{777FF3AA-D68E-ABE6-C200-8F7DD6BFA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sp>
        <p:nvSpPr>
          <p:cNvPr id="4" name="content_body">
            <a:extLst>
              <a:ext uri="{FF2B5EF4-FFF2-40B4-BE49-F238E27FC236}">
                <a16:creationId xmlns:a16="http://schemas.microsoft.com/office/drawing/2014/main" id="{081A61C4-3944-C424-1D75-D04BC0483ECE}"/>
              </a:ext>
            </a:extLst>
          </p:cNvPr>
          <p:cNvSpPr txBox="1"/>
          <p:nvPr/>
        </p:nvSpPr>
        <p:spPr>
          <a:xfrm>
            <a:off x="8825023" y="1296000"/>
            <a:ext cx="2935096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fejezet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1.1.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szakasz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	1.1.1.</a:t>
            </a: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  </a:t>
            </a:r>
            <a:r>
              <a:rPr lang="hu-HU" sz="1600" b="1" dirty="0">
                <a:solidFill>
                  <a:srgbClr val="1A1A2E"/>
                </a:solidFill>
                <a:latin typeface="Aptos" panose="020B0004020202020204" pitchFamily="34" charset="0"/>
              </a:rPr>
              <a:t>Első alszakasz</a:t>
            </a:r>
          </a:p>
        </p:txBody>
      </p:sp>
      <p:cxnSp>
        <p:nvCxnSpPr>
          <p:cNvPr id="14" name="col_separator">
            <a:extLst>
              <a:ext uri="{FF2B5EF4-FFF2-40B4-BE49-F238E27FC236}">
                <a16:creationId xmlns:a16="http://schemas.microsoft.com/office/drawing/2014/main" id="{6B4AB917-E473-F080-99B5-9A51D33125AF}"/>
              </a:ext>
            </a:extLst>
          </p:cNvPr>
          <p:cNvCxnSpPr>
            <a:cxnSpLocks/>
          </p:cNvCxnSpPr>
          <p:nvPr/>
        </p:nvCxnSpPr>
        <p:spPr>
          <a:xfrm>
            <a:off x="88511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aramond"/>
              </a:rPr>
              <a:t>Ábra – Lorem ipsum vizualizáció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5</a:t>
            </a:r>
          </a:p>
        </p:txBody>
      </p:sp>
      <p:sp>
        <p:nvSpPr>
          <p:cNvPr id="9" name="figure_image"/>
          <p:cNvSpPr/>
          <p:nvPr/>
        </p:nvSpPr>
        <p:spPr>
          <a:xfrm>
            <a:off x="432000" y="1296000"/>
            <a:ext cx="8191139" cy="4410000"/>
          </a:xfrm>
          <a:prstGeom prst="rect">
            <a:avLst/>
          </a:prstGeom>
          <a:solidFill>
            <a:srgbClr val="E8EDF3"/>
          </a:solidFill>
          <a:ln w="9525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[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Ábra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helye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 –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cseréld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 le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add_picture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()-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rel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]</a:t>
            </a:r>
          </a:p>
        </p:txBody>
      </p:sp>
      <p:sp>
        <p:nvSpPr>
          <p:cNvPr id="11" name="figure_caption"/>
          <p:cNvSpPr txBox="1"/>
          <p:nvPr/>
        </p:nvSpPr>
        <p:spPr>
          <a:xfrm>
            <a:off x="432000" y="5814000"/>
            <a:ext cx="11328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>1. ábra: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Az ábra részletes felirata – lorem ipsum dolor sit amet consectetur</a:t>
            </a:r>
          </a:p>
        </p:txBody>
      </p:sp>
      <p:pic>
        <p:nvPicPr>
          <p:cNvPr id="12" name="logo_small" descr="due_logo_pici.png">
            <a:extLst>
              <a:ext uri="{FF2B5EF4-FFF2-40B4-BE49-F238E27FC236}">
                <a16:creationId xmlns:a16="http://schemas.microsoft.com/office/drawing/2014/main" id="{E8603FF6-8E4E-97FB-D9D4-070EF0615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sp>
        <p:nvSpPr>
          <p:cNvPr id="4" name="content_body">
            <a:extLst>
              <a:ext uri="{FF2B5EF4-FFF2-40B4-BE49-F238E27FC236}">
                <a16:creationId xmlns:a16="http://schemas.microsoft.com/office/drawing/2014/main" id="{14A85664-60F8-DC95-299A-8DCD371E5FFE}"/>
              </a:ext>
            </a:extLst>
          </p:cNvPr>
          <p:cNvSpPr txBox="1"/>
          <p:nvPr/>
        </p:nvSpPr>
        <p:spPr>
          <a:xfrm>
            <a:off x="8825023" y="1296000"/>
            <a:ext cx="2935096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fejezet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1.1.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szakasz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	1.1.1.</a:t>
            </a: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  </a:t>
            </a:r>
            <a:r>
              <a:rPr lang="hu-HU" sz="1600" b="1" dirty="0">
                <a:solidFill>
                  <a:srgbClr val="1A1A2E"/>
                </a:solidFill>
                <a:latin typeface="Aptos" panose="020B0004020202020204" pitchFamily="34" charset="0"/>
              </a:rPr>
              <a:t>Első alszakasz</a:t>
            </a:r>
          </a:p>
        </p:txBody>
      </p:sp>
      <p:cxnSp>
        <p:nvCxnSpPr>
          <p:cNvPr id="13" name="col_separator">
            <a:extLst>
              <a:ext uri="{FF2B5EF4-FFF2-40B4-BE49-F238E27FC236}">
                <a16:creationId xmlns:a16="http://schemas.microsoft.com/office/drawing/2014/main" id="{618E46CB-9405-8C36-EC9C-F74A82B40D7A}"/>
              </a:ext>
            </a:extLst>
          </p:cNvPr>
          <p:cNvCxnSpPr>
            <a:cxnSpLocks/>
          </p:cNvCxnSpPr>
          <p:nvPr/>
        </p:nvCxnSpPr>
        <p:spPr>
          <a:xfrm>
            <a:off x="88511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aramond"/>
              </a:rPr>
              <a:t>Táblázat – Lorem ipsum adatok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6</a:t>
            </a:r>
          </a:p>
        </p:txBody>
      </p:sp>
      <p:sp>
        <p:nvSpPr>
          <p:cNvPr id="9" name="table_title"/>
          <p:cNvSpPr txBox="1"/>
          <p:nvPr/>
        </p:nvSpPr>
        <p:spPr>
          <a:xfrm>
            <a:off x="432000" y="1296000"/>
            <a:ext cx="11328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>1. táblázat: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Összefoglaló adatok – lorem ipsum measurement results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15599"/>
              </p:ext>
            </p:extLst>
          </p:nvPr>
        </p:nvGraphicFramePr>
        <p:xfrm>
          <a:off x="432000" y="1728000"/>
          <a:ext cx="8295310" cy="45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3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3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3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08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Paraméter</a:t>
                      </a:r>
                      <a:endParaRPr sz="1600" b="1" dirty="0">
                        <a:solidFill>
                          <a:srgbClr val="FFFFFF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Mértékegység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Mért érték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Referencia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mm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12,4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10–15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120,0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100–140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C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kPa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0,82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0,70–0,90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38,5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35–42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logo_small" descr="due_logo_pici.png">
            <a:extLst>
              <a:ext uri="{FF2B5EF4-FFF2-40B4-BE49-F238E27FC236}">
                <a16:creationId xmlns:a16="http://schemas.microsoft.com/office/drawing/2014/main" id="{EAE58600-92A8-ECDF-D883-EBC730E93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sp>
        <p:nvSpPr>
          <p:cNvPr id="4" name="content_body">
            <a:extLst>
              <a:ext uri="{FF2B5EF4-FFF2-40B4-BE49-F238E27FC236}">
                <a16:creationId xmlns:a16="http://schemas.microsoft.com/office/drawing/2014/main" id="{6E6E5FCA-ECC9-0A32-8733-A7626981944C}"/>
              </a:ext>
            </a:extLst>
          </p:cNvPr>
          <p:cNvSpPr txBox="1"/>
          <p:nvPr/>
        </p:nvSpPr>
        <p:spPr>
          <a:xfrm>
            <a:off x="8825023" y="1296000"/>
            <a:ext cx="2935096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fejezet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1.1. </a:t>
            </a:r>
            <a:r>
              <a:rPr lang="hu-HU" sz="1600" dirty="0">
                <a:solidFill>
                  <a:srgbClr val="1A1A2E"/>
                </a:solidFill>
                <a:latin typeface="Aptos" panose="020B0004020202020204" pitchFamily="34" charset="0"/>
              </a:rPr>
              <a:t>Első szakasz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b="1" dirty="0">
                <a:solidFill>
                  <a:srgbClr val="D4622A"/>
                </a:solidFill>
                <a:latin typeface="Aptos" panose="020B0004020202020204" pitchFamily="34" charset="0"/>
              </a:rPr>
              <a:t>		1.1.1.</a:t>
            </a: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  </a:t>
            </a:r>
            <a:r>
              <a:rPr lang="hu-HU" sz="1600" b="1" dirty="0">
                <a:solidFill>
                  <a:srgbClr val="1A1A2E"/>
                </a:solidFill>
                <a:latin typeface="Aptos" panose="020B0004020202020204" pitchFamily="34" charset="0"/>
              </a:rPr>
              <a:t>Első alszakasz</a:t>
            </a:r>
          </a:p>
        </p:txBody>
      </p:sp>
      <p:cxnSp>
        <p:nvCxnSpPr>
          <p:cNvPr id="13" name="col_separator">
            <a:extLst>
              <a:ext uri="{FF2B5EF4-FFF2-40B4-BE49-F238E27FC236}">
                <a16:creationId xmlns:a16="http://schemas.microsoft.com/office/drawing/2014/main" id="{371BC90E-4087-60C3-C380-0C8F1FC794EB}"/>
              </a:ext>
            </a:extLst>
          </p:cNvPr>
          <p:cNvCxnSpPr>
            <a:cxnSpLocks/>
          </p:cNvCxnSpPr>
          <p:nvPr/>
        </p:nvCxnSpPr>
        <p:spPr>
          <a:xfrm>
            <a:off x="88511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400" b="0" dirty="0">
                <a:solidFill>
                  <a:srgbClr val="FFFFFF"/>
                </a:solidFill>
                <a:latin typeface="Aptos"/>
              </a:rPr>
              <a:t>Irodalomjegyzék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/>
          <p:cNvSpPr txBox="1"/>
          <p:nvPr/>
        </p:nvSpPr>
        <p:spPr>
          <a:xfrm>
            <a:off x="432000" y="1296000"/>
            <a:ext cx="11328119" cy="160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[1]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A. (2023). A cím. Kiadó, Város.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[2]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B. – Szerző, C. (2022). Cím. Folyóirat neve, 10(2), 45–67.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[3]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D. (2021). Fejezet címe. In: Szerkesztő (szerk.), Könyv. Kiadó.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[4]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E. (2020). Weboldal neve. URL: https://example.com [Letöltve: 2024]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[5]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Szerző, F. (2019). Konferencia-előadás. In: Konferencia neve, 123–130.</a:t>
            </a:r>
          </a:p>
          <a:p>
            <a:endParaRPr sz="1400" dirty="0">
              <a:solidFill>
                <a:srgbClr val="212121"/>
              </a:solidFill>
              <a:latin typeface="Aptos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63779CA6-65B5-658D-4353-BAB20F18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7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2400" dirty="0"/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63779CA6-65B5-658D-4353-BAB20F18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sp>
        <p:nvSpPr>
          <p:cNvPr id="4" name="content_body">
            <a:extLst>
              <a:ext uri="{FF2B5EF4-FFF2-40B4-BE49-F238E27FC236}">
                <a16:creationId xmlns:a16="http://schemas.microsoft.com/office/drawing/2014/main" id="{F3006497-BEDD-7988-9FEE-394F44235212}"/>
              </a:ext>
            </a:extLst>
          </p:cNvPr>
          <p:cNvSpPr txBox="1"/>
          <p:nvPr/>
        </p:nvSpPr>
        <p:spPr>
          <a:xfrm>
            <a:off x="432000" y="1296000"/>
            <a:ext cx="11328119" cy="536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 err="1">
                <a:solidFill>
                  <a:srgbClr val="ED7D31"/>
                </a:solidFill>
                <a:latin typeface="Aptos"/>
              </a:rPr>
              <a:t>This</a:t>
            </a:r>
            <a:r>
              <a:rPr lang="hu-HU" sz="1400" dirty="0">
                <a:solidFill>
                  <a:srgbClr val="ED7D31"/>
                </a:solidFill>
                <a:latin typeface="Aptos"/>
              </a:rPr>
              <a:t> </a:t>
            </a:r>
            <a:r>
              <a:rPr lang="hu-HU" sz="1400" dirty="0" err="1">
                <a:solidFill>
                  <a:srgbClr val="ED7D31"/>
                </a:solidFill>
                <a:latin typeface="Aptos"/>
              </a:rPr>
              <a:t>page</a:t>
            </a:r>
            <a:r>
              <a:rPr lang="hu-HU" sz="1400" dirty="0">
                <a:solidFill>
                  <a:srgbClr val="ED7D31"/>
                </a:solidFill>
                <a:latin typeface="Aptos"/>
              </a:rPr>
              <a:t> is </a:t>
            </a:r>
            <a:r>
              <a:rPr lang="hu-HU" sz="1400" dirty="0" err="1">
                <a:solidFill>
                  <a:srgbClr val="ED7D31"/>
                </a:solidFill>
                <a:latin typeface="Aptos"/>
              </a:rPr>
              <a:t>originially</a:t>
            </a:r>
            <a:r>
              <a:rPr lang="hu-HU" sz="1400" dirty="0">
                <a:solidFill>
                  <a:srgbClr val="ED7D31"/>
                </a:solidFill>
                <a:latin typeface="Aptos"/>
              </a:rPr>
              <a:t> </a:t>
            </a:r>
            <a:r>
              <a:rPr lang="hu-HU" sz="1400" dirty="0" err="1">
                <a:solidFill>
                  <a:srgbClr val="ED7D31"/>
                </a:solidFill>
                <a:latin typeface="Aptos"/>
              </a:rPr>
              <a:t>left</a:t>
            </a:r>
            <a:r>
              <a:rPr lang="hu-HU" sz="1400" dirty="0">
                <a:solidFill>
                  <a:srgbClr val="ED7D31"/>
                </a:solidFill>
                <a:latin typeface="Aptos"/>
              </a:rPr>
              <a:t> </a:t>
            </a:r>
            <a:r>
              <a:rPr lang="hu-HU" sz="1400" dirty="0" err="1">
                <a:solidFill>
                  <a:srgbClr val="ED7D31"/>
                </a:solidFill>
                <a:latin typeface="Aptos"/>
              </a:rPr>
              <a:t>blank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endParaRPr sz="1400" dirty="0">
              <a:solidFill>
                <a:srgbClr val="21212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22732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400" dirty="0">
                <a:solidFill>
                  <a:srgbClr val="FFFFFF"/>
                </a:solidFill>
                <a:latin typeface="Aptos"/>
              </a:rPr>
              <a:t>Változásjegyzék</a:t>
            </a:r>
          </a:p>
        </p:txBody>
      </p:sp>
      <p:cxnSp>
        <p:nvCxnSpPr>
          <p:cNvPr id="5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/>
          <p:cNvSpPr txBox="1"/>
          <p:nvPr/>
        </p:nvSpPr>
        <p:spPr>
          <a:xfrm>
            <a:off x="432000" y="1296000"/>
            <a:ext cx="11328119" cy="1372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b="1" dirty="0">
                <a:solidFill>
                  <a:srgbClr val="003A70"/>
                </a:solidFill>
                <a:latin typeface="Aptos"/>
              </a:rPr>
              <a:t>Verzió	Dátum	Szerző	Leírás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400" dirty="0">
              <a:solidFill>
                <a:srgbClr val="ED7D31"/>
              </a:solidFill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0.0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2026-05-24	Claude	</a:t>
            </a:r>
            <a:r>
              <a:rPr lang="hu-HU" sz="1400" dirty="0" err="1">
                <a:solidFill>
                  <a:srgbClr val="212121"/>
                </a:solidFill>
                <a:latin typeface="Aptos"/>
              </a:rPr>
              <a:t>Branding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0.1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2026-05-24	Hári László	</a:t>
            </a:r>
            <a:r>
              <a:rPr lang="hu-HU" sz="1400" dirty="0" err="1">
                <a:solidFill>
                  <a:srgbClr val="212121"/>
                </a:solidFill>
                <a:latin typeface="Aptos"/>
              </a:rPr>
              <a:t>Mindmap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0.2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>	2026-05-24	Claude</a:t>
            </a:r>
            <a:r>
              <a:rPr lang="hu-HU" sz="1400">
                <a:solidFill>
                  <a:srgbClr val="212121"/>
                </a:solidFill>
                <a:latin typeface="Aptos"/>
              </a:rPr>
              <a:t>	Finomítás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endParaRPr sz="1400" dirty="0">
              <a:solidFill>
                <a:srgbClr val="212121"/>
              </a:solidFill>
              <a:latin typeface="Aptos"/>
            </a:endParaRP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63779CA6-65B5-658D-4353-BAB20F18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533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9642564775]">
  <a:themeElements>
    <a:clrScheme name="Office">
      <a:dk1>
        <a:srgbClr val="212121"/>
      </a:dk1>
      <a:lt1>
        <a:srgbClr val="FFFFFF"/>
      </a:lt1>
      <a:dk2>
        <a:srgbClr val="003A70"/>
      </a:dk2>
      <a:lt2>
        <a:srgbClr val="F2F2F2"/>
      </a:lt2>
      <a:accent1>
        <a:srgbClr val="003A70"/>
      </a:accent1>
      <a:accent2>
        <a:srgbClr val="ED7D31"/>
      </a:accent2>
      <a:accent3>
        <a:srgbClr val="2E74B5"/>
      </a:accent3>
      <a:accent4>
        <a:srgbClr val="70AD47"/>
      </a:accent4>
      <a:accent5>
        <a:srgbClr val="FFC000"/>
      </a:accent5>
      <a:accent6>
        <a:srgbClr val="5A5A5A"/>
      </a:accent6>
      <a:hlink>
        <a:srgbClr val="003A70"/>
      </a:hlink>
      <a:folHlink>
        <a:srgbClr val="7F7F7F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F45988C-382B-4614-8C53-45C3FD16C5DF}">
  <we:reference id="wa200010001" version="1.0.0.1" store="hu-HU" storeType="OMEX"/>
  <we:alternateReferences>
    <we:reference id="WA200010001" version="1.0.0.1" store="" storeType="OMEX"/>
  </we:alternateReferences>
  <we:properties>
    <we:property name="claude.fileId" value="&quot;7405527b-01ff-46cd-986b-3ab2542bcbc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1840</Words>
  <Application>Microsoft Office PowerPoint</Application>
  <PresentationFormat>Szélesvásznú</PresentationFormat>
  <Paragraphs>258</Paragraphs>
  <Slides>10</Slides>
  <Notes>10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Garamond</vt:lpstr>
      <vt:lpstr>Office Theme [1779642564775]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Hári László</dc:creator>
  <cp:keywords/>
  <dc:description>generated using python-pptx</dc:description>
  <cp:lastModifiedBy>László Hári</cp:lastModifiedBy>
  <cp:revision>33</cp:revision>
  <dcterms:created xsi:type="dcterms:W3CDTF">2013-01-27T09:14:16Z</dcterms:created>
  <dcterms:modified xsi:type="dcterms:W3CDTF">2026-06-03T16:41:54Z</dcterms:modified>
  <cp:category/>
</cp:coreProperties>
</file>