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0" r:id="rId1"/>
  </p:sldMasterIdLst>
  <p:notesMasterIdLst>
    <p:notesMasterId r:id="rId14"/>
  </p:notesMasterIdLst>
  <p:sldIdLst>
    <p:sldId id="274" r:id="rId2"/>
    <p:sldId id="281" r:id="rId3"/>
    <p:sldId id="275" r:id="rId4"/>
    <p:sldId id="257" r:id="rId5"/>
    <p:sldId id="264" r:id="rId6"/>
    <p:sldId id="277" r:id="rId7"/>
    <p:sldId id="259" r:id="rId8"/>
    <p:sldId id="260" r:id="rId9"/>
    <p:sldId id="261" r:id="rId10"/>
    <p:sldId id="283" r:id="rId11"/>
    <p:sldId id="285" r:id="rId12"/>
    <p:sldId id="28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E4C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1011" autoAdjust="0"/>
  </p:normalViewPr>
  <p:slideViewPr>
    <p:cSldViewPr snapToGrid="0" snapToObjects="1">
      <p:cViewPr varScale="1">
        <p:scale>
          <a:sx n="55" d="100"/>
          <a:sy n="55" d="100"/>
        </p:scale>
        <p:origin x="1004" y="2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561977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CÍM DIA – </a:t>
            </a:r>
            <a:r>
              <a:rPr dirty="0" err="1"/>
              <a:t>szerkesztési</a:t>
            </a:r>
            <a:r>
              <a:rPr dirty="0"/>
              <a:t> </a:t>
            </a:r>
            <a:r>
              <a:rPr dirty="0" err="1"/>
              <a:t>útmutató</a:t>
            </a:r>
            <a:endParaRPr dirty="0"/>
          </a:p>
          <a:p>
            <a:r>
              <a:rPr dirty="0"/>
              <a:t>─────────────────────────────────────────</a:t>
            </a:r>
          </a:p>
          <a:p>
            <a:r>
              <a:rPr dirty="0" err="1"/>
              <a:t>slide_main_title</a:t>
            </a:r>
            <a:r>
              <a:rPr dirty="0"/>
              <a:t>  : </a:t>
            </a:r>
            <a:r>
              <a:rPr dirty="0" err="1"/>
              <a:t>főcím</a:t>
            </a:r>
            <a:r>
              <a:rPr dirty="0"/>
              <a:t> (max. 2–3 </a:t>
            </a:r>
            <a:r>
              <a:rPr dirty="0" err="1"/>
              <a:t>sor</a:t>
            </a:r>
            <a:r>
              <a:rPr dirty="0"/>
              <a:t>, Garamond 34pt </a:t>
            </a:r>
            <a:r>
              <a:rPr dirty="0" err="1"/>
              <a:t>fehér</a:t>
            </a:r>
            <a:r>
              <a:rPr dirty="0"/>
              <a:t>)</a:t>
            </a:r>
          </a:p>
          <a:p>
            <a:r>
              <a:rPr dirty="0" err="1"/>
              <a:t>slide_subtitle</a:t>
            </a:r>
            <a:r>
              <a:rPr dirty="0"/>
              <a:t>    : </a:t>
            </a:r>
            <a:r>
              <a:rPr dirty="0" err="1"/>
              <a:t>tantárgy</a:t>
            </a:r>
            <a:r>
              <a:rPr dirty="0"/>
              <a:t> / </a:t>
            </a:r>
            <a:r>
              <a:rPr dirty="0" err="1"/>
              <a:t>intézet</a:t>
            </a:r>
            <a:r>
              <a:rPr dirty="0"/>
              <a:t> (</a:t>
            </a:r>
            <a:r>
              <a:rPr lang="hu-HU" dirty="0" err="1"/>
              <a:t>Aptos</a:t>
            </a:r>
            <a:r>
              <a:rPr dirty="0"/>
              <a:t> 15pt, </a:t>
            </a:r>
            <a:r>
              <a:rPr dirty="0" err="1"/>
              <a:t>dőlt</a:t>
            </a:r>
            <a:r>
              <a:rPr dirty="0"/>
              <a:t>, </a:t>
            </a:r>
            <a:r>
              <a:rPr dirty="0" err="1"/>
              <a:t>szürke</a:t>
            </a:r>
            <a:r>
              <a:rPr dirty="0"/>
              <a:t>)</a:t>
            </a:r>
          </a:p>
          <a:p>
            <a:r>
              <a:rPr dirty="0" err="1"/>
              <a:t>footer_author</a:t>
            </a:r>
            <a:r>
              <a:rPr dirty="0"/>
              <a:t>     : </a:t>
            </a:r>
            <a:r>
              <a:rPr dirty="0" err="1"/>
              <a:t>előadó</a:t>
            </a:r>
            <a:r>
              <a:rPr dirty="0"/>
              <a:t> neve</a:t>
            </a:r>
          </a:p>
          <a:p>
            <a:r>
              <a:rPr dirty="0" err="1"/>
              <a:t>footer_date</a:t>
            </a:r>
            <a:r>
              <a:rPr dirty="0"/>
              <a:t>       : </a:t>
            </a:r>
            <a:r>
              <a:rPr dirty="0" err="1"/>
              <a:t>dátum</a:t>
            </a:r>
            <a:r>
              <a:rPr dirty="0"/>
              <a:t> (ÉÉÉÉ.HH.NN. </a:t>
            </a:r>
            <a:r>
              <a:rPr dirty="0" err="1"/>
              <a:t>formátum</a:t>
            </a:r>
            <a:r>
              <a:rPr dirty="0"/>
              <a:t>)</a:t>
            </a:r>
          </a:p>
          <a:p>
            <a:r>
              <a:rPr dirty="0" err="1"/>
              <a:t>watermark_logo</a:t>
            </a:r>
            <a:r>
              <a:rPr dirty="0"/>
              <a:t>    : </a:t>
            </a:r>
            <a:r>
              <a:rPr dirty="0" err="1"/>
              <a:t>vízjel</a:t>
            </a:r>
            <a:r>
              <a:rPr dirty="0"/>
              <a:t> </a:t>
            </a:r>
            <a:r>
              <a:rPr dirty="0" err="1"/>
              <a:t>logó</a:t>
            </a:r>
            <a:r>
              <a:rPr dirty="0"/>
              <a:t> – NE </a:t>
            </a:r>
            <a:r>
              <a:rPr dirty="0" err="1"/>
              <a:t>töröld</a:t>
            </a:r>
            <a:r>
              <a:rPr dirty="0"/>
              <a:t>; opacity XML-ben van</a:t>
            </a:r>
          </a:p>
          <a:p>
            <a:r>
              <a:rPr dirty="0" err="1"/>
              <a:t>logo_small</a:t>
            </a:r>
            <a:r>
              <a:rPr dirty="0"/>
              <a:t>        : </a:t>
            </a:r>
            <a:r>
              <a:rPr dirty="0" err="1"/>
              <a:t>kis</a:t>
            </a:r>
            <a:r>
              <a:rPr dirty="0"/>
              <a:t> </a:t>
            </a:r>
            <a:r>
              <a:rPr dirty="0" err="1"/>
              <a:t>logó</a:t>
            </a:r>
            <a:r>
              <a:rPr dirty="0"/>
              <a:t> </a:t>
            </a:r>
            <a:r>
              <a:rPr dirty="0" err="1"/>
              <a:t>jobb</a:t>
            </a:r>
            <a:r>
              <a:rPr dirty="0"/>
              <a:t> </a:t>
            </a:r>
            <a:r>
              <a:rPr dirty="0" err="1"/>
              <a:t>felső</a:t>
            </a:r>
            <a:r>
              <a:rPr dirty="0"/>
              <a:t> </a:t>
            </a:r>
            <a:r>
              <a:rPr dirty="0" err="1"/>
              <a:t>sarokba</a:t>
            </a:r>
            <a:endParaRPr dirty="0"/>
          </a:p>
          <a:p>
            <a:endParaRPr dirty="0"/>
          </a:p>
          <a:p>
            <a:r>
              <a:rPr dirty="0" err="1"/>
              <a:t>Cowork</a:t>
            </a:r>
            <a:r>
              <a:rPr dirty="0"/>
              <a:t> </a:t>
            </a:r>
            <a:r>
              <a:rPr dirty="0" err="1"/>
              <a:t>utasítás</a:t>
            </a:r>
            <a:r>
              <a:rPr dirty="0"/>
              <a:t> </a:t>
            </a:r>
            <a:r>
              <a:rPr dirty="0" err="1"/>
              <a:t>példa</a:t>
            </a:r>
            <a:r>
              <a:rPr dirty="0"/>
              <a:t>:</a:t>
            </a:r>
          </a:p>
          <a:p>
            <a:r>
              <a:rPr dirty="0"/>
              <a:t>  '</a:t>
            </a:r>
            <a:r>
              <a:rPr dirty="0" err="1"/>
              <a:t>Cseréld</a:t>
            </a:r>
            <a:r>
              <a:rPr dirty="0"/>
              <a:t> le a </a:t>
            </a:r>
            <a:r>
              <a:rPr dirty="0" err="1"/>
              <a:t>slide_main_title</a:t>
            </a:r>
            <a:r>
              <a:rPr dirty="0"/>
              <a:t> </a:t>
            </a:r>
            <a:r>
              <a:rPr dirty="0" err="1"/>
              <a:t>szövegét</a:t>
            </a:r>
            <a:r>
              <a:rPr dirty="0"/>
              <a:t> </a:t>
            </a:r>
            <a:r>
              <a:rPr dirty="0" err="1"/>
              <a:t>erre</a:t>
            </a:r>
            <a:r>
              <a:rPr dirty="0"/>
              <a:t>: ...'</a:t>
            </a:r>
          </a:p>
          <a:p>
            <a:r>
              <a:rPr dirty="0"/>
              <a:t>  'Az </a:t>
            </a:r>
            <a:r>
              <a:rPr dirty="0" err="1"/>
              <a:t>footer_author</a:t>
            </a:r>
            <a:r>
              <a:rPr dirty="0"/>
              <a:t> </a:t>
            </a:r>
            <a:r>
              <a:rPr dirty="0" err="1"/>
              <a:t>mezőbe</a:t>
            </a:r>
            <a:r>
              <a:rPr dirty="0"/>
              <a:t> </a:t>
            </a:r>
            <a:r>
              <a:rPr dirty="0" err="1"/>
              <a:t>írd</a:t>
            </a:r>
            <a:r>
              <a:rPr dirty="0"/>
              <a:t> be: ...'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A50886-CE11-DF65-11A8-3E9D73BB3A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86D950-E4F3-4521-893A-27FEB9FCCA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933C44-8910-3B73-5B59-55092FB81B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TARTALOM DIA – szerkesztési útmutató</a:t>
            </a:r>
          </a:p>
          <a:p>
            <a:r>
              <a:t>─────────────────────────────────────────</a:t>
            </a:r>
          </a:p>
          <a:p>
            <a:r>
              <a:t>slide_title   : cím a navy sávban (max 3 sor, Garamond 22pt fehér)</a:t>
            </a:r>
          </a:p>
          <a:p>
            <a:r>
              <a:t>content_body  : felsorolás (Calibri 13.5pt); </a:t>
            </a:r>
          </a:p>
          <a:p>
            <a:r>
              <a:t>                módosítás: paragraphs[i].runs[1].text = 'új szöveg'</a:t>
            </a:r>
          </a:p>
          <a:p>
            <a:r>
              <a:t>separator_footer : lábléc CONNECTOR vonal (ne módosítsd)</a:t>
            </a:r>
          </a:p>
          <a:p>
            <a:r>
              <a:t>footer_date   : bal lábléc (dátum)</a:t>
            </a:r>
          </a:p>
          <a:p>
            <a:r>
              <a:t>footer_author : közép lábléc (szerző)</a:t>
            </a:r>
          </a:p>
          <a:p>
            <a:r>
              <a:t>footer_page   : jobb lábléc (oldalszám – integer)</a:t>
            </a:r>
          </a:p>
          <a:p>
            <a:endParaRPr/>
          </a:p>
          <a:p>
            <a:r>
              <a:t>Cowork utasítás példa:</a:t>
            </a:r>
          </a:p>
          <a:p>
            <a:r>
              <a:t>  'A slide_title szövegét cseréld erre: ...'</a:t>
            </a:r>
          </a:p>
          <a:p>
            <a:r>
              <a:t>  'A content_body 3. bulletjét írd át: ...'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2814A9-680E-972A-D43F-27357B81F3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7773656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255E8B-BF41-D958-3757-F8B20B055F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EEF653-FACD-A2E4-B91D-3442D87695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B5B391-86B6-1719-59C0-222EBF0830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SZAKASZFEJLÉC DIA – </a:t>
            </a:r>
            <a:r>
              <a:rPr dirty="0" err="1"/>
              <a:t>szerkesztési</a:t>
            </a:r>
            <a:r>
              <a:rPr dirty="0"/>
              <a:t> </a:t>
            </a:r>
            <a:r>
              <a:rPr dirty="0" err="1"/>
              <a:t>útmutató</a:t>
            </a:r>
            <a:endParaRPr dirty="0"/>
          </a:p>
          <a:p>
            <a:r>
              <a:rPr dirty="0"/>
              <a:t>─────────────────────────────────────────</a:t>
            </a:r>
          </a:p>
          <a:p>
            <a:r>
              <a:rPr dirty="0" err="1"/>
              <a:t>section_number</a:t>
            </a:r>
            <a:r>
              <a:rPr dirty="0"/>
              <a:t>      : </a:t>
            </a:r>
            <a:r>
              <a:rPr dirty="0" err="1"/>
              <a:t>fejezet</a:t>
            </a:r>
            <a:r>
              <a:rPr dirty="0"/>
              <a:t> </a:t>
            </a:r>
            <a:r>
              <a:rPr dirty="0" err="1"/>
              <a:t>sorszáma</a:t>
            </a:r>
            <a:r>
              <a:rPr dirty="0"/>
              <a:t> (pl. '03') – Garamond 72pt</a:t>
            </a:r>
          </a:p>
          <a:p>
            <a:r>
              <a:rPr dirty="0" err="1"/>
              <a:t>section_title</a:t>
            </a:r>
            <a:r>
              <a:rPr dirty="0"/>
              <a:t>       : </a:t>
            </a:r>
            <a:r>
              <a:rPr dirty="0" err="1"/>
              <a:t>fejezet</a:t>
            </a:r>
            <a:r>
              <a:rPr dirty="0"/>
              <a:t> neve (max 2 </a:t>
            </a:r>
            <a:r>
              <a:rPr dirty="0" err="1"/>
              <a:t>sor</a:t>
            </a:r>
            <a:r>
              <a:rPr dirty="0"/>
              <a:t>, Garamond 24pt </a:t>
            </a:r>
            <a:r>
              <a:rPr dirty="0" err="1"/>
              <a:t>fehér</a:t>
            </a:r>
            <a:r>
              <a:rPr dirty="0"/>
              <a:t>)</a:t>
            </a:r>
          </a:p>
          <a:p>
            <a:r>
              <a:rPr dirty="0" err="1"/>
              <a:t>section_description</a:t>
            </a:r>
            <a:r>
              <a:rPr dirty="0"/>
              <a:t> : </a:t>
            </a:r>
            <a:r>
              <a:rPr dirty="0" err="1"/>
              <a:t>jobb</a:t>
            </a:r>
            <a:r>
              <a:rPr dirty="0"/>
              <a:t> </a:t>
            </a:r>
            <a:r>
              <a:rPr dirty="0" err="1"/>
              <a:t>oldali</a:t>
            </a:r>
            <a:r>
              <a:rPr dirty="0"/>
              <a:t> </a:t>
            </a:r>
            <a:r>
              <a:rPr dirty="0" err="1"/>
              <a:t>rövid</a:t>
            </a:r>
            <a:r>
              <a:rPr dirty="0"/>
              <a:t> </a:t>
            </a:r>
            <a:r>
              <a:rPr dirty="0" err="1"/>
              <a:t>leírás</a:t>
            </a:r>
            <a:r>
              <a:rPr dirty="0"/>
              <a:t> (Calibri 16pt)</a:t>
            </a:r>
          </a:p>
          <a:p>
            <a:r>
              <a:rPr dirty="0" err="1"/>
              <a:t>bottom_stripe</a:t>
            </a:r>
            <a:r>
              <a:rPr dirty="0"/>
              <a:t>       : </a:t>
            </a:r>
            <a:r>
              <a:rPr dirty="0" err="1"/>
              <a:t>narancs</a:t>
            </a:r>
            <a:r>
              <a:rPr dirty="0"/>
              <a:t> </a:t>
            </a:r>
            <a:r>
              <a:rPr dirty="0" err="1"/>
              <a:t>alap</a:t>
            </a:r>
            <a:r>
              <a:rPr dirty="0"/>
              <a:t> </a:t>
            </a:r>
            <a:r>
              <a:rPr dirty="0" err="1"/>
              <a:t>sáv</a:t>
            </a:r>
            <a:r>
              <a:rPr dirty="0"/>
              <a:t> – NE </a:t>
            </a:r>
            <a:r>
              <a:rPr dirty="0" err="1"/>
              <a:t>módosítsd</a:t>
            </a:r>
            <a:endParaRPr dirty="0"/>
          </a:p>
          <a:p>
            <a:r>
              <a:rPr dirty="0" err="1"/>
              <a:t>section_bg_left</a:t>
            </a:r>
            <a:r>
              <a:rPr dirty="0"/>
              <a:t>     : navy </a:t>
            </a:r>
            <a:r>
              <a:rPr dirty="0" err="1"/>
              <a:t>bal</a:t>
            </a:r>
            <a:r>
              <a:rPr dirty="0"/>
              <a:t> </a:t>
            </a:r>
            <a:r>
              <a:rPr dirty="0" err="1"/>
              <a:t>sáv</a:t>
            </a:r>
            <a:r>
              <a:rPr dirty="0"/>
              <a:t> – NE </a:t>
            </a:r>
            <a:r>
              <a:rPr dirty="0" err="1"/>
              <a:t>módosítsd</a:t>
            </a:r>
            <a:endParaRPr dirty="0"/>
          </a:p>
          <a:p>
            <a:endParaRPr dirty="0"/>
          </a:p>
          <a:p>
            <a:r>
              <a:rPr dirty="0" err="1"/>
              <a:t>Cowork</a:t>
            </a:r>
            <a:r>
              <a:rPr dirty="0"/>
              <a:t> </a:t>
            </a:r>
            <a:r>
              <a:rPr dirty="0" err="1"/>
              <a:t>utasítás</a:t>
            </a:r>
            <a:r>
              <a:rPr dirty="0"/>
              <a:t>:</a:t>
            </a:r>
          </a:p>
          <a:p>
            <a:r>
              <a:rPr dirty="0"/>
              <a:t>  'A </a:t>
            </a:r>
            <a:r>
              <a:rPr dirty="0" err="1"/>
              <a:t>section_number</a:t>
            </a:r>
            <a:r>
              <a:rPr dirty="0"/>
              <a:t> </a:t>
            </a:r>
            <a:r>
              <a:rPr dirty="0" err="1"/>
              <a:t>értékét</a:t>
            </a:r>
            <a:r>
              <a:rPr dirty="0"/>
              <a:t> </a:t>
            </a:r>
            <a:r>
              <a:rPr dirty="0" err="1"/>
              <a:t>cseréld</a:t>
            </a:r>
            <a:r>
              <a:rPr dirty="0"/>
              <a:t>: 03'</a:t>
            </a:r>
          </a:p>
          <a:p>
            <a:r>
              <a:rPr dirty="0"/>
              <a:t>  'A </a:t>
            </a:r>
            <a:r>
              <a:rPr dirty="0" err="1"/>
              <a:t>section_title</a:t>
            </a:r>
            <a:r>
              <a:rPr dirty="0"/>
              <a:t> </a:t>
            </a:r>
            <a:r>
              <a:rPr dirty="0" err="1"/>
              <a:t>szövege</a:t>
            </a:r>
            <a:r>
              <a:rPr dirty="0"/>
              <a:t> </a:t>
            </a:r>
            <a:r>
              <a:rPr dirty="0" err="1"/>
              <a:t>legyen</a:t>
            </a:r>
            <a:r>
              <a:rPr dirty="0"/>
              <a:t>: ...'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B45925-CAB8-3895-75E8-B4D48EC0F2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7117607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TARTALOM DIA – szerkesztési útmutató</a:t>
            </a:r>
          </a:p>
          <a:p>
            <a:r>
              <a:t>─────────────────────────────────────────</a:t>
            </a:r>
          </a:p>
          <a:p>
            <a:r>
              <a:t>slide_title   : cím a navy sávban (max 3 sor, Garamond 22pt fehér)</a:t>
            </a:r>
          </a:p>
          <a:p>
            <a:r>
              <a:t>content_body  : felsorolás (Calibri 13.5pt); </a:t>
            </a:r>
          </a:p>
          <a:p>
            <a:r>
              <a:t>                módosítás: paragraphs[i].runs[1].text = 'új szöveg'</a:t>
            </a:r>
          </a:p>
          <a:p>
            <a:r>
              <a:t>separator_footer : lábléc CONNECTOR vonal (ne módosítsd)</a:t>
            </a:r>
          </a:p>
          <a:p>
            <a:r>
              <a:t>footer_date   : bal lábléc (dátum)</a:t>
            </a:r>
          </a:p>
          <a:p>
            <a:r>
              <a:t>footer_author : közép lábléc (szerző)</a:t>
            </a:r>
          </a:p>
          <a:p>
            <a:r>
              <a:t>footer_page   : jobb lábléc (oldalszám – integer)</a:t>
            </a:r>
          </a:p>
          <a:p>
            <a:endParaRPr/>
          </a:p>
          <a:p>
            <a:r>
              <a:t>Cowork utasítás példa:</a:t>
            </a:r>
          </a:p>
          <a:p>
            <a:r>
              <a:t>  'A slide_title szövegét cseréld erre: ...'</a:t>
            </a:r>
          </a:p>
          <a:p>
            <a:r>
              <a:t>  'A content_body 3. bulletjét írd át: ...'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255680-55D7-47FA-0E76-C47B7A6721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DEFF75-B238-7F3E-4DD2-12C65290262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53DD28-28A4-502C-D647-A15569295F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TARTALOM DIA – szerkesztési útmutató</a:t>
            </a:r>
          </a:p>
          <a:p>
            <a:r>
              <a:t>─────────────────────────────────────────</a:t>
            </a:r>
          </a:p>
          <a:p>
            <a:r>
              <a:t>slide_title   : cím a navy sávban (max 3 sor, Garamond 22pt fehér)</a:t>
            </a:r>
          </a:p>
          <a:p>
            <a:r>
              <a:t>content_body  : felsorolás (Calibri 13.5pt); </a:t>
            </a:r>
          </a:p>
          <a:p>
            <a:r>
              <a:t>                módosítás: paragraphs[i].runs[1].text = 'új szöveg'</a:t>
            </a:r>
          </a:p>
          <a:p>
            <a:r>
              <a:t>separator_footer : lábléc CONNECTOR vonal (ne módosítsd)</a:t>
            </a:r>
          </a:p>
          <a:p>
            <a:r>
              <a:t>footer_date   : bal lábléc (dátum)</a:t>
            </a:r>
          </a:p>
          <a:p>
            <a:r>
              <a:t>footer_author : közép lábléc (szerző)</a:t>
            </a:r>
          </a:p>
          <a:p>
            <a:r>
              <a:t>footer_page   : jobb lábléc (oldalszám – integer)</a:t>
            </a:r>
          </a:p>
          <a:p>
            <a:endParaRPr/>
          </a:p>
          <a:p>
            <a:r>
              <a:t>Cowork utasítás példa:</a:t>
            </a:r>
          </a:p>
          <a:p>
            <a:r>
              <a:t>  'A slide_title szövegét cseréld erre: ...'</a:t>
            </a:r>
          </a:p>
          <a:p>
            <a:r>
              <a:t>  'A content_body 3. bulletjét írd át: ...'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A9EE00-929B-332C-DEF1-C19DC03B74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4389111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DFB7CD-33E7-1BC8-B6BD-4076BA536D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6283F4-4227-06E7-7AF6-F8CEF85751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6B0999-E8F6-71A3-C8C2-B8939D7CDA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TARTALOM DIA – szerkesztési útmutató</a:t>
            </a:r>
          </a:p>
          <a:p>
            <a:r>
              <a:t>─────────────────────────────────────────</a:t>
            </a:r>
          </a:p>
          <a:p>
            <a:r>
              <a:t>slide_title   : cím a navy sávban (max 3 sor, Garamond 22pt fehér)</a:t>
            </a:r>
          </a:p>
          <a:p>
            <a:r>
              <a:t>content_body  : felsorolás (Calibri 13.5pt); </a:t>
            </a:r>
          </a:p>
          <a:p>
            <a:r>
              <a:t>                módosítás: paragraphs[i].runs[1].text = 'új szöveg'</a:t>
            </a:r>
          </a:p>
          <a:p>
            <a:r>
              <a:t>separator_footer : lábléc CONNECTOR vonal (ne módosítsd)</a:t>
            </a:r>
          </a:p>
          <a:p>
            <a:r>
              <a:t>footer_date   : bal lábléc (dátum)</a:t>
            </a:r>
          </a:p>
          <a:p>
            <a:r>
              <a:t>footer_author : közép lábléc (szerző)</a:t>
            </a:r>
          </a:p>
          <a:p>
            <a:r>
              <a:t>footer_page   : jobb lábléc (oldalszám – integer)</a:t>
            </a:r>
          </a:p>
          <a:p>
            <a:endParaRPr/>
          </a:p>
          <a:p>
            <a:r>
              <a:t>Cowork utasítás példa:</a:t>
            </a:r>
          </a:p>
          <a:p>
            <a:r>
              <a:t>  'A slide_title szövegét cseréld erre: ...'</a:t>
            </a:r>
          </a:p>
          <a:p>
            <a:r>
              <a:t>  'A content_body 3. bulletjét írd át: ...'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780343-DCA1-F857-50A5-02A9B7080D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734639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KÉP + SZÖVEG DIA – </a:t>
            </a:r>
            <a:r>
              <a:rPr dirty="0" err="1"/>
              <a:t>szerkesztési</a:t>
            </a:r>
            <a:r>
              <a:rPr dirty="0"/>
              <a:t> </a:t>
            </a:r>
            <a:r>
              <a:rPr dirty="0" err="1"/>
              <a:t>útmutató</a:t>
            </a:r>
            <a:endParaRPr dirty="0"/>
          </a:p>
          <a:p>
            <a:r>
              <a:rPr dirty="0"/>
              <a:t>─────────────────────────────────────────</a:t>
            </a:r>
          </a:p>
          <a:p>
            <a:r>
              <a:rPr dirty="0" err="1"/>
              <a:t>slide_title</a:t>
            </a:r>
            <a:r>
              <a:rPr dirty="0"/>
              <a:t>      : </a:t>
            </a:r>
            <a:r>
              <a:rPr dirty="0" err="1"/>
              <a:t>cím</a:t>
            </a:r>
            <a:r>
              <a:rPr dirty="0"/>
              <a:t> (max 1–2 </a:t>
            </a:r>
            <a:r>
              <a:rPr dirty="0" err="1"/>
              <a:t>sor</a:t>
            </a:r>
            <a:r>
              <a:rPr dirty="0"/>
              <a:t>, navy </a:t>
            </a:r>
            <a:r>
              <a:rPr dirty="0" err="1"/>
              <a:t>sávban</a:t>
            </a:r>
            <a:r>
              <a:rPr dirty="0"/>
              <a:t>)</a:t>
            </a:r>
          </a:p>
          <a:p>
            <a:r>
              <a:rPr dirty="0" err="1"/>
              <a:t>col_left_body</a:t>
            </a:r>
            <a:r>
              <a:rPr dirty="0"/>
              <a:t>    : </a:t>
            </a:r>
            <a:r>
              <a:rPr dirty="0" err="1"/>
              <a:t>bal</a:t>
            </a:r>
            <a:r>
              <a:rPr dirty="0"/>
              <a:t> </a:t>
            </a:r>
            <a:r>
              <a:rPr dirty="0" err="1"/>
              <a:t>oldali</a:t>
            </a:r>
            <a:r>
              <a:rPr dirty="0"/>
              <a:t> </a:t>
            </a:r>
            <a:r>
              <a:rPr dirty="0" err="1"/>
              <a:t>felsorolás</a:t>
            </a:r>
            <a:endParaRPr dirty="0"/>
          </a:p>
          <a:p>
            <a:r>
              <a:rPr dirty="0" err="1"/>
              <a:t>col_right_image</a:t>
            </a:r>
            <a:r>
              <a:rPr dirty="0"/>
              <a:t>  : </a:t>
            </a:r>
            <a:r>
              <a:rPr dirty="0" err="1"/>
              <a:t>kép</a:t>
            </a:r>
            <a:r>
              <a:rPr dirty="0"/>
              <a:t> placeholder – </a:t>
            </a:r>
            <a:r>
              <a:rPr dirty="0" err="1"/>
              <a:t>cseréld</a:t>
            </a:r>
            <a:r>
              <a:rPr dirty="0"/>
              <a:t> le: </a:t>
            </a:r>
          </a:p>
          <a:p>
            <a:r>
              <a:rPr dirty="0"/>
              <a:t>                   </a:t>
            </a:r>
            <a:r>
              <a:rPr dirty="0" err="1"/>
              <a:t>slide.shapes</a:t>
            </a:r>
            <a:r>
              <a:rPr dirty="0"/>
              <a:t>['</a:t>
            </a:r>
            <a:r>
              <a:rPr dirty="0" err="1"/>
              <a:t>col_right_image</a:t>
            </a:r>
            <a:r>
              <a:rPr dirty="0"/>
              <a:t>'] </a:t>
            </a:r>
            <a:r>
              <a:rPr dirty="0" err="1"/>
              <a:t>törlése</a:t>
            </a:r>
            <a:r>
              <a:rPr dirty="0"/>
              <a:t> </a:t>
            </a:r>
            <a:r>
              <a:rPr dirty="0" err="1"/>
              <a:t>után</a:t>
            </a:r>
            <a:endParaRPr dirty="0"/>
          </a:p>
          <a:p>
            <a:r>
              <a:rPr dirty="0"/>
              <a:t>                   </a:t>
            </a:r>
            <a:r>
              <a:rPr dirty="0" err="1"/>
              <a:t>slide.shapes.add_picture</a:t>
            </a:r>
            <a:r>
              <a:rPr dirty="0"/>
              <a:t>(...) </a:t>
            </a:r>
            <a:r>
              <a:rPr dirty="0" err="1"/>
              <a:t>ugyanazon</a:t>
            </a:r>
            <a:r>
              <a:rPr dirty="0"/>
              <a:t> </a:t>
            </a:r>
            <a:r>
              <a:rPr dirty="0" err="1"/>
              <a:t>koordinátákkal</a:t>
            </a:r>
            <a:endParaRPr dirty="0"/>
          </a:p>
          <a:p>
            <a:r>
              <a:rPr dirty="0" err="1"/>
              <a:t>figure_caption</a:t>
            </a:r>
            <a:r>
              <a:rPr dirty="0"/>
              <a:t>   : '1. </a:t>
            </a:r>
            <a:r>
              <a:rPr dirty="0" err="1"/>
              <a:t>ábra</a:t>
            </a:r>
            <a:r>
              <a:rPr dirty="0"/>
              <a:t>: [</a:t>
            </a:r>
            <a:r>
              <a:rPr dirty="0" err="1"/>
              <a:t>szöveg</a:t>
            </a:r>
            <a:r>
              <a:rPr dirty="0"/>
              <a:t>]' – runs[0]=</a:t>
            </a:r>
            <a:r>
              <a:rPr dirty="0" err="1"/>
              <a:t>szám+prefix</a:t>
            </a:r>
            <a:r>
              <a:rPr dirty="0"/>
              <a:t>, runs[1]=</a:t>
            </a:r>
            <a:r>
              <a:rPr dirty="0" err="1"/>
              <a:t>szöveg</a:t>
            </a:r>
            <a:endParaRPr dirty="0"/>
          </a:p>
          <a:p>
            <a:r>
              <a:rPr dirty="0" err="1"/>
              <a:t>col_separator</a:t>
            </a:r>
            <a:r>
              <a:rPr dirty="0"/>
              <a:t>    : CONNECTOR </a:t>
            </a:r>
            <a:r>
              <a:rPr dirty="0" err="1"/>
              <a:t>vonal</a:t>
            </a:r>
            <a:r>
              <a:rPr dirty="0"/>
              <a:t> – NE </a:t>
            </a:r>
            <a:r>
              <a:rPr dirty="0" err="1"/>
              <a:t>módosítsd</a:t>
            </a:r>
            <a:endParaRPr dirty="0"/>
          </a:p>
          <a:p>
            <a:endParaRPr dirty="0"/>
          </a:p>
          <a:p>
            <a:r>
              <a:rPr dirty="0" err="1"/>
              <a:t>Cowork</a:t>
            </a:r>
            <a:r>
              <a:rPr dirty="0"/>
              <a:t> </a:t>
            </a:r>
            <a:r>
              <a:rPr dirty="0" err="1"/>
              <a:t>koordináták</a:t>
            </a:r>
            <a:r>
              <a:rPr dirty="0"/>
              <a:t>:</a:t>
            </a:r>
          </a:p>
          <a:p>
            <a:r>
              <a:rPr dirty="0"/>
              <a:t>  </a:t>
            </a:r>
            <a:r>
              <a:rPr dirty="0" err="1"/>
              <a:t>kép</a:t>
            </a:r>
            <a:r>
              <a:rPr dirty="0"/>
              <a:t> </a:t>
            </a:r>
            <a:r>
              <a:rPr dirty="0" err="1"/>
              <a:t>bal</a:t>
            </a:r>
            <a:r>
              <a:rPr dirty="0"/>
              <a:t> </a:t>
            </a:r>
            <a:r>
              <a:rPr dirty="0" err="1"/>
              <a:t>széle</a:t>
            </a:r>
            <a:r>
              <a:rPr dirty="0"/>
              <a:t> : ML + CW*0.53 + GAP  ≈ 20.2 cm</a:t>
            </a:r>
          </a:p>
          <a:p>
            <a:r>
              <a:rPr dirty="0"/>
              <a:t>  </a:t>
            </a:r>
            <a:r>
              <a:rPr dirty="0" err="1"/>
              <a:t>kép</a:t>
            </a:r>
            <a:r>
              <a:rPr dirty="0"/>
              <a:t> </a:t>
            </a:r>
            <a:r>
              <a:rPr dirty="0" err="1"/>
              <a:t>teteje</a:t>
            </a:r>
            <a:r>
              <a:rPr dirty="0"/>
              <a:t>    : TITLE_H + 6mm = 36 mm</a:t>
            </a:r>
          </a:p>
          <a:p>
            <a:r>
              <a:rPr dirty="0"/>
              <a:t>  </a:t>
            </a:r>
            <a:r>
              <a:rPr dirty="0" err="1"/>
              <a:t>kép</a:t>
            </a:r>
            <a:r>
              <a:rPr dirty="0"/>
              <a:t> </a:t>
            </a:r>
            <a:r>
              <a:rPr dirty="0" err="1"/>
              <a:t>szélesség</a:t>
            </a:r>
            <a:r>
              <a:rPr dirty="0"/>
              <a:t> : ~14.8 cm</a:t>
            </a:r>
          </a:p>
          <a:p>
            <a:r>
              <a:rPr dirty="0"/>
              <a:t>  </a:t>
            </a:r>
            <a:r>
              <a:rPr dirty="0" err="1"/>
              <a:t>kép</a:t>
            </a:r>
            <a:r>
              <a:rPr dirty="0"/>
              <a:t> </a:t>
            </a:r>
            <a:r>
              <a:rPr dirty="0" err="1"/>
              <a:t>magassága</a:t>
            </a:r>
            <a:r>
              <a:rPr dirty="0"/>
              <a:t> : ~11.3 cm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ÁBRA DIA – szerkesztési útmutató</a:t>
            </a:r>
          </a:p>
          <a:p>
            <a:r>
              <a:t>─────────────────────────────────────────</a:t>
            </a:r>
          </a:p>
          <a:p>
            <a:r>
              <a:t>slide_title      : dia és ábra témája</a:t>
            </a:r>
          </a:p>
          <a:p>
            <a:r>
              <a:t>figure_image     : kép placeholder – koordináták:</a:t>
            </a:r>
          </a:p>
          <a:p>
            <a:r>
              <a:t>                   l=ML=12mm, t=CT≈36mm, w=CW≈309mm, h≈133mm</a:t>
            </a:r>
          </a:p>
          <a:p>
            <a:r>
              <a:t>                   Cseréld: töröld a placeholder-t, add add_picture()</a:t>
            </a:r>
          </a:p>
          <a:p>
            <a:r>
              <a:t>figure_caption   : ábra felirat</a:t>
            </a:r>
          </a:p>
          <a:p>
            <a:r>
              <a:t>                   runs[0].text = '1. ábra: '</a:t>
            </a:r>
          </a:p>
          <a:p>
            <a:r>
              <a:t>                   runs[1].text = 'a felirat szövege'</a:t>
            </a:r>
          </a:p>
          <a:p>
            <a:r>
              <a:t>figure_separator : CONNECTOR vonal – NE módosítsd</a:t>
            </a:r>
          </a:p>
          <a:p>
            <a:endParaRPr/>
          </a:p>
          <a:p>
            <a:r>
              <a:t>Ábra sorszámozás: az egész prezentációban folyamatos (nem dianként újra)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TÁBLÁZAT DIA – szerkesztési útmutató</a:t>
            </a:r>
          </a:p>
          <a:p>
            <a:r>
              <a:t>─────────────────────────────────────────</a:t>
            </a:r>
          </a:p>
          <a:p>
            <a:r>
              <a:t>slide_title           : dia témája (navy sávban)</a:t>
            </a:r>
          </a:p>
          <a:p>
            <a:r>
              <a:t>table_title           : '1. táblázat: [felirat]'</a:t>
            </a:r>
          </a:p>
          <a:p>
            <a:r>
              <a:t>                        runs[0].text = '1. táblázat: '</a:t>
            </a:r>
          </a:p>
          <a:p>
            <a:r>
              <a:t>                        runs[1].text = 'a felirat szövege'</a:t>
            </a:r>
          </a:p>
          <a:p>
            <a:r>
              <a:t>table_title_separator : CONNECTOR vonal – NE módosítsd</a:t>
            </a:r>
          </a:p>
          <a:p>
            <a:r>
              <a:t>data_table (shape)    : python-pptx Table objektum</a:t>
            </a:r>
          </a:p>
          <a:p>
            <a:r>
              <a:t>                        cella elérése: table.cell(sor, oszlop).text = ...</a:t>
            </a:r>
          </a:p>
          <a:p>
            <a:r>
              <a:t>                        fejléc: sor=0, adatok: sor=1..(ROWS-1)</a:t>
            </a:r>
          </a:p>
          <a:p>
            <a:endParaRPr/>
          </a:p>
          <a:p>
            <a:r>
              <a:t>Sorok/oszlopok módosítása:</a:t>
            </a:r>
          </a:p>
          <a:p>
            <a:r>
              <a:t>  Sorokat a python-pptx nem tud dinamikusan hozzáadni –</a:t>
            </a:r>
          </a:p>
          <a:p>
            <a:r>
              <a:t>  a táblát törölve és újra létrehozva kell generálni.</a:t>
            </a:r>
          </a:p>
          <a:p>
            <a:r>
              <a:t>  Cowork szkript: 'Hozz létre új táblázat diát N sorral és M oszloppal.'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TARTALOM DIA – szerkesztési útmutató</a:t>
            </a:r>
          </a:p>
          <a:p>
            <a:r>
              <a:t>─────────────────────────────────────────</a:t>
            </a:r>
          </a:p>
          <a:p>
            <a:r>
              <a:t>slide_title   : cím a navy sávban (max 3 sor, Garamond 22pt fehér)</a:t>
            </a:r>
          </a:p>
          <a:p>
            <a:r>
              <a:t>content_body  : felsorolás (Calibri 13.5pt); </a:t>
            </a:r>
          </a:p>
          <a:p>
            <a:r>
              <a:t>                módosítás: paragraphs[i].runs[1].text = 'új szöveg'</a:t>
            </a:r>
          </a:p>
          <a:p>
            <a:r>
              <a:t>separator_footer : lábléc CONNECTOR vonal (ne módosítsd)</a:t>
            </a:r>
          </a:p>
          <a:p>
            <a:r>
              <a:t>footer_date   : bal lábléc (dátum)</a:t>
            </a:r>
          </a:p>
          <a:p>
            <a:r>
              <a:t>footer_author : közép lábléc (szerző)</a:t>
            </a:r>
          </a:p>
          <a:p>
            <a:r>
              <a:t>footer_page   : jobb lábléc (oldalszám – integer)</a:t>
            </a:r>
          </a:p>
          <a:p>
            <a:endParaRPr/>
          </a:p>
          <a:p>
            <a:r>
              <a:t>Cowork utasítás példa:</a:t>
            </a:r>
          </a:p>
          <a:p>
            <a:r>
              <a:t>  'A slide_title szövegét cseréld erre: ...'</a:t>
            </a:r>
          </a:p>
          <a:p>
            <a:r>
              <a:t>  'A content_body 3. bulletjét írd át: ...'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TARTALOM DIA – szerkesztési útmutató</a:t>
            </a:r>
          </a:p>
          <a:p>
            <a:r>
              <a:t>─────────────────────────────────────────</a:t>
            </a:r>
          </a:p>
          <a:p>
            <a:r>
              <a:t>slide_title   : cím a navy sávban (max 3 sor, Garamond 22pt fehér)</a:t>
            </a:r>
          </a:p>
          <a:p>
            <a:r>
              <a:t>content_body  : felsorolás (Calibri 13.5pt); </a:t>
            </a:r>
          </a:p>
          <a:p>
            <a:r>
              <a:t>                módosítás: paragraphs[i].runs[1].text = 'új szöveg'</a:t>
            </a:r>
          </a:p>
          <a:p>
            <a:r>
              <a:t>separator_footer : lábléc CONNECTOR vonal (ne módosítsd)</a:t>
            </a:r>
          </a:p>
          <a:p>
            <a:r>
              <a:t>footer_date   : bal lábléc (dátum)</a:t>
            </a:r>
          </a:p>
          <a:p>
            <a:r>
              <a:t>footer_author : közép lábléc (szerző)</a:t>
            </a:r>
          </a:p>
          <a:p>
            <a:r>
              <a:t>footer_page   : jobb lábléc (oldalszám – integer)</a:t>
            </a:r>
          </a:p>
          <a:p>
            <a:endParaRPr/>
          </a:p>
          <a:p>
            <a:r>
              <a:t>Cowork utasítás példa:</a:t>
            </a:r>
          </a:p>
          <a:p>
            <a:r>
              <a:t>  'A slide_title szövegét cseréld erre: ...'</a:t>
            </a:r>
          </a:p>
          <a:p>
            <a:r>
              <a:t>  'A content_body 3. bulletjét írd át: ...'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TARTALOM DIA – szerkesztési útmutató</a:t>
            </a:r>
          </a:p>
          <a:p>
            <a:r>
              <a:t>─────────────────────────────────────────</a:t>
            </a:r>
          </a:p>
          <a:p>
            <a:r>
              <a:t>slide_title   : cím a navy sávban (max 3 sor, Garamond 22pt fehér)</a:t>
            </a:r>
          </a:p>
          <a:p>
            <a:r>
              <a:t>content_body  : felsorolás (Calibri 13.5pt); </a:t>
            </a:r>
          </a:p>
          <a:p>
            <a:r>
              <a:t>                módosítás: paragraphs[i].runs[1].text = 'új szöveg'</a:t>
            </a:r>
          </a:p>
          <a:p>
            <a:r>
              <a:t>separator_footer : lábléc CONNECTOR vonal (ne módosítsd)</a:t>
            </a:r>
          </a:p>
          <a:p>
            <a:r>
              <a:t>footer_date   : bal lábléc (dátum)</a:t>
            </a:r>
          </a:p>
          <a:p>
            <a:r>
              <a:t>footer_author : közép lábléc (szerző)</a:t>
            </a:r>
          </a:p>
          <a:p>
            <a:r>
              <a:t>footer_page   : jobb lábléc (oldalszám – integer)</a:t>
            </a:r>
          </a:p>
          <a:p>
            <a:endParaRPr/>
          </a:p>
          <a:p>
            <a:r>
              <a:t>Cowork utasítás példa:</a:t>
            </a:r>
          </a:p>
          <a:p>
            <a:r>
              <a:t>  'A slide_title szövegét cseréld erre: ...'</a:t>
            </a:r>
          </a:p>
          <a:p>
            <a:r>
              <a:t>  'A content_body 3. bulletjét írd át: ...'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lang="hu-HU" altLang="en-US"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lang="hu-HU" altLang="en-US"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lang="hu-HU" altLang="en-US"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lang="hu-HU" altLang="en-US"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lang="hu-HU" altLang="en-US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lang="hu-HU" altLang="en-US"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lang="hu-HU" altLang="en-US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lang="hu-HU" altLang="en-US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lang="hu-HU" altLang="en-US"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navy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accent_stripe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watermark_logo" descr="due_logo_nagy.png"/>
          <p:cNvPicPr>
            <a:picLocks noChangeAspect="1"/>
          </p:cNvPicPr>
          <p:nvPr/>
        </p:nvPicPr>
        <p:blipFill>
          <a:blip r:embed="rId3">
            <a:alphaModFix amt="12000"/>
          </a:blip>
          <a:stretch/>
        </p:blipFill>
        <p:spPr>
          <a:xfrm>
            <a:off x="7224119" y="2545200"/>
            <a:ext cx="5760000" cy="5760000"/>
          </a:xfrm>
          <a:prstGeom prst="rect">
            <a:avLst/>
          </a:prstGeom>
        </p:spPr>
      </p:pic>
      <p:sp>
        <p:nvSpPr>
          <p:cNvPr id="6" name="slide_main_title"/>
          <p:cNvSpPr txBox="1"/>
          <p:nvPr/>
        </p:nvSpPr>
        <p:spPr>
          <a:xfrm>
            <a:off x="720000" y="1260000"/>
            <a:ext cx="9888119" cy="2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400" b="1" i="0" dirty="0" err="1">
                <a:solidFill>
                  <a:srgbClr val="FFFFFF"/>
                </a:solidFill>
                <a:latin typeface="Garamond"/>
              </a:rPr>
              <a:t>Előadás</a:t>
            </a:r>
            <a:r>
              <a:rPr sz="3400" b="1" i="0" dirty="0">
                <a:solidFill>
                  <a:srgbClr val="FFFFFF"/>
                </a:solidFill>
                <a:latin typeface="Garamond"/>
              </a:rPr>
              <a:t> </a:t>
            </a:r>
            <a:r>
              <a:rPr sz="3400" b="1" i="0" dirty="0" err="1">
                <a:solidFill>
                  <a:srgbClr val="FFFFFF"/>
                </a:solidFill>
                <a:latin typeface="Garamond"/>
              </a:rPr>
              <a:t>főcíme</a:t>
            </a:r>
            <a:r>
              <a:rPr sz="3400" b="1" i="0" dirty="0">
                <a:solidFill>
                  <a:srgbClr val="FFFFFF"/>
                </a:solidFill>
                <a:latin typeface="Garamond"/>
              </a:rPr>
              <a:t>:
Lorem ipsum dolor sit </a:t>
            </a:r>
            <a:r>
              <a:rPr sz="3400" b="1" i="0" dirty="0" err="1">
                <a:solidFill>
                  <a:srgbClr val="FFFFFF"/>
                </a:solidFill>
                <a:latin typeface="Garamond"/>
              </a:rPr>
              <a:t>amet</a:t>
            </a:r>
            <a:r>
              <a:rPr sz="3400" b="1" i="0" dirty="0">
                <a:solidFill>
                  <a:srgbClr val="FFFFFF"/>
                </a:solidFill>
                <a:latin typeface="Garamond"/>
              </a:rPr>
              <a:t> </a:t>
            </a:r>
            <a:r>
              <a:rPr sz="3400" b="1" i="0" dirty="0" err="1">
                <a:solidFill>
                  <a:srgbClr val="FFFFFF"/>
                </a:solidFill>
                <a:latin typeface="Garamond"/>
              </a:rPr>
              <a:t>consectetur</a:t>
            </a:r>
            <a:endParaRPr sz="3400" b="1" i="0" dirty="0">
              <a:solidFill>
                <a:srgbClr val="FFFFFF"/>
              </a:solidFill>
              <a:latin typeface="Garamond"/>
            </a:endParaRPr>
          </a:p>
        </p:txBody>
      </p:sp>
      <p:cxnSp>
        <p:nvCxnSpPr>
          <p:cNvPr id="7" name="title_rule"/>
          <p:cNvCxnSpPr/>
          <p:nvPr/>
        </p:nvCxnSpPr>
        <p:spPr>
          <a:xfrm>
            <a:off x="720000" y="3960000"/>
            <a:ext cx="4320000" cy="0"/>
          </a:xfrm>
          <a:prstGeom prst="line">
            <a:avLst/>
          </a:prstGeom>
          <a:ln w="25400">
            <a:solidFill>
              <a:srgbClr val="ED7D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slide_subtitle"/>
          <p:cNvSpPr txBox="1"/>
          <p:nvPr/>
        </p:nvSpPr>
        <p:spPr>
          <a:xfrm>
            <a:off x="720000" y="4140000"/>
            <a:ext cx="10752119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hu-HU" sz="1600" b="0" i="1" dirty="0">
                <a:solidFill>
                  <a:srgbClr val="7A8A9E"/>
                </a:solidFill>
                <a:latin typeface="Aptos" panose="020B0004020202020204" pitchFamily="34" charset="0"/>
              </a:rPr>
              <a:t>Egyetem neve – Képzés neve </a:t>
            </a:r>
            <a:r>
              <a:rPr sz="1600" b="0" i="1" dirty="0">
                <a:solidFill>
                  <a:srgbClr val="7A8A9E"/>
                </a:solidFill>
                <a:latin typeface="Aptos" panose="020B0004020202020204" pitchFamily="34" charset="0"/>
              </a:rPr>
              <a:t>– </a:t>
            </a:r>
            <a:r>
              <a:rPr sz="1600" b="0" i="1" dirty="0" err="1">
                <a:solidFill>
                  <a:srgbClr val="7A8A9E"/>
                </a:solidFill>
                <a:latin typeface="Aptos" panose="020B0004020202020204" pitchFamily="34" charset="0"/>
              </a:rPr>
              <a:t>Intézet</a:t>
            </a:r>
            <a:r>
              <a:rPr sz="1600" b="0" i="1" dirty="0">
                <a:solidFill>
                  <a:srgbClr val="7A8A9E"/>
                </a:solidFill>
                <a:latin typeface="Aptos" panose="020B0004020202020204" pitchFamily="34" charset="0"/>
              </a:rPr>
              <a:t> neve</a:t>
            </a:r>
            <a:r>
              <a:rPr lang="hu-HU" sz="1600" i="1" dirty="0">
                <a:solidFill>
                  <a:srgbClr val="7A8A9E"/>
                </a:solidFill>
                <a:latin typeface="Aptos" panose="020B0004020202020204" pitchFamily="34" charset="0"/>
              </a:rPr>
              <a:t>  –  Tantárgy neve</a:t>
            </a:r>
            <a:endParaRPr sz="1600" b="0" i="1" dirty="0">
              <a:solidFill>
                <a:srgbClr val="7A8A9E"/>
              </a:solidFill>
              <a:latin typeface="Aptos" panose="020B0004020202020204" pitchFamily="34" charset="0"/>
            </a:endParaRPr>
          </a:p>
        </p:txBody>
      </p:sp>
      <p:sp>
        <p:nvSpPr>
          <p:cNvPr id="9" name="footer_author"/>
          <p:cNvSpPr txBox="1"/>
          <p:nvPr/>
        </p:nvSpPr>
        <p:spPr>
          <a:xfrm>
            <a:off x="720000" y="5850000"/>
            <a:ext cx="504000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hu-HU" sz="1300" dirty="0">
                <a:solidFill>
                  <a:srgbClr val="7A8A9E"/>
                </a:solidFill>
                <a:latin typeface="Aptos" panose="020B0004020202020204" pitchFamily="34" charset="0"/>
              </a:rPr>
              <a:t>Előadó neve</a:t>
            </a:r>
            <a:endParaRPr sz="1300" b="0" i="0" dirty="0">
              <a:solidFill>
                <a:srgbClr val="7A8A9E"/>
              </a:solidFill>
              <a:latin typeface="Aptos" panose="020B0004020202020204" pitchFamily="34" charset="0"/>
            </a:endParaRPr>
          </a:p>
        </p:txBody>
      </p:sp>
      <p:sp>
        <p:nvSpPr>
          <p:cNvPr id="10" name="footer_date"/>
          <p:cNvSpPr txBox="1"/>
          <p:nvPr/>
        </p:nvSpPr>
        <p:spPr>
          <a:xfrm>
            <a:off x="720000" y="6354000"/>
            <a:ext cx="288000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003A70"/>
                </a:solidFill>
                <a:latin typeface="Aptos" panose="020B0004020202020204" pitchFamily="34" charset="0"/>
              </a:rPr>
              <a:t>2026.05.20.</a:t>
            </a:r>
          </a:p>
        </p:txBody>
      </p:sp>
    </p:spTree>
    <p:extLst>
      <p:ext uri="{BB962C8B-B14F-4D97-AF65-F5344CB8AC3E}">
        <p14:creationId xmlns:p14="http://schemas.microsoft.com/office/powerpoint/2010/main" val="42519271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3083DF-5349-0397-F90D-0B33478838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bar_bg">
            <a:extLst>
              <a:ext uri="{FF2B5EF4-FFF2-40B4-BE49-F238E27FC236}">
                <a16:creationId xmlns:a16="http://schemas.microsoft.com/office/drawing/2014/main" id="{B3C69D0C-CD4B-647C-089A-4F4621DAA1B6}"/>
              </a:ext>
            </a:extLst>
          </p:cNvPr>
          <p:cNvSpPr/>
          <p:nvPr/>
        </p:nvSpPr>
        <p:spPr>
          <a:xfrm>
            <a:off x="0" y="0"/>
            <a:ext cx="12192119" cy="1080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slide_title">
            <a:extLst>
              <a:ext uri="{FF2B5EF4-FFF2-40B4-BE49-F238E27FC236}">
                <a16:creationId xmlns:a16="http://schemas.microsoft.com/office/drawing/2014/main" id="{C02EE7BC-359B-AF6A-3ABA-6BB0AA2FF615}"/>
              </a:ext>
            </a:extLst>
          </p:cNvPr>
          <p:cNvSpPr txBox="1"/>
          <p:nvPr/>
        </p:nvSpPr>
        <p:spPr>
          <a:xfrm>
            <a:off x="432000" y="342556"/>
            <a:ext cx="10248119" cy="43088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hu-HU" sz="2200" b="1" dirty="0">
                <a:solidFill>
                  <a:srgbClr val="FFFFFF"/>
                </a:solidFill>
                <a:latin typeface="Garamond"/>
              </a:rPr>
              <a:t>Tartalom</a:t>
            </a:r>
            <a:endParaRPr sz="2200" b="1" dirty="0">
              <a:solidFill>
                <a:srgbClr val="FFFFFF"/>
              </a:solidFill>
              <a:latin typeface="Garamond"/>
            </a:endParaRPr>
          </a:p>
        </p:txBody>
      </p:sp>
      <p:pic>
        <p:nvPicPr>
          <p:cNvPr id="4" name="logo_small" descr="due_logo_pici.png">
            <a:extLst>
              <a:ext uri="{FF2B5EF4-FFF2-40B4-BE49-F238E27FC236}">
                <a16:creationId xmlns:a16="http://schemas.microsoft.com/office/drawing/2014/main" id="{A53AB1D3-219D-EC21-9F8C-7F16A00A23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256119" y="152426"/>
            <a:ext cx="792000" cy="775148"/>
          </a:xfrm>
          <a:prstGeom prst="rect">
            <a:avLst/>
          </a:prstGeom>
        </p:spPr>
      </p:pic>
      <p:cxnSp>
        <p:nvCxnSpPr>
          <p:cNvPr id="5" name="separator_footer">
            <a:extLst>
              <a:ext uri="{FF2B5EF4-FFF2-40B4-BE49-F238E27FC236}">
                <a16:creationId xmlns:a16="http://schemas.microsoft.com/office/drawing/2014/main" id="{02E12FA1-E5A7-8854-8028-0FBEB469FAA4}"/>
              </a:ext>
            </a:extLst>
          </p:cNvPr>
          <p:cNvCxnSpPr/>
          <p:nvPr/>
        </p:nvCxnSpPr>
        <p:spPr>
          <a:xfrm>
            <a:off x="432000" y="6426000"/>
            <a:ext cx="11328119" cy="0"/>
          </a:xfrm>
          <a:prstGeom prst="line">
            <a:avLst/>
          </a:prstGeom>
          <a:ln w="9525">
            <a:solidFill>
              <a:srgbClr val="D0D8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ooter_date">
            <a:extLst>
              <a:ext uri="{FF2B5EF4-FFF2-40B4-BE49-F238E27FC236}">
                <a16:creationId xmlns:a16="http://schemas.microsoft.com/office/drawing/2014/main" id="{6F077C84-8685-21CB-C27A-AF00DE504042}"/>
              </a:ext>
            </a:extLst>
          </p:cNvPr>
          <p:cNvSpPr txBox="1"/>
          <p:nvPr/>
        </p:nvSpPr>
        <p:spPr>
          <a:xfrm>
            <a:off x="432000" y="6462000"/>
            <a:ext cx="2160000" cy="32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>
                <a:solidFill>
                  <a:srgbClr val="7A8A9E"/>
                </a:solidFill>
                <a:latin typeface="Calibri"/>
              </a:rPr>
              <a:t>2026.05.20.</a:t>
            </a:r>
          </a:p>
        </p:txBody>
      </p:sp>
      <p:sp>
        <p:nvSpPr>
          <p:cNvPr id="7" name="footer_author">
            <a:extLst>
              <a:ext uri="{FF2B5EF4-FFF2-40B4-BE49-F238E27FC236}">
                <a16:creationId xmlns:a16="http://schemas.microsoft.com/office/drawing/2014/main" id="{91D4CFB3-89CC-C58A-AA17-42DD5563327C}"/>
              </a:ext>
            </a:extLst>
          </p:cNvPr>
          <p:cNvSpPr txBox="1"/>
          <p:nvPr/>
        </p:nvSpPr>
        <p:spPr>
          <a:xfrm>
            <a:off x="0" y="6462000"/>
            <a:ext cx="12192119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0">
                <a:solidFill>
                  <a:srgbClr val="7A8A9E"/>
                </a:solidFill>
                <a:latin typeface="Calibri"/>
              </a:rPr>
              <a:t>Dr. Hári László</a:t>
            </a:r>
          </a:p>
        </p:txBody>
      </p:sp>
      <p:sp>
        <p:nvSpPr>
          <p:cNvPr id="8" name="footer_page">
            <a:extLst>
              <a:ext uri="{FF2B5EF4-FFF2-40B4-BE49-F238E27FC236}">
                <a16:creationId xmlns:a16="http://schemas.microsoft.com/office/drawing/2014/main" id="{DC23E99F-B203-0E6E-7AB7-568EF5010DBA}"/>
              </a:ext>
            </a:extLst>
          </p:cNvPr>
          <p:cNvSpPr txBox="1"/>
          <p:nvPr/>
        </p:nvSpPr>
        <p:spPr>
          <a:xfrm>
            <a:off x="10680119" y="6462000"/>
            <a:ext cx="1080000" cy="32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 i="0">
                <a:solidFill>
                  <a:srgbClr val="7A8A9E"/>
                </a:solidFill>
                <a:latin typeface="Calibri"/>
              </a:rPr>
              <a:t>2</a:t>
            </a:r>
          </a:p>
        </p:txBody>
      </p:sp>
      <p:sp>
        <p:nvSpPr>
          <p:cNvPr id="9" name="content_body">
            <a:extLst>
              <a:ext uri="{FF2B5EF4-FFF2-40B4-BE49-F238E27FC236}">
                <a16:creationId xmlns:a16="http://schemas.microsoft.com/office/drawing/2014/main" id="{7EE0F0E6-B429-F36B-BD43-9FA7D1621C06}"/>
              </a:ext>
            </a:extLst>
          </p:cNvPr>
          <p:cNvSpPr txBox="1"/>
          <p:nvPr/>
        </p:nvSpPr>
        <p:spPr>
          <a:xfrm>
            <a:off x="432000" y="1296000"/>
            <a:ext cx="11328119" cy="4977573"/>
          </a:xfrm>
          <a:prstGeom prst="rect">
            <a:avLst/>
          </a:prstGeom>
          <a:noFill/>
        </p:spPr>
        <p:txBody>
          <a:bodyPr wrap="square" numCol="1">
            <a:noAutofit/>
          </a:bodyPr>
          <a:lstStyle/>
          <a:p>
            <a:pPr algn="l" defTabSz="180000">
              <a:spcBef>
                <a:spcPts val="400"/>
              </a:spcBef>
              <a:spcAft>
                <a:spcPts val="100"/>
              </a:spcAft>
            </a:pPr>
            <a:r>
              <a:rPr lang="hu-HU" sz="1600" dirty="0">
                <a:solidFill>
                  <a:srgbClr val="ED7D31"/>
                </a:solidFill>
                <a:latin typeface="Aptos" panose="020B0004020202020204" pitchFamily="34" charset="0"/>
              </a:rPr>
              <a:t>1. </a:t>
            </a:r>
            <a:r>
              <a:rPr lang="hu-HU" sz="1600" dirty="0">
                <a:solidFill>
                  <a:srgbClr val="212121"/>
                </a:solidFill>
                <a:latin typeface="Aptos" panose="020B0004020202020204" pitchFamily="34" charset="0"/>
              </a:rPr>
              <a:t>Első fejezet</a:t>
            </a:r>
            <a:endParaRPr sz="1600" dirty="0">
              <a:solidFill>
                <a:srgbClr val="212121"/>
              </a:solidFill>
              <a:latin typeface="Aptos" panose="020B0004020202020204" pitchFamily="34" charset="0"/>
            </a:endParaRPr>
          </a:p>
          <a:p>
            <a:pPr algn="l" defTabSz="180000">
              <a:spcBef>
                <a:spcPts val="400"/>
              </a:spcBef>
              <a:spcAft>
                <a:spcPts val="100"/>
              </a:spcAft>
            </a:pPr>
            <a:r>
              <a:rPr lang="hu-HU" sz="1600" dirty="0">
                <a:solidFill>
                  <a:srgbClr val="ED7D31"/>
                </a:solidFill>
                <a:latin typeface="Aptos" panose="020B0004020202020204" pitchFamily="34" charset="0"/>
              </a:rPr>
              <a:t>	1.1. </a:t>
            </a:r>
            <a:r>
              <a:rPr lang="hu-HU" sz="1600" dirty="0">
                <a:solidFill>
                  <a:srgbClr val="212121"/>
                </a:solidFill>
                <a:latin typeface="Aptos" panose="020B0004020202020204" pitchFamily="34" charset="0"/>
              </a:rPr>
              <a:t>Első szakasz</a:t>
            </a:r>
          </a:p>
          <a:p>
            <a:pPr algn="l" defTabSz="180000">
              <a:spcBef>
                <a:spcPts val="400"/>
              </a:spcBef>
              <a:spcAft>
                <a:spcPts val="100"/>
              </a:spcAft>
            </a:pPr>
            <a:r>
              <a:rPr lang="hu-HU" sz="1600" dirty="0">
                <a:solidFill>
                  <a:srgbClr val="ED7D31"/>
                </a:solidFill>
                <a:latin typeface="Aptos" panose="020B0004020202020204" pitchFamily="34" charset="0"/>
              </a:rPr>
              <a:t>		1.1.1.</a:t>
            </a:r>
            <a:r>
              <a:rPr sz="1600" dirty="0">
                <a:solidFill>
                  <a:srgbClr val="ED7D31"/>
                </a:solidFill>
                <a:latin typeface="Aptos" panose="020B0004020202020204" pitchFamily="34" charset="0"/>
              </a:rPr>
              <a:t>  </a:t>
            </a:r>
            <a:r>
              <a:rPr lang="hu-HU" sz="1600" dirty="0">
                <a:solidFill>
                  <a:srgbClr val="212121"/>
                </a:solidFill>
                <a:latin typeface="Aptos" panose="020B0004020202020204" pitchFamily="34" charset="0"/>
              </a:rPr>
              <a:t>Első alszakasz</a:t>
            </a:r>
          </a:p>
          <a:p>
            <a:pPr defTabSz="180000">
              <a:spcBef>
                <a:spcPts val="400"/>
              </a:spcBef>
              <a:spcAft>
                <a:spcPts val="100"/>
              </a:spcAft>
            </a:pPr>
            <a:r>
              <a:rPr lang="hu-HU" sz="1600" dirty="0">
                <a:solidFill>
                  <a:srgbClr val="ED7D31"/>
                </a:solidFill>
                <a:latin typeface="Aptos" panose="020B0004020202020204" pitchFamily="34" charset="0"/>
              </a:rPr>
              <a:t>2</a:t>
            </a:r>
            <a:r>
              <a:rPr lang="es-ES" sz="1600" dirty="0">
                <a:solidFill>
                  <a:srgbClr val="ED7D31"/>
                </a:solidFill>
                <a:latin typeface="Aptos" panose="020B0004020202020204" pitchFamily="34" charset="0"/>
              </a:rPr>
              <a:t>. </a:t>
            </a:r>
            <a:r>
              <a:rPr lang="hu-HU" sz="1600" dirty="0">
                <a:solidFill>
                  <a:srgbClr val="212121"/>
                </a:solidFill>
                <a:latin typeface="Aptos" panose="020B0004020202020204" pitchFamily="34" charset="0"/>
              </a:rPr>
              <a:t>Második fejezet</a:t>
            </a:r>
            <a:endParaRPr lang="es-ES" sz="1600" dirty="0">
              <a:solidFill>
                <a:srgbClr val="212121"/>
              </a:solidFill>
              <a:latin typeface="Aptos" panose="020B0004020202020204" pitchFamily="34" charset="0"/>
            </a:endParaRPr>
          </a:p>
          <a:p>
            <a:pPr defTabSz="180000">
              <a:spcBef>
                <a:spcPts val="400"/>
              </a:spcBef>
              <a:spcAft>
                <a:spcPts val="100"/>
              </a:spcAft>
            </a:pPr>
            <a:r>
              <a:rPr lang="hu-HU" sz="1600" dirty="0">
                <a:solidFill>
                  <a:srgbClr val="ED7D31"/>
                </a:solidFill>
                <a:latin typeface="Aptos" panose="020B0004020202020204" pitchFamily="34" charset="0"/>
              </a:rPr>
              <a:t>	2</a:t>
            </a:r>
            <a:r>
              <a:rPr lang="es-ES" sz="1600" dirty="0">
                <a:solidFill>
                  <a:srgbClr val="ED7D31"/>
                </a:solidFill>
                <a:latin typeface="Aptos" panose="020B0004020202020204" pitchFamily="34" charset="0"/>
              </a:rPr>
              <a:t>.1. </a:t>
            </a:r>
            <a:r>
              <a:rPr lang="hu-HU" sz="1600" dirty="0">
                <a:solidFill>
                  <a:srgbClr val="212121"/>
                </a:solidFill>
                <a:latin typeface="Aptos" panose="020B0004020202020204" pitchFamily="34" charset="0"/>
              </a:rPr>
              <a:t>Második szakasz</a:t>
            </a:r>
            <a:endParaRPr lang="es-ES" sz="1600" dirty="0">
              <a:solidFill>
                <a:srgbClr val="212121"/>
              </a:solidFill>
              <a:latin typeface="Aptos" panose="020B0004020202020204" pitchFamily="34" charset="0"/>
            </a:endParaRPr>
          </a:p>
          <a:p>
            <a:pPr defTabSz="180000">
              <a:spcBef>
                <a:spcPts val="400"/>
              </a:spcBef>
              <a:spcAft>
                <a:spcPts val="100"/>
              </a:spcAft>
            </a:pPr>
            <a:r>
              <a:rPr lang="hu-HU" sz="1600" dirty="0">
                <a:solidFill>
                  <a:srgbClr val="ED7D31"/>
                </a:solidFill>
                <a:latin typeface="Aptos" panose="020B0004020202020204" pitchFamily="34" charset="0"/>
              </a:rPr>
              <a:t>		2</a:t>
            </a:r>
            <a:r>
              <a:rPr lang="es-ES" sz="1600" dirty="0">
                <a:solidFill>
                  <a:srgbClr val="ED7D31"/>
                </a:solidFill>
                <a:latin typeface="Aptos" panose="020B0004020202020204" pitchFamily="34" charset="0"/>
              </a:rPr>
              <a:t>.1.1.  </a:t>
            </a:r>
            <a:r>
              <a:rPr lang="hu-HU" sz="1600" dirty="0">
                <a:solidFill>
                  <a:srgbClr val="212121"/>
                </a:solidFill>
                <a:latin typeface="Aptos" panose="020B0004020202020204" pitchFamily="34" charset="0"/>
              </a:rPr>
              <a:t>Második alszakasz</a:t>
            </a:r>
            <a:endParaRPr lang="es-ES" sz="1600" dirty="0">
              <a:solidFill>
                <a:srgbClr val="212121"/>
              </a:solidFill>
              <a:latin typeface="Aptos" panose="020B0004020202020204" pitchFamily="34" charset="0"/>
            </a:endParaRPr>
          </a:p>
          <a:p>
            <a:pPr algn="l" defTabSz="180000">
              <a:spcBef>
                <a:spcPts val="400"/>
              </a:spcBef>
              <a:spcAft>
                <a:spcPts val="100"/>
              </a:spcAft>
            </a:pPr>
            <a:endParaRPr sz="1600" dirty="0">
              <a:solidFill>
                <a:srgbClr val="212121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04554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E88865-2C40-468A-8BE1-A830291B32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_bg_left">
            <a:extLst>
              <a:ext uri="{FF2B5EF4-FFF2-40B4-BE49-F238E27FC236}">
                <a16:creationId xmlns:a16="http://schemas.microsoft.com/office/drawing/2014/main" id="{7A470439-C485-0C09-A4E5-CBEE5F251329}"/>
              </a:ext>
            </a:extLst>
          </p:cNvPr>
          <p:cNvSpPr/>
          <p:nvPr/>
        </p:nvSpPr>
        <p:spPr>
          <a:xfrm>
            <a:off x="0" y="0"/>
            <a:ext cx="5120689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section_accent_line">
            <a:extLst>
              <a:ext uri="{FF2B5EF4-FFF2-40B4-BE49-F238E27FC236}">
                <a16:creationId xmlns:a16="http://schemas.microsoft.com/office/drawing/2014/main" id="{59FCE9DB-E97D-36F4-B3D6-C9B442E65468}"/>
              </a:ext>
            </a:extLst>
          </p:cNvPr>
          <p:cNvCxnSpPr/>
          <p:nvPr/>
        </p:nvCxnSpPr>
        <p:spPr>
          <a:xfrm>
            <a:off x="5120688" y="0"/>
            <a:ext cx="0" cy="6858000"/>
          </a:xfrm>
          <a:prstGeom prst="line">
            <a:avLst/>
          </a:prstGeom>
          <a:ln w="38100">
            <a:solidFill>
              <a:srgbClr val="ED7D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bottom_stripe">
            <a:extLst>
              <a:ext uri="{FF2B5EF4-FFF2-40B4-BE49-F238E27FC236}">
                <a16:creationId xmlns:a16="http://schemas.microsoft.com/office/drawing/2014/main" id="{78201977-051C-530E-3AC9-659A0CE85B58}"/>
              </a:ext>
            </a:extLst>
          </p:cNvPr>
          <p:cNvSpPr/>
          <p:nvPr/>
        </p:nvSpPr>
        <p:spPr>
          <a:xfrm>
            <a:off x="0" y="6678000"/>
            <a:ext cx="12192119" cy="1800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section_number">
            <a:extLst>
              <a:ext uri="{FF2B5EF4-FFF2-40B4-BE49-F238E27FC236}">
                <a16:creationId xmlns:a16="http://schemas.microsoft.com/office/drawing/2014/main" id="{C08E8861-3D89-BCFA-75D3-BAE0F468F95C}"/>
              </a:ext>
            </a:extLst>
          </p:cNvPr>
          <p:cNvSpPr txBox="1"/>
          <p:nvPr/>
        </p:nvSpPr>
        <p:spPr>
          <a:xfrm>
            <a:off x="432000" y="2738835"/>
            <a:ext cx="4544689" cy="12003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7200" b="1" i="0" dirty="0">
                <a:solidFill>
                  <a:srgbClr val="ED7D31"/>
                </a:solidFill>
                <a:latin typeface="Garamond"/>
              </a:rPr>
              <a:t>0</a:t>
            </a:r>
            <a:r>
              <a:rPr lang="hu-HU" sz="7200" b="1" i="0" dirty="0">
                <a:solidFill>
                  <a:srgbClr val="ED7D31"/>
                </a:solidFill>
                <a:latin typeface="Garamond"/>
              </a:rPr>
              <a:t>1</a:t>
            </a:r>
            <a:endParaRPr sz="7200" b="1" i="0" dirty="0">
              <a:solidFill>
                <a:srgbClr val="ED7D31"/>
              </a:solidFill>
              <a:latin typeface="Garamond"/>
            </a:endParaRPr>
          </a:p>
        </p:txBody>
      </p:sp>
      <p:sp>
        <p:nvSpPr>
          <p:cNvPr id="6" name="section_title">
            <a:extLst>
              <a:ext uri="{FF2B5EF4-FFF2-40B4-BE49-F238E27FC236}">
                <a16:creationId xmlns:a16="http://schemas.microsoft.com/office/drawing/2014/main" id="{6073252F-F104-79A4-2730-ED51B846E467}"/>
              </a:ext>
            </a:extLst>
          </p:cNvPr>
          <p:cNvSpPr txBox="1"/>
          <p:nvPr/>
        </p:nvSpPr>
        <p:spPr>
          <a:xfrm>
            <a:off x="432000" y="3566160"/>
            <a:ext cx="4544689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lang="hu-HU" sz="2400" b="1" i="0" dirty="0">
                <a:solidFill>
                  <a:srgbClr val="FFFFFF"/>
                </a:solidFill>
                <a:latin typeface="Garamond"/>
              </a:rPr>
              <a:t>Fejezet</a:t>
            </a:r>
            <a:r>
              <a:rPr sz="2400" b="1" i="0" dirty="0">
                <a:solidFill>
                  <a:srgbClr val="FFFFFF"/>
                </a:solidFill>
                <a:latin typeface="Garamond"/>
              </a:rPr>
              <a:t> neve –
Lorem ipsum</a:t>
            </a:r>
          </a:p>
        </p:txBody>
      </p:sp>
      <p:sp>
        <p:nvSpPr>
          <p:cNvPr id="7" name="section_description">
            <a:extLst>
              <a:ext uri="{FF2B5EF4-FFF2-40B4-BE49-F238E27FC236}">
                <a16:creationId xmlns:a16="http://schemas.microsoft.com/office/drawing/2014/main" id="{FB7ABF20-6B07-5960-4E2E-A44AB8704085}"/>
              </a:ext>
            </a:extLst>
          </p:cNvPr>
          <p:cNvSpPr txBox="1"/>
          <p:nvPr/>
        </p:nvSpPr>
        <p:spPr>
          <a:xfrm>
            <a:off x="5768689" y="2767280"/>
            <a:ext cx="6279430" cy="13234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 i="0" dirty="0">
                <a:solidFill>
                  <a:srgbClr val="212121"/>
                </a:solidFill>
                <a:latin typeface="Aptos" panose="020B0004020202020204" pitchFamily="34" charset="0"/>
              </a:rPr>
              <a:t>Ez a </a:t>
            </a:r>
            <a:r>
              <a:rPr sz="1600" b="0" i="0" dirty="0" err="1">
                <a:solidFill>
                  <a:srgbClr val="212121"/>
                </a:solidFill>
                <a:latin typeface="Aptos" panose="020B0004020202020204" pitchFamily="34" charset="0"/>
              </a:rPr>
              <a:t>fejezet</a:t>
            </a:r>
            <a:r>
              <a:rPr sz="1600" b="0" i="0" dirty="0">
                <a:solidFill>
                  <a:srgbClr val="212121"/>
                </a:solidFill>
                <a:latin typeface="Aptos" panose="020B0004020202020204" pitchFamily="34" charset="0"/>
              </a:rPr>
              <a:t> </a:t>
            </a:r>
            <a:r>
              <a:rPr sz="1600" b="0" i="0" dirty="0" err="1">
                <a:solidFill>
                  <a:srgbClr val="212121"/>
                </a:solidFill>
                <a:latin typeface="Aptos" panose="020B0004020202020204" pitchFamily="34" charset="0"/>
              </a:rPr>
              <a:t>témájának</a:t>
            </a:r>
            <a:r>
              <a:rPr sz="1600" b="0" i="0" dirty="0">
                <a:solidFill>
                  <a:srgbClr val="212121"/>
                </a:solidFill>
                <a:latin typeface="Aptos" panose="020B0004020202020204" pitchFamily="34" charset="0"/>
              </a:rPr>
              <a:t>
</a:t>
            </a:r>
            <a:r>
              <a:rPr sz="1600" b="0" i="0" dirty="0" err="1">
                <a:solidFill>
                  <a:srgbClr val="212121"/>
                </a:solidFill>
                <a:latin typeface="Aptos" panose="020B0004020202020204" pitchFamily="34" charset="0"/>
              </a:rPr>
              <a:t>rövid</a:t>
            </a:r>
            <a:r>
              <a:rPr sz="1600" b="0" i="0" dirty="0">
                <a:solidFill>
                  <a:srgbClr val="212121"/>
                </a:solidFill>
                <a:latin typeface="Aptos" panose="020B0004020202020204" pitchFamily="34" charset="0"/>
              </a:rPr>
              <a:t> </a:t>
            </a:r>
            <a:r>
              <a:rPr sz="1600" b="0" i="0" dirty="0" err="1">
                <a:solidFill>
                  <a:srgbClr val="212121"/>
                </a:solidFill>
                <a:latin typeface="Aptos" panose="020B0004020202020204" pitchFamily="34" charset="0"/>
              </a:rPr>
              <a:t>összefoglalója</a:t>
            </a:r>
            <a:r>
              <a:rPr sz="1600" b="0" i="0" dirty="0">
                <a:solidFill>
                  <a:srgbClr val="212121"/>
                </a:solidFill>
                <a:latin typeface="Aptos" panose="020B0004020202020204" pitchFamily="34" charset="0"/>
              </a:rPr>
              <a:t>.
Lorem ipsum dolor sit </a:t>
            </a:r>
            <a:r>
              <a:rPr sz="1600" b="0" i="0" dirty="0" err="1">
                <a:solidFill>
                  <a:srgbClr val="212121"/>
                </a:solidFill>
                <a:latin typeface="Aptos" panose="020B0004020202020204" pitchFamily="34" charset="0"/>
              </a:rPr>
              <a:t>amet</a:t>
            </a:r>
            <a:r>
              <a:rPr sz="1600" b="0" i="0" dirty="0">
                <a:solidFill>
                  <a:srgbClr val="212121"/>
                </a:solidFill>
                <a:latin typeface="Aptos" panose="020B0004020202020204" pitchFamily="34" charset="0"/>
              </a:rPr>
              <a:t>,
</a:t>
            </a:r>
            <a:r>
              <a:rPr sz="1600" b="0" i="0" dirty="0" err="1">
                <a:solidFill>
                  <a:srgbClr val="212121"/>
                </a:solidFill>
                <a:latin typeface="Aptos" panose="020B0004020202020204" pitchFamily="34" charset="0"/>
              </a:rPr>
              <a:t>consectetur</a:t>
            </a:r>
            <a:r>
              <a:rPr sz="1600" b="0" i="0" dirty="0">
                <a:solidFill>
                  <a:srgbClr val="212121"/>
                </a:solidFill>
                <a:latin typeface="Aptos" panose="020B0004020202020204" pitchFamily="34" charset="0"/>
              </a:rPr>
              <a:t> </a:t>
            </a:r>
            <a:r>
              <a:rPr sz="1600" b="0" i="0" dirty="0" err="1">
                <a:solidFill>
                  <a:srgbClr val="212121"/>
                </a:solidFill>
                <a:latin typeface="Aptos" panose="020B0004020202020204" pitchFamily="34" charset="0"/>
              </a:rPr>
              <a:t>adipiscing</a:t>
            </a:r>
            <a:r>
              <a:rPr sz="1600" b="0" i="0" dirty="0">
                <a:solidFill>
                  <a:srgbClr val="212121"/>
                </a:solidFill>
                <a:latin typeface="Aptos" panose="020B0004020202020204" pitchFamily="34" charset="0"/>
              </a:rPr>
              <a:t> </a:t>
            </a:r>
            <a:r>
              <a:rPr sz="1600" b="0" i="0" dirty="0" err="1">
                <a:solidFill>
                  <a:srgbClr val="212121"/>
                </a:solidFill>
                <a:latin typeface="Aptos" panose="020B0004020202020204" pitchFamily="34" charset="0"/>
              </a:rPr>
              <a:t>elit</a:t>
            </a:r>
            <a:r>
              <a:rPr sz="1600" b="0" i="0" dirty="0">
                <a:solidFill>
                  <a:srgbClr val="212121"/>
                </a:solidFill>
                <a:latin typeface="Aptos" panose="020B0004020202020204" pitchFamily="34" charset="0"/>
              </a:rPr>
              <a:t>.</a:t>
            </a:r>
          </a:p>
        </p:txBody>
      </p:sp>
      <p:pic>
        <p:nvPicPr>
          <p:cNvPr id="10" name="logo_small" descr="due_logo_pici.png">
            <a:extLst>
              <a:ext uri="{FF2B5EF4-FFF2-40B4-BE49-F238E27FC236}">
                <a16:creationId xmlns:a16="http://schemas.microsoft.com/office/drawing/2014/main" id="{F4615F05-B95E-9834-FEAB-B0D24EA14E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256119" y="152426"/>
            <a:ext cx="792000" cy="775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65366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bar_bg"/>
          <p:cNvSpPr/>
          <p:nvPr/>
        </p:nvSpPr>
        <p:spPr>
          <a:xfrm>
            <a:off x="0" y="0"/>
            <a:ext cx="12192119" cy="1080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slide_title"/>
          <p:cNvSpPr txBox="1"/>
          <p:nvPr/>
        </p:nvSpPr>
        <p:spPr>
          <a:xfrm>
            <a:off x="432000" y="342556"/>
            <a:ext cx="10248119" cy="43088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hu-HU" sz="2200" b="1" dirty="0">
                <a:solidFill>
                  <a:srgbClr val="FFFFFF"/>
                </a:solidFill>
                <a:latin typeface="Garamond"/>
              </a:rPr>
              <a:t>1. </a:t>
            </a:r>
            <a:r>
              <a:rPr sz="2200" b="1" dirty="0" err="1">
                <a:solidFill>
                  <a:srgbClr val="FFFFFF"/>
                </a:solidFill>
                <a:latin typeface="Garamond"/>
              </a:rPr>
              <a:t>Első</a:t>
            </a:r>
            <a:r>
              <a:rPr sz="2200" b="1" dirty="0">
                <a:solidFill>
                  <a:srgbClr val="FFFFFF"/>
                </a:solidFill>
                <a:latin typeface="Garamond"/>
              </a:rPr>
              <a:t> </a:t>
            </a:r>
            <a:r>
              <a:rPr sz="2200" b="1" dirty="0" err="1">
                <a:solidFill>
                  <a:srgbClr val="FFFFFF"/>
                </a:solidFill>
                <a:latin typeface="Garamond"/>
              </a:rPr>
              <a:t>fejezet</a:t>
            </a:r>
            <a:endParaRPr sz="2200" b="1" dirty="0">
              <a:solidFill>
                <a:srgbClr val="FFFFFF"/>
              </a:solidFill>
              <a:latin typeface="Garamond"/>
            </a:endParaRPr>
          </a:p>
        </p:txBody>
      </p:sp>
      <p:cxnSp>
        <p:nvCxnSpPr>
          <p:cNvPr id="5" name="separator_footer"/>
          <p:cNvCxnSpPr/>
          <p:nvPr/>
        </p:nvCxnSpPr>
        <p:spPr>
          <a:xfrm>
            <a:off x="432000" y="6426000"/>
            <a:ext cx="11328119" cy="0"/>
          </a:xfrm>
          <a:prstGeom prst="line">
            <a:avLst/>
          </a:prstGeom>
          <a:ln w="9525">
            <a:solidFill>
              <a:srgbClr val="D0D8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ooter_date"/>
          <p:cNvSpPr txBox="1"/>
          <p:nvPr/>
        </p:nvSpPr>
        <p:spPr>
          <a:xfrm>
            <a:off x="432000" y="6462000"/>
            <a:ext cx="2160000" cy="32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>
                <a:solidFill>
                  <a:srgbClr val="7A8A9E"/>
                </a:solidFill>
                <a:latin typeface="Calibri"/>
              </a:rPr>
              <a:t>2026.05.20.</a:t>
            </a:r>
          </a:p>
        </p:txBody>
      </p:sp>
      <p:sp>
        <p:nvSpPr>
          <p:cNvPr id="7" name="footer_author"/>
          <p:cNvSpPr txBox="1"/>
          <p:nvPr/>
        </p:nvSpPr>
        <p:spPr>
          <a:xfrm>
            <a:off x="0" y="6462000"/>
            <a:ext cx="12192119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0">
                <a:solidFill>
                  <a:srgbClr val="7A8A9E"/>
                </a:solidFill>
                <a:latin typeface="Aptos" panose="020B0004020202020204" pitchFamily="34" charset="0"/>
              </a:rPr>
              <a:t>Dr. Hári László</a:t>
            </a:r>
          </a:p>
        </p:txBody>
      </p:sp>
      <p:sp>
        <p:nvSpPr>
          <p:cNvPr id="8" name="footer_page"/>
          <p:cNvSpPr txBox="1"/>
          <p:nvPr/>
        </p:nvSpPr>
        <p:spPr>
          <a:xfrm>
            <a:off x="10680119" y="6462000"/>
            <a:ext cx="1080000" cy="32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 i="0">
                <a:solidFill>
                  <a:srgbClr val="7A8A9E"/>
                </a:solidFill>
                <a:latin typeface="Calibri"/>
              </a:rPr>
              <a:t>2</a:t>
            </a:r>
          </a:p>
        </p:txBody>
      </p:sp>
      <p:sp>
        <p:nvSpPr>
          <p:cNvPr id="9" name="content_body"/>
          <p:cNvSpPr txBox="1"/>
          <p:nvPr/>
        </p:nvSpPr>
        <p:spPr>
          <a:xfrm>
            <a:off x="432000" y="1296000"/>
            <a:ext cx="1132811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100"/>
              </a:spcAft>
            </a:pPr>
            <a:r>
              <a:rPr sz="1600" b="1" dirty="0">
                <a:solidFill>
                  <a:srgbClr val="D4622A"/>
                </a:solidFill>
                <a:latin typeface="Aptos" panose="020B0004020202020204" pitchFamily="34" charset="0"/>
              </a:rPr>
              <a:t>▸  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Primus punctus: Lorem ipsum dolor sit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amet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,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consectetur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adipiscing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elit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, sed do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eiusmod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tempor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incididunt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ut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 labore et dolore magna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aliqua</a:t>
            </a:r>
            <a:endParaRPr sz="1600" dirty="0">
              <a:solidFill>
                <a:srgbClr val="1A1A2E"/>
              </a:solidFill>
              <a:latin typeface="Aptos" panose="020B0004020202020204" pitchFamily="34" charset="0"/>
            </a:endParaRPr>
          </a:p>
        </p:txBody>
      </p:sp>
      <p:pic>
        <p:nvPicPr>
          <p:cNvPr id="10" name="logo_small" descr="due_logo_pici.png">
            <a:extLst>
              <a:ext uri="{FF2B5EF4-FFF2-40B4-BE49-F238E27FC236}">
                <a16:creationId xmlns:a16="http://schemas.microsoft.com/office/drawing/2014/main" id="{63779CA6-65B5-658D-4353-BAB20F18A0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256119" y="152426"/>
            <a:ext cx="792000" cy="77514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A8B3D5-B7E8-81DA-1C5D-B270CB42F4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bar_bg">
            <a:extLst>
              <a:ext uri="{FF2B5EF4-FFF2-40B4-BE49-F238E27FC236}">
                <a16:creationId xmlns:a16="http://schemas.microsoft.com/office/drawing/2014/main" id="{9D96639D-954B-CD24-4F19-6C8CED8F8ABB}"/>
              </a:ext>
            </a:extLst>
          </p:cNvPr>
          <p:cNvSpPr/>
          <p:nvPr/>
        </p:nvSpPr>
        <p:spPr>
          <a:xfrm>
            <a:off x="0" y="0"/>
            <a:ext cx="12192119" cy="1080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slide_title">
            <a:extLst>
              <a:ext uri="{FF2B5EF4-FFF2-40B4-BE49-F238E27FC236}">
                <a16:creationId xmlns:a16="http://schemas.microsoft.com/office/drawing/2014/main" id="{96B11FEA-FF88-09B3-1F7B-F3C1727132D3}"/>
              </a:ext>
            </a:extLst>
          </p:cNvPr>
          <p:cNvSpPr txBox="1"/>
          <p:nvPr/>
        </p:nvSpPr>
        <p:spPr>
          <a:xfrm>
            <a:off x="432000" y="173279"/>
            <a:ext cx="10248119" cy="76944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hu-HU" sz="2200" b="1" dirty="0">
                <a:solidFill>
                  <a:srgbClr val="FFFFFF"/>
                </a:solidFill>
                <a:latin typeface="Garamond"/>
              </a:rPr>
              <a:t>1. </a:t>
            </a:r>
            <a:r>
              <a:rPr sz="2200" b="1" dirty="0" err="1">
                <a:solidFill>
                  <a:srgbClr val="FFFFFF"/>
                </a:solidFill>
                <a:latin typeface="Garamond"/>
              </a:rPr>
              <a:t>Első</a:t>
            </a:r>
            <a:r>
              <a:rPr sz="2200" b="1" dirty="0">
                <a:solidFill>
                  <a:srgbClr val="FFFFFF"/>
                </a:solidFill>
                <a:latin typeface="Garamond"/>
              </a:rPr>
              <a:t> </a:t>
            </a:r>
            <a:r>
              <a:rPr sz="2200" b="1" dirty="0" err="1">
                <a:solidFill>
                  <a:srgbClr val="FFFFFF"/>
                </a:solidFill>
                <a:latin typeface="Garamond"/>
              </a:rPr>
              <a:t>fejezet</a:t>
            </a:r>
            <a:endParaRPr lang="hu-HU" sz="2200" b="1" dirty="0">
              <a:solidFill>
                <a:srgbClr val="FFFFFF"/>
              </a:solidFill>
              <a:latin typeface="Garamond"/>
            </a:endParaRPr>
          </a:p>
          <a:p>
            <a:pPr algn="l"/>
            <a:r>
              <a:rPr lang="hu-HU" sz="2200" b="1" dirty="0">
                <a:solidFill>
                  <a:srgbClr val="FFFFFF"/>
                </a:solidFill>
                <a:latin typeface="Garamond"/>
              </a:rPr>
              <a:t>1.1. Első szakasz</a:t>
            </a:r>
            <a:endParaRPr sz="2200" b="1" dirty="0">
              <a:solidFill>
                <a:srgbClr val="FFFFFF"/>
              </a:solidFill>
              <a:latin typeface="Garamond"/>
            </a:endParaRPr>
          </a:p>
        </p:txBody>
      </p:sp>
      <p:cxnSp>
        <p:nvCxnSpPr>
          <p:cNvPr id="5" name="separator_footer">
            <a:extLst>
              <a:ext uri="{FF2B5EF4-FFF2-40B4-BE49-F238E27FC236}">
                <a16:creationId xmlns:a16="http://schemas.microsoft.com/office/drawing/2014/main" id="{F7ECA1F2-09B4-0709-CC64-3C26C0770C82}"/>
              </a:ext>
            </a:extLst>
          </p:cNvPr>
          <p:cNvCxnSpPr/>
          <p:nvPr/>
        </p:nvCxnSpPr>
        <p:spPr>
          <a:xfrm>
            <a:off x="432000" y="6426000"/>
            <a:ext cx="11328119" cy="0"/>
          </a:xfrm>
          <a:prstGeom prst="line">
            <a:avLst/>
          </a:prstGeom>
          <a:ln w="9525">
            <a:solidFill>
              <a:srgbClr val="D0D8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ooter_date">
            <a:extLst>
              <a:ext uri="{FF2B5EF4-FFF2-40B4-BE49-F238E27FC236}">
                <a16:creationId xmlns:a16="http://schemas.microsoft.com/office/drawing/2014/main" id="{52CC730B-6681-762B-45E2-E31B91DC1A74}"/>
              </a:ext>
            </a:extLst>
          </p:cNvPr>
          <p:cNvSpPr txBox="1"/>
          <p:nvPr/>
        </p:nvSpPr>
        <p:spPr>
          <a:xfrm>
            <a:off x="432000" y="6462000"/>
            <a:ext cx="2160000" cy="32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>
                <a:solidFill>
                  <a:srgbClr val="7A8A9E"/>
                </a:solidFill>
                <a:latin typeface="Calibri"/>
              </a:rPr>
              <a:t>2026.05.20.</a:t>
            </a:r>
          </a:p>
        </p:txBody>
      </p:sp>
      <p:sp>
        <p:nvSpPr>
          <p:cNvPr id="7" name="footer_author">
            <a:extLst>
              <a:ext uri="{FF2B5EF4-FFF2-40B4-BE49-F238E27FC236}">
                <a16:creationId xmlns:a16="http://schemas.microsoft.com/office/drawing/2014/main" id="{7CD98314-DEAB-5C44-8066-09D023A8A15D}"/>
              </a:ext>
            </a:extLst>
          </p:cNvPr>
          <p:cNvSpPr txBox="1"/>
          <p:nvPr/>
        </p:nvSpPr>
        <p:spPr>
          <a:xfrm>
            <a:off x="0" y="6462000"/>
            <a:ext cx="12192119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0">
                <a:solidFill>
                  <a:srgbClr val="7A8A9E"/>
                </a:solidFill>
                <a:latin typeface="Aptos" panose="020B0004020202020204" pitchFamily="34" charset="0"/>
              </a:rPr>
              <a:t>Dr. Hári László</a:t>
            </a:r>
          </a:p>
        </p:txBody>
      </p:sp>
      <p:sp>
        <p:nvSpPr>
          <p:cNvPr id="8" name="footer_page">
            <a:extLst>
              <a:ext uri="{FF2B5EF4-FFF2-40B4-BE49-F238E27FC236}">
                <a16:creationId xmlns:a16="http://schemas.microsoft.com/office/drawing/2014/main" id="{A2123CE8-FBF0-6CD4-2656-41F359372421}"/>
              </a:ext>
            </a:extLst>
          </p:cNvPr>
          <p:cNvSpPr txBox="1"/>
          <p:nvPr/>
        </p:nvSpPr>
        <p:spPr>
          <a:xfrm>
            <a:off x="10680119" y="6462000"/>
            <a:ext cx="1080000" cy="32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 i="0">
                <a:solidFill>
                  <a:srgbClr val="7A8A9E"/>
                </a:solidFill>
                <a:latin typeface="Calibri"/>
              </a:rPr>
              <a:t>2</a:t>
            </a:r>
          </a:p>
        </p:txBody>
      </p:sp>
      <p:sp>
        <p:nvSpPr>
          <p:cNvPr id="9" name="content_body">
            <a:extLst>
              <a:ext uri="{FF2B5EF4-FFF2-40B4-BE49-F238E27FC236}">
                <a16:creationId xmlns:a16="http://schemas.microsoft.com/office/drawing/2014/main" id="{0B42CABB-E559-DADD-DA9F-B029EDC29C06}"/>
              </a:ext>
            </a:extLst>
          </p:cNvPr>
          <p:cNvSpPr txBox="1"/>
          <p:nvPr/>
        </p:nvSpPr>
        <p:spPr>
          <a:xfrm>
            <a:off x="432000" y="1296000"/>
            <a:ext cx="11328119" cy="11413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100"/>
              </a:spcAft>
            </a:pPr>
            <a:r>
              <a:rPr sz="1600" b="1" dirty="0">
                <a:solidFill>
                  <a:srgbClr val="D4622A"/>
                </a:solidFill>
                <a:latin typeface="Aptos" panose="020B0004020202020204" pitchFamily="34" charset="0"/>
              </a:rPr>
              <a:t>▸  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Primus punctus: Lorem ipsum dolor sit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amet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,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consectetur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adipiscing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elit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, sed do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eiusmod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tempor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incididunt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ut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 labore et dolore magna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aliqua</a:t>
            </a:r>
            <a:endParaRPr sz="1600" dirty="0">
              <a:solidFill>
                <a:srgbClr val="1A1A2E"/>
              </a:solidFill>
              <a:latin typeface="Aptos" panose="020B0004020202020204" pitchFamily="34" charset="0"/>
            </a:endParaRPr>
          </a:p>
          <a:p>
            <a:pPr algn="l">
              <a:spcBef>
                <a:spcPts val="400"/>
              </a:spcBef>
              <a:spcAft>
                <a:spcPts val="100"/>
              </a:spcAft>
            </a:pPr>
            <a:r>
              <a:rPr sz="1600" b="1" dirty="0">
                <a:solidFill>
                  <a:srgbClr val="D4622A"/>
                </a:solidFill>
                <a:latin typeface="Aptos" panose="020B0004020202020204" pitchFamily="34" charset="0"/>
              </a:rPr>
              <a:t>▸  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Secundus punctus: Ut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enim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 ad minim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veniam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, quis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nostrud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 exercitation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ullamco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laboris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 nisi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ut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aliquip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 ex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ea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commodo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consequat</a:t>
            </a:r>
            <a:endParaRPr sz="1600" dirty="0">
              <a:solidFill>
                <a:srgbClr val="1A1A2E"/>
              </a:solidFill>
              <a:latin typeface="Aptos" panose="020B0004020202020204" pitchFamily="34" charset="0"/>
            </a:endParaRPr>
          </a:p>
        </p:txBody>
      </p:sp>
      <p:pic>
        <p:nvPicPr>
          <p:cNvPr id="10" name="logo_small" descr="due_logo_pici.png">
            <a:extLst>
              <a:ext uri="{FF2B5EF4-FFF2-40B4-BE49-F238E27FC236}">
                <a16:creationId xmlns:a16="http://schemas.microsoft.com/office/drawing/2014/main" id="{42566306-7696-3284-7A24-8F6BFD2E06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256119" y="152426"/>
            <a:ext cx="792000" cy="775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2814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7A1579-6991-55D8-4BDA-125E3D4B54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bar_bg">
            <a:extLst>
              <a:ext uri="{FF2B5EF4-FFF2-40B4-BE49-F238E27FC236}">
                <a16:creationId xmlns:a16="http://schemas.microsoft.com/office/drawing/2014/main" id="{4452B802-1E7A-0EAE-8984-FC06B6D5DE18}"/>
              </a:ext>
            </a:extLst>
          </p:cNvPr>
          <p:cNvSpPr/>
          <p:nvPr/>
        </p:nvSpPr>
        <p:spPr>
          <a:xfrm>
            <a:off x="0" y="0"/>
            <a:ext cx="12192119" cy="1080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slide_title">
            <a:extLst>
              <a:ext uri="{FF2B5EF4-FFF2-40B4-BE49-F238E27FC236}">
                <a16:creationId xmlns:a16="http://schemas.microsoft.com/office/drawing/2014/main" id="{96D470E7-127A-5756-4AD1-2692BED1507A}"/>
              </a:ext>
            </a:extLst>
          </p:cNvPr>
          <p:cNvSpPr txBox="1"/>
          <p:nvPr/>
        </p:nvSpPr>
        <p:spPr>
          <a:xfrm>
            <a:off x="432000" y="4002"/>
            <a:ext cx="10248119" cy="11079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hu-HU" sz="2200" b="1" dirty="0">
                <a:solidFill>
                  <a:srgbClr val="FFFFFF"/>
                </a:solidFill>
                <a:latin typeface="Garamond"/>
              </a:rPr>
              <a:t>1. </a:t>
            </a:r>
            <a:r>
              <a:rPr sz="2200" b="1" dirty="0" err="1">
                <a:solidFill>
                  <a:srgbClr val="FFFFFF"/>
                </a:solidFill>
                <a:latin typeface="Garamond"/>
              </a:rPr>
              <a:t>Első</a:t>
            </a:r>
            <a:r>
              <a:rPr sz="2200" b="1" dirty="0">
                <a:solidFill>
                  <a:srgbClr val="FFFFFF"/>
                </a:solidFill>
                <a:latin typeface="Garamond"/>
              </a:rPr>
              <a:t> </a:t>
            </a:r>
            <a:r>
              <a:rPr sz="2200" b="1" dirty="0" err="1">
                <a:solidFill>
                  <a:srgbClr val="FFFFFF"/>
                </a:solidFill>
                <a:latin typeface="Garamond"/>
              </a:rPr>
              <a:t>fejezet</a:t>
            </a:r>
            <a:endParaRPr lang="hu-HU" sz="2200" b="1" dirty="0">
              <a:solidFill>
                <a:srgbClr val="FFFFFF"/>
              </a:solidFill>
              <a:latin typeface="Garamond"/>
            </a:endParaRPr>
          </a:p>
          <a:p>
            <a:pPr algn="l"/>
            <a:r>
              <a:rPr lang="hu-HU" sz="2200" b="1" dirty="0">
                <a:solidFill>
                  <a:srgbClr val="FFFFFF"/>
                </a:solidFill>
                <a:latin typeface="Garamond"/>
              </a:rPr>
              <a:t>1.1. Első szakasz</a:t>
            </a:r>
          </a:p>
          <a:p>
            <a:pPr algn="l"/>
            <a:r>
              <a:rPr lang="hu-HU" sz="2200" b="1" dirty="0">
                <a:solidFill>
                  <a:srgbClr val="FFFFFF"/>
                </a:solidFill>
                <a:latin typeface="Garamond"/>
              </a:rPr>
              <a:t>1.1.1. Első alszakasz</a:t>
            </a:r>
            <a:endParaRPr sz="2200" b="1" dirty="0">
              <a:solidFill>
                <a:srgbClr val="FFFFFF"/>
              </a:solidFill>
              <a:latin typeface="Garamond"/>
            </a:endParaRPr>
          </a:p>
        </p:txBody>
      </p:sp>
      <p:cxnSp>
        <p:nvCxnSpPr>
          <p:cNvPr id="5" name="separator_footer">
            <a:extLst>
              <a:ext uri="{FF2B5EF4-FFF2-40B4-BE49-F238E27FC236}">
                <a16:creationId xmlns:a16="http://schemas.microsoft.com/office/drawing/2014/main" id="{758FD5D7-B21D-D13C-3748-87C6FE93D426}"/>
              </a:ext>
            </a:extLst>
          </p:cNvPr>
          <p:cNvCxnSpPr/>
          <p:nvPr/>
        </p:nvCxnSpPr>
        <p:spPr>
          <a:xfrm>
            <a:off x="432000" y="6426000"/>
            <a:ext cx="11328119" cy="0"/>
          </a:xfrm>
          <a:prstGeom prst="line">
            <a:avLst/>
          </a:prstGeom>
          <a:ln w="9525">
            <a:solidFill>
              <a:srgbClr val="D0D8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ooter_date">
            <a:extLst>
              <a:ext uri="{FF2B5EF4-FFF2-40B4-BE49-F238E27FC236}">
                <a16:creationId xmlns:a16="http://schemas.microsoft.com/office/drawing/2014/main" id="{7A92BB04-2E1E-360E-71E1-50B6238FDC05}"/>
              </a:ext>
            </a:extLst>
          </p:cNvPr>
          <p:cNvSpPr txBox="1"/>
          <p:nvPr/>
        </p:nvSpPr>
        <p:spPr>
          <a:xfrm>
            <a:off x="432000" y="6462000"/>
            <a:ext cx="2160000" cy="32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>
                <a:solidFill>
                  <a:srgbClr val="7A8A9E"/>
                </a:solidFill>
                <a:latin typeface="Calibri"/>
              </a:rPr>
              <a:t>2026.05.20.</a:t>
            </a:r>
          </a:p>
        </p:txBody>
      </p:sp>
      <p:sp>
        <p:nvSpPr>
          <p:cNvPr id="7" name="footer_author">
            <a:extLst>
              <a:ext uri="{FF2B5EF4-FFF2-40B4-BE49-F238E27FC236}">
                <a16:creationId xmlns:a16="http://schemas.microsoft.com/office/drawing/2014/main" id="{B54449D1-67B4-B0BC-4EC7-4D92828B027B}"/>
              </a:ext>
            </a:extLst>
          </p:cNvPr>
          <p:cNvSpPr txBox="1"/>
          <p:nvPr/>
        </p:nvSpPr>
        <p:spPr>
          <a:xfrm>
            <a:off x="0" y="6462000"/>
            <a:ext cx="12192119" cy="32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 i="0">
                <a:solidFill>
                  <a:srgbClr val="7A8A9E"/>
                </a:solidFill>
                <a:latin typeface="Calibri"/>
              </a:rPr>
              <a:t>Dr. Hári László</a:t>
            </a:r>
          </a:p>
        </p:txBody>
      </p:sp>
      <p:sp>
        <p:nvSpPr>
          <p:cNvPr id="8" name="footer_page">
            <a:extLst>
              <a:ext uri="{FF2B5EF4-FFF2-40B4-BE49-F238E27FC236}">
                <a16:creationId xmlns:a16="http://schemas.microsoft.com/office/drawing/2014/main" id="{B5878863-1C05-C30B-FD8D-383331F4EE6B}"/>
              </a:ext>
            </a:extLst>
          </p:cNvPr>
          <p:cNvSpPr txBox="1"/>
          <p:nvPr/>
        </p:nvSpPr>
        <p:spPr>
          <a:xfrm>
            <a:off x="10680119" y="6462000"/>
            <a:ext cx="1080000" cy="32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 i="0">
                <a:solidFill>
                  <a:srgbClr val="7A8A9E"/>
                </a:solidFill>
                <a:latin typeface="Calibri"/>
              </a:rPr>
              <a:t>2</a:t>
            </a:r>
          </a:p>
        </p:txBody>
      </p:sp>
      <p:sp>
        <p:nvSpPr>
          <p:cNvPr id="9" name="content_body">
            <a:extLst>
              <a:ext uri="{FF2B5EF4-FFF2-40B4-BE49-F238E27FC236}">
                <a16:creationId xmlns:a16="http://schemas.microsoft.com/office/drawing/2014/main" id="{4F9D2E34-E7BD-2E74-63FC-17E38F954F21}"/>
              </a:ext>
            </a:extLst>
          </p:cNvPr>
          <p:cNvSpPr txBox="1"/>
          <p:nvPr/>
        </p:nvSpPr>
        <p:spPr>
          <a:xfrm>
            <a:off x="432000" y="1296000"/>
            <a:ext cx="11328119" cy="1451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100"/>
              </a:spcAft>
            </a:pPr>
            <a:r>
              <a:rPr sz="1600" b="1" dirty="0">
                <a:solidFill>
                  <a:srgbClr val="ED7D31"/>
                </a:solidFill>
                <a:latin typeface="Aptos" panose="020B0004020202020204" pitchFamily="34" charset="0"/>
              </a:rPr>
              <a:t>▸  </a:t>
            </a:r>
            <a:r>
              <a:rPr sz="1600" dirty="0">
                <a:solidFill>
                  <a:srgbClr val="212121"/>
                </a:solidFill>
                <a:latin typeface="Aptos" panose="020B0004020202020204" pitchFamily="34" charset="0"/>
              </a:rPr>
              <a:t>Primus punctus: Lorem ipsum dolor sit </a:t>
            </a:r>
            <a:r>
              <a:rPr sz="1600" dirty="0" err="1">
                <a:solidFill>
                  <a:srgbClr val="212121"/>
                </a:solidFill>
                <a:latin typeface="Aptos" panose="020B0004020202020204" pitchFamily="34" charset="0"/>
              </a:rPr>
              <a:t>amet</a:t>
            </a:r>
            <a:r>
              <a:rPr sz="1600" dirty="0">
                <a:solidFill>
                  <a:srgbClr val="212121"/>
                </a:solidFill>
                <a:latin typeface="Aptos" panose="020B0004020202020204" pitchFamily="34" charset="0"/>
              </a:rPr>
              <a:t>, </a:t>
            </a:r>
            <a:r>
              <a:rPr sz="1600" dirty="0" err="1">
                <a:solidFill>
                  <a:srgbClr val="212121"/>
                </a:solidFill>
                <a:latin typeface="Aptos" panose="020B0004020202020204" pitchFamily="34" charset="0"/>
              </a:rPr>
              <a:t>consectetur</a:t>
            </a:r>
            <a:r>
              <a:rPr sz="1600" dirty="0">
                <a:solidFill>
                  <a:srgbClr val="212121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212121"/>
                </a:solidFill>
                <a:latin typeface="Aptos" panose="020B0004020202020204" pitchFamily="34" charset="0"/>
              </a:rPr>
              <a:t>adipiscing</a:t>
            </a:r>
            <a:r>
              <a:rPr sz="1600" dirty="0">
                <a:solidFill>
                  <a:srgbClr val="212121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212121"/>
                </a:solidFill>
                <a:latin typeface="Aptos" panose="020B0004020202020204" pitchFamily="34" charset="0"/>
              </a:rPr>
              <a:t>elit</a:t>
            </a:r>
            <a:r>
              <a:rPr sz="1600" dirty="0">
                <a:solidFill>
                  <a:srgbClr val="212121"/>
                </a:solidFill>
                <a:latin typeface="Aptos" panose="020B0004020202020204" pitchFamily="34" charset="0"/>
              </a:rPr>
              <a:t>, sed do </a:t>
            </a:r>
            <a:r>
              <a:rPr sz="1600" dirty="0" err="1">
                <a:solidFill>
                  <a:srgbClr val="212121"/>
                </a:solidFill>
                <a:latin typeface="Aptos" panose="020B0004020202020204" pitchFamily="34" charset="0"/>
              </a:rPr>
              <a:t>eiusmod</a:t>
            </a:r>
            <a:r>
              <a:rPr sz="1600" dirty="0">
                <a:solidFill>
                  <a:srgbClr val="212121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212121"/>
                </a:solidFill>
                <a:latin typeface="Aptos" panose="020B0004020202020204" pitchFamily="34" charset="0"/>
              </a:rPr>
              <a:t>tempor</a:t>
            </a:r>
            <a:r>
              <a:rPr sz="1600" dirty="0">
                <a:solidFill>
                  <a:srgbClr val="212121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212121"/>
                </a:solidFill>
                <a:latin typeface="Aptos" panose="020B0004020202020204" pitchFamily="34" charset="0"/>
              </a:rPr>
              <a:t>incididunt</a:t>
            </a:r>
            <a:r>
              <a:rPr sz="1600" dirty="0">
                <a:solidFill>
                  <a:srgbClr val="212121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212121"/>
                </a:solidFill>
                <a:latin typeface="Aptos" panose="020B0004020202020204" pitchFamily="34" charset="0"/>
              </a:rPr>
              <a:t>ut</a:t>
            </a:r>
            <a:r>
              <a:rPr sz="1600" dirty="0">
                <a:solidFill>
                  <a:srgbClr val="212121"/>
                </a:solidFill>
                <a:latin typeface="Aptos" panose="020B0004020202020204" pitchFamily="34" charset="0"/>
              </a:rPr>
              <a:t> labore et dolore magna </a:t>
            </a:r>
            <a:r>
              <a:rPr sz="1600" dirty="0" err="1">
                <a:solidFill>
                  <a:srgbClr val="212121"/>
                </a:solidFill>
                <a:latin typeface="Aptos" panose="020B0004020202020204" pitchFamily="34" charset="0"/>
              </a:rPr>
              <a:t>aliqua</a:t>
            </a:r>
            <a:endParaRPr sz="1600" dirty="0">
              <a:solidFill>
                <a:srgbClr val="212121"/>
              </a:solidFill>
              <a:latin typeface="Aptos" panose="020B0004020202020204" pitchFamily="34" charset="0"/>
            </a:endParaRPr>
          </a:p>
          <a:p>
            <a:pPr algn="l">
              <a:spcBef>
                <a:spcPts val="400"/>
              </a:spcBef>
              <a:spcAft>
                <a:spcPts val="100"/>
              </a:spcAft>
            </a:pPr>
            <a:r>
              <a:rPr sz="1600" b="1" dirty="0">
                <a:solidFill>
                  <a:srgbClr val="ED7D31"/>
                </a:solidFill>
                <a:latin typeface="Aptos" panose="020B0004020202020204" pitchFamily="34" charset="0"/>
              </a:rPr>
              <a:t>▸  </a:t>
            </a:r>
            <a:r>
              <a:rPr sz="1600" dirty="0">
                <a:solidFill>
                  <a:srgbClr val="212121"/>
                </a:solidFill>
                <a:latin typeface="Aptos" panose="020B0004020202020204" pitchFamily="34" charset="0"/>
              </a:rPr>
              <a:t>Secundus punctus: Ut </a:t>
            </a:r>
            <a:r>
              <a:rPr sz="1600" dirty="0" err="1">
                <a:solidFill>
                  <a:srgbClr val="212121"/>
                </a:solidFill>
                <a:latin typeface="Aptos" panose="020B0004020202020204" pitchFamily="34" charset="0"/>
              </a:rPr>
              <a:t>enim</a:t>
            </a:r>
            <a:r>
              <a:rPr sz="1600" dirty="0">
                <a:solidFill>
                  <a:srgbClr val="212121"/>
                </a:solidFill>
                <a:latin typeface="Aptos" panose="020B0004020202020204" pitchFamily="34" charset="0"/>
              </a:rPr>
              <a:t> ad minim </a:t>
            </a:r>
            <a:r>
              <a:rPr sz="1600" dirty="0" err="1">
                <a:solidFill>
                  <a:srgbClr val="212121"/>
                </a:solidFill>
                <a:latin typeface="Aptos" panose="020B0004020202020204" pitchFamily="34" charset="0"/>
              </a:rPr>
              <a:t>veniam</a:t>
            </a:r>
            <a:r>
              <a:rPr sz="1600" dirty="0">
                <a:solidFill>
                  <a:srgbClr val="212121"/>
                </a:solidFill>
                <a:latin typeface="Aptos" panose="020B0004020202020204" pitchFamily="34" charset="0"/>
              </a:rPr>
              <a:t>, quis </a:t>
            </a:r>
            <a:r>
              <a:rPr sz="1600" dirty="0" err="1">
                <a:solidFill>
                  <a:srgbClr val="212121"/>
                </a:solidFill>
                <a:latin typeface="Aptos" panose="020B0004020202020204" pitchFamily="34" charset="0"/>
              </a:rPr>
              <a:t>nostrud</a:t>
            </a:r>
            <a:r>
              <a:rPr sz="1600" dirty="0">
                <a:solidFill>
                  <a:srgbClr val="212121"/>
                </a:solidFill>
                <a:latin typeface="Aptos" panose="020B0004020202020204" pitchFamily="34" charset="0"/>
              </a:rPr>
              <a:t> exercitation </a:t>
            </a:r>
            <a:r>
              <a:rPr sz="1600" dirty="0" err="1">
                <a:solidFill>
                  <a:srgbClr val="212121"/>
                </a:solidFill>
                <a:latin typeface="Aptos" panose="020B0004020202020204" pitchFamily="34" charset="0"/>
              </a:rPr>
              <a:t>ullamco</a:t>
            </a:r>
            <a:r>
              <a:rPr sz="1600" dirty="0">
                <a:solidFill>
                  <a:srgbClr val="212121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212121"/>
                </a:solidFill>
                <a:latin typeface="Aptos" panose="020B0004020202020204" pitchFamily="34" charset="0"/>
              </a:rPr>
              <a:t>laboris</a:t>
            </a:r>
            <a:r>
              <a:rPr sz="1600" dirty="0">
                <a:solidFill>
                  <a:srgbClr val="212121"/>
                </a:solidFill>
                <a:latin typeface="Aptos" panose="020B0004020202020204" pitchFamily="34" charset="0"/>
              </a:rPr>
              <a:t> nisi </a:t>
            </a:r>
            <a:r>
              <a:rPr sz="1600" dirty="0" err="1">
                <a:solidFill>
                  <a:srgbClr val="212121"/>
                </a:solidFill>
                <a:latin typeface="Aptos" panose="020B0004020202020204" pitchFamily="34" charset="0"/>
              </a:rPr>
              <a:t>ut</a:t>
            </a:r>
            <a:r>
              <a:rPr sz="1600" dirty="0">
                <a:solidFill>
                  <a:srgbClr val="212121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212121"/>
                </a:solidFill>
                <a:latin typeface="Aptos" panose="020B0004020202020204" pitchFamily="34" charset="0"/>
              </a:rPr>
              <a:t>aliquip</a:t>
            </a:r>
            <a:r>
              <a:rPr sz="1600" dirty="0">
                <a:solidFill>
                  <a:srgbClr val="212121"/>
                </a:solidFill>
                <a:latin typeface="Aptos" panose="020B0004020202020204" pitchFamily="34" charset="0"/>
              </a:rPr>
              <a:t> ex </a:t>
            </a:r>
            <a:r>
              <a:rPr sz="1600" dirty="0" err="1">
                <a:solidFill>
                  <a:srgbClr val="212121"/>
                </a:solidFill>
                <a:latin typeface="Aptos" panose="020B0004020202020204" pitchFamily="34" charset="0"/>
              </a:rPr>
              <a:t>ea</a:t>
            </a:r>
            <a:r>
              <a:rPr sz="1600" dirty="0">
                <a:solidFill>
                  <a:srgbClr val="212121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212121"/>
                </a:solidFill>
                <a:latin typeface="Aptos" panose="020B0004020202020204" pitchFamily="34" charset="0"/>
              </a:rPr>
              <a:t>commodo</a:t>
            </a:r>
            <a:r>
              <a:rPr sz="1600" dirty="0">
                <a:solidFill>
                  <a:srgbClr val="212121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212121"/>
                </a:solidFill>
                <a:latin typeface="Aptos" panose="020B0004020202020204" pitchFamily="34" charset="0"/>
              </a:rPr>
              <a:t>consequat</a:t>
            </a:r>
            <a:endParaRPr sz="1600" dirty="0">
              <a:solidFill>
                <a:srgbClr val="212121"/>
              </a:solidFill>
              <a:latin typeface="Aptos" panose="020B0004020202020204" pitchFamily="34" charset="0"/>
            </a:endParaRPr>
          </a:p>
          <a:p>
            <a:pPr algn="l">
              <a:spcBef>
                <a:spcPts val="400"/>
              </a:spcBef>
              <a:spcAft>
                <a:spcPts val="100"/>
              </a:spcAft>
            </a:pPr>
            <a:r>
              <a:rPr sz="1600" b="1" dirty="0">
                <a:solidFill>
                  <a:srgbClr val="ED7D31"/>
                </a:solidFill>
                <a:latin typeface="Aptos" panose="020B0004020202020204" pitchFamily="34" charset="0"/>
              </a:rPr>
              <a:t>▸  </a:t>
            </a:r>
            <a:r>
              <a:rPr sz="1600" dirty="0">
                <a:solidFill>
                  <a:srgbClr val="212121"/>
                </a:solidFill>
                <a:latin typeface="Aptos" panose="020B0004020202020204" pitchFamily="34" charset="0"/>
              </a:rPr>
              <a:t>Tertius punctus: Duis </a:t>
            </a:r>
            <a:r>
              <a:rPr sz="1600" dirty="0" err="1">
                <a:solidFill>
                  <a:srgbClr val="212121"/>
                </a:solidFill>
                <a:latin typeface="Aptos" panose="020B0004020202020204" pitchFamily="34" charset="0"/>
              </a:rPr>
              <a:t>aute</a:t>
            </a:r>
            <a:r>
              <a:rPr sz="1600" dirty="0">
                <a:solidFill>
                  <a:srgbClr val="212121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212121"/>
                </a:solidFill>
                <a:latin typeface="Aptos" panose="020B0004020202020204" pitchFamily="34" charset="0"/>
              </a:rPr>
              <a:t>irure</a:t>
            </a:r>
            <a:r>
              <a:rPr sz="1600" dirty="0">
                <a:solidFill>
                  <a:srgbClr val="212121"/>
                </a:solidFill>
                <a:latin typeface="Aptos" panose="020B0004020202020204" pitchFamily="34" charset="0"/>
              </a:rPr>
              <a:t> dolor in </a:t>
            </a:r>
            <a:r>
              <a:rPr sz="1600" dirty="0" err="1">
                <a:solidFill>
                  <a:srgbClr val="212121"/>
                </a:solidFill>
                <a:latin typeface="Aptos" panose="020B0004020202020204" pitchFamily="34" charset="0"/>
              </a:rPr>
              <a:t>reprehenderit</a:t>
            </a:r>
            <a:r>
              <a:rPr sz="1600" dirty="0">
                <a:solidFill>
                  <a:srgbClr val="212121"/>
                </a:solidFill>
                <a:latin typeface="Aptos" panose="020B0004020202020204" pitchFamily="34" charset="0"/>
              </a:rPr>
              <a:t> in </a:t>
            </a:r>
            <a:r>
              <a:rPr sz="1600" dirty="0" err="1">
                <a:solidFill>
                  <a:srgbClr val="212121"/>
                </a:solidFill>
                <a:latin typeface="Aptos" panose="020B0004020202020204" pitchFamily="34" charset="0"/>
              </a:rPr>
              <a:t>voluptate</a:t>
            </a:r>
            <a:r>
              <a:rPr sz="1600" dirty="0">
                <a:solidFill>
                  <a:srgbClr val="212121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212121"/>
                </a:solidFill>
                <a:latin typeface="Aptos" panose="020B0004020202020204" pitchFamily="34" charset="0"/>
              </a:rPr>
              <a:t>velit</a:t>
            </a:r>
            <a:r>
              <a:rPr sz="1600" dirty="0">
                <a:solidFill>
                  <a:srgbClr val="212121"/>
                </a:solidFill>
                <a:latin typeface="Aptos" panose="020B0004020202020204" pitchFamily="34" charset="0"/>
              </a:rPr>
              <a:t> esse </a:t>
            </a:r>
            <a:r>
              <a:rPr sz="1600" dirty="0" err="1">
                <a:solidFill>
                  <a:srgbClr val="212121"/>
                </a:solidFill>
                <a:latin typeface="Aptos" panose="020B0004020202020204" pitchFamily="34" charset="0"/>
              </a:rPr>
              <a:t>cillum</a:t>
            </a:r>
            <a:r>
              <a:rPr sz="1600" dirty="0">
                <a:solidFill>
                  <a:srgbClr val="212121"/>
                </a:solidFill>
                <a:latin typeface="Aptos" panose="020B0004020202020204" pitchFamily="34" charset="0"/>
              </a:rPr>
              <a:t> dolore </a:t>
            </a:r>
            <a:r>
              <a:rPr sz="1600" dirty="0" err="1">
                <a:solidFill>
                  <a:srgbClr val="212121"/>
                </a:solidFill>
                <a:latin typeface="Aptos" panose="020B0004020202020204" pitchFamily="34" charset="0"/>
              </a:rPr>
              <a:t>eu</a:t>
            </a:r>
            <a:r>
              <a:rPr sz="1600" dirty="0">
                <a:solidFill>
                  <a:srgbClr val="212121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212121"/>
                </a:solidFill>
                <a:latin typeface="Aptos" panose="020B0004020202020204" pitchFamily="34" charset="0"/>
              </a:rPr>
              <a:t>fugiat</a:t>
            </a:r>
            <a:r>
              <a:rPr sz="1600" dirty="0">
                <a:solidFill>
                  <a:srgbClr val="212121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212121"/>
                </a:solidFill>
                <a:latin typeface="Aptos" panose="020B0004020202020204" pitchFamily="34" charset="0"/>
              </a:rPr>
              <a:t>nulla</a:t>
            </a:r>
            <a:r>
              <a:rPr sz="1600" dirty="0">
                <a:solidFill>
                  <a:srgbClr val="212121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212121"/>
                </a:solidFill>
                <a:latin typeface="Aptos" panose="020B0004020202020204" pitchFamily="34" charset="0"/>
              </a:rPr>
              <a:t>pariatur</a:t>
            </a:r>
            <a:endParaRPr sz="1600" dirty="0">
              <a:solidFill>
                <a:srgbClr val="212121"/>
              </a:solidFill>
              <a:latin typeface="Aptos" panose="020B0004020202020204" pitchFamily="34" charset="0"/>
            </a:endParaRPr>
          </a:p>
        </p:txBody>
      </p:sp>
      <p:pic>
        <p:nvPicPr>
          <p:cNvPr id="10" name="logo_small" descr="due_logo_pici.png">
            <a:extLst>
              <a:ext uri="{FF2B5EF4-FFF2-40B4-BE49-F238E27FC236}">
                <a16:creationId xmlns:a16="http://schemas.microsoft.com/office/drawing/2014/main" id="{2DD16240-62F6-1D30-C41F-5C92F07E04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256119" y="152426"/>
            <a:ext cx="792000" cy="775148"/>
          </a:xfrm>
          <a:prstGeom prst="rect">
            <a:avLst/>
          </a:prstGeom>
        </p:spPr>
      </p:pic>
      <p:sp>
        <p:nvSpPr>
          <p:cNvPr id="4" name="content_body">
            <a:extLst>
              <a:ext uri="{FF2B5EF4-FFF2-40B4-BE49-F238E27FC236}">
                <a16:creationId xmlns:a16="http://schemas.microsoft.com/office/drawing/2014/main" id="{0403A95D-DC8A-0364-1343-1A4EA2E3B655}"/>
              </a:ext>
            </a:extLst>
          </p:cNvPr>
          <p:cNvSpPr txBox="1"/>
          <p:nvPr/>
        </p:nvSpPr>
        <p:spPr>
          <a:xfrm>
            <a:off x="431881" y="2963679"/>
            <a:ext cx="11328119" cy="1451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spcBef>
                <a:spcPts val="400"/>
              </a:spcBef>
              <a:spcAft>
                <a:spcPts val="100"/>
              </a:spcAft>
              <a:buClr>
                <a:srgbClr val="ED7D31"/>
              </a:buClr>
              <a:buFont typeface="+mj-lt"/>
              <a:buAutoNum type="arabicPeriod"/>
              <a:defRPr sz="1600">
                <a:solidFill>
                  <a:srgbClr val="ED7D31"/>
                </a:solidFill>
              </a:defRPr>
            </a:pPr>
            <a:r>
              <a:rPr sz="1600" dirty="0">
                <a:solidFill>
                  <a:srgbClr val="212121"/>
                </a:solidFill>
                <a:latin typeface="Aptos" panose="020B0004020202020204" pitchFamily="34" charset="0"/>
              </a:rPr>
              <a:t>Primus punctus: Lorem ipsum dolor sit </a:t>
            </a:r>
            <a:r>
              <a:rPr sz="1600" dirty="0" err="1">
                <a:solidFill>
                  <a:srgbClr val="212121"/>
                </a:solidFill>
                <a:latin typeface="Aptos" panose="020B0004020202020204" pitchFamily="34" charset="0"/>
              </a:rPr>
              <a:t>amet</a:t>
            </a:r>
            <a:r>
              <a:rPr sz="1600" dirty="0">
                <a:solidFill>
                  <a:srgbClr val="212121"/>
                </a:solidFill>
                <a:latin typeface="Aptos" panose="020B0004020202020204" pitchFamily="34" charset="0"/>
              </a:rPr>
              <a:t>, </a:t>
            </a:r>
            <a:r>
              <a:rPr sz="1600" dirty="0" err="1">
                <a:solidFill>
                  <a:srgbClr val="212121"/>
                </a:solidFill>
                <a:latin typeface="Aptos" panose="020B0004020202020204" pitchFamily="34" charset="0"/>
              </a:rPr>
              <a:t>consectetur</a:t>
            </a:r>
            <a:r>
              <a:rPr sz="1600" dirty="0">
                <a:solidFill>
                  <a:srgbClr val="212121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212121"/>
                </a:solidFill>
                <a:latin typeface="Aptos" panose="020B0004020202020204" pitchFamily="34" charset="0"/>
              </a:rPr>
              <a:t>adipiscing</a:t>
            </a:r>
            <a:r>
              <a:rPr sz="1600" dirty="0">
                <a:solidFill>
                  <a:srgbClr val="212121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212121"/>
                </a:solidFill>
                <a:latin typeface="Aptos" panose="020B0004020202020204" pitchFamily="34" charset="0"/>
              </a:rPr>
              <a:t>elit</a:t>
            </a:r>
            <a:r>
              <a:rPr sz="1600" dirty="0">
                <a:solidFill>
                  <a:srgbClr val="212121"/>
                </a:solidFill>
                <a:latin typeface="Aptos" panose="020B0004020202020204" pitchFamily="34" charset="0"/>
              </a:rPr>
              <a:t>, sed do </a:t>
            </a:r>
            <a:r>
              <a:rPr sz="1600" dirty="0" err="1">
                <a:solidFill>
                  <a:srgbClr val="212121"/>
                </a:solidFill>
                <a:latin typeface="Aptos" panose="020B0004020202020204" pitchFamily="34" charset="0"/>
              </a:rPr>
              <a:t>eiusmod</a:t>
            </a:r>
            <a:r>
              <a:rPr sz="1600" dirty="0">
                <a:solidFill>
                  <a:srgbClr val="212121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212121"/>
                </a:solidFill>
                <a:latin typeface="Aptos" panose="020B0004020202020204" pitchFamily="34" charset="0"/>
              </a:rPr>
              <a:t>tempor</a:t>
            </a:r>
            <a:r>
              <a:rPr sz="1600" dirty="0">
                <a:solidFill>
                  <a:srgbClr val="212121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212121"/>
                </a:solidFill>
                <a:latin typeface="Aptos" panose="020B0004020202020204" pitchFamily="34" charset="0"/>
              </a:rPr>
              <a:t>incididunt</a:t>
            </a:r>
            <a:r>
              <a:rPr sz="1600" dirty="0">
                <a:solidFill>
                  <a:srgbClr val="212121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212121"/>
                </a:solidFill>
                <a:latin typeface="Aptos" panose="020B0004020202020204" pitchFamily="34" charset="0"/>
              </a:rPr>
              <a:t>ut</a:t>
            </a:r>
            <a:r>
              <a:rPr sz="1600" dirty="0">
                <a:solidFill>
                  <a:srgbClr val="212121"/>
                </a:solidFill>
                <a:latin typeface="Aptos" panose="020B0004020202020204" pitchFamily="34" charset="0"/>
              </a:rPr>
              <a:t> labore et dolore magna </a:t>
            </a:r>
            <a:r>
              <a:rPr sz="1600" dirty="0" err="1">
                <a:solidFill>
                  <a:srgbClr val="212121"/>
                </a:solidFill>
                <a:latin typeface="Aptos" panose="020B0004020202020204" pitchFamily="34" charset="0"/>
              </a:rPr>
              <a:t>aliqua</a:t>
            </a:r>
            <a:endParaRPr lang="hu-HU" sz="1600" dirty="0">
              <a:solidFill>
                <a:srgbClr val="212121"/>
              </a:solidFill>
              <a:latin typeface="Aptos" panose="020B0004020202020204" pitchFamily="34" charset="0"/>
            </a:endParaRPr>
          </a:p>
          <a:p>
            <a:pPr marL="342900" indent="-342900" algn="l">
              <a:spcBef>
                <a:spcPts val="400"/>
              </a:spcBef>
              <a:spcAft>
                <a:spcPts val="100"/>
              </a:spcAft>
              <a:buClr>
                <a:srgbClr val="ED7D31"/>
              </a:buClr>
              <a:buFont typeface="+mj-lt"/>
              <a:buAutoNum type="arabicPeriod"/>
              <a:defRPr sz="1600">
                <a:solidFill>
                  <a:srgbClr val="ED7D31"/>
                </a:solidFill>
              </a:defRPr>
            </a:pPr>
            <a:r>
              <a:rPr sz="1600" dirty="0">
                <a:solidFill>
                  <a:srgbClr val="212121"/>
                </a:solidFill>
                <a:latin typeface="Aptos" panose="020B0004020202020204" pitchFamily="34" charset="0"/>
              </a:rPr>
              <a:t>Secundus punctus: Ut </a:t>
            </a:r>
            <a:r>
              <a:rPr sz="1600" dirty="0" err="1">
                <a:solidFill>
                  <a:srgbClr val="212121"/>
                </a:solidFill>
                <a:latin typeface="Aptos" panose="020B0004020202020204" pitchFamily="34" charset="0"/>
              </a:rPr>
              <a:t>enim</a:t>
            </a:r>
            <a:r>
              <a:rPr sz="1600" dirty="0">
                <a:solidFill>
                  <a:srgbClr val="212121"/>
                </a:solidFill>
                <a:latin typeface="Aptos" panose="020B0004020202020204" pitchFamily="34" charset="0"/>
              </a:rPr>
              <a:t> ad minim </a:t>
            </a:r>
            <a:r>
              <a:rPr sz="1600" dirty="0" err="1">
                <a:solidFill>
                  <a:srgbClr val="212121"/>
                </a:solidFill>
                <a:latin typeface="Aptos" panose="020B0004020202020204" pitchFamily="34" charset="0"/>
              </a:rPr>
              <a:t>veniam</a:t>
            </a:r>
            <a:r>
              <a:rPr sz="1600" dirty="0">
                <a:solidFill>
                  <a:srgbClr val="212121"/>
                </a:solidFill>
                <a:latin typeface="Aptos" panose="020B0004020202020204" pitchFamily="34" charset="0"/>
              </a:rPr>
              <a:t>, quis </a:t>
            </a:r>
            <a:r>
              <a:rPr sz="1600" dirty="0" err="1">
                <a:solidFill>
                  <a:srgbClr val="212121"/>
                </a:solidFill>
                <a:latin typeface="Aptos" panose="020B0004020202020204" pitchFamily="34" charset="0"/>
              </a:rPr>
              <a:t>nostrud</a:t>
            </a:r>
            <a:r>
              <a:rPr sz="1600" dirty="0">
                <a:solidFill>
                  <a:srgbClr val="212121"/>
                </a:solidFill>
                <a:latin typeface="Aptos" panose="020B0004020202020204" pitchFamily="34" charset="0"/>
              </a:rPr>
              <a:t> exercitation </a:t>
            </a:r>
            <a:r>
              <a:rPr sz="1600" dirty="0" err="1">
                <a:solidFill>
                  <a:srgbClr val="212121"/>
                </a:solidFill>
                <a:latin typeface="Aptos" panose="020B0004020202020204" pitchFamily="34" charset="0"/>
              </a:rPr>
              <a:t>ullamco</a:t>
            </a:r>
            <a:r>
              <a:rPr sz="1600" dirty="0">
                <a:solidFill>
                  <a:srgbClr val="212121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212121"/>
                </a:solidFill>
                <a:latin typeface="Aptos" panose="020B0004020202020204" pitchFamily="34" charset="0"/>
              </a:rPr>
              <a:t>laboris</a:t>
            </a:r>
            <a:r>
              <a:rPr sz="1600" dirty="0">
                <a:solidFill>
                  <a:srgbClr val="212121"/>
                </a:solidFill>
                <a:latin typeface="Aptos" panose="020B0004020202020204" pitchFamily="34" charset="0"/>
              </a:rPr>
              <a:t> nisi </a:t>
            </a:r>
            <a:r>
              <a:rPr sz="1600" dirty="0" err="1">
                <a:solidFill>
                  <a:srgbClr val="212121"/>
                </a:solidFill>
                <a:latin typeface="Aptos" panose="020B0004020202020204" pitchFamily="34" charset="0"/>
              </a:rPr>
              <a:t>ut</a:t>
            </a:r>
            <a:r>
              <a:rPr sz="1600" dirty="0">
                <a:solidFill>
                  <a:srgbClr val="212121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212121"/>
                </a:solidFill>
                <a:latin typeface="Aptos" panose="020B0004020202020204" pitchFamily="34" charset="0"/>
              </a:rPr>
              <a:t>aliquip</a:t>
            </a:r>
            <a:r>
              <a:rPr sz="1600" dirty="0">
                <a:solidFill>
                  <a:srgbClr val="212121"/>
                </a:solidFill>
                <a:latin typeface="Aptos" panose="020B0004020202020204" pitchFamily="34" charset="0"/>
              </a:rPr>
              <a:t> ex </a:t>
            </a:r>
            <a:r>
              <a:rPr sz="1600" dirty="0" err="1">
                <a:solidFill>
                  <a:srgbClr val="212121"/>
                </a:solidFill>
                <a:latin typeface="Aptos" panose="020B0004020202020204" pitchFamily="34" charset="0"/>
              </a:rPr>
              <a:t>ea</a:t>
            </a:r>
            <a:r>
              <a:rPr sz="1600" dirty="0">
                <a:solidFill>
                  <a:srgbClr val="212121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212121"/>
                </a:solidFill>
                <a:latin typeface="Aptos" panose="020B0004020202020204" pitchFamily="34" charset="0"/>
              </a:rPr>
              <a:t>commodo</a:t>
            </a:r>
            <a:r>
              <a:rPr sz="1600" dirty="0">
                <a:solidFill>
                  <a:srgbClr val="212121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212121"/>
                </a:solidFill>
                <a:latin typeface="Aptos" panose="020B0004020202020204" pitchFamily="34" charset="0"/>
              </a:rPr>
              <a:t>consequat</a:t>
            </a:r>
            <a:endParaRPr sz="1600" dirty="0">
              <a:solidFill>
                <a:srgbClr val="212121"/>
              </a:solidFill>
              <a:latin typeface="Aptos" panose="020B0004020202020204" pitchFamily="34" charset="0"/>
            </a:endParaRPr>
          </a:p>
          <a:p>
            <a:pPr marL="342900" indent="-342900" algn="l">
              <a:spcBef>
                <a:spcPts val="400"/>
              </a:spcBef>
              <a:spcAft>
                <a:spcPts val="100"/>
              </a:spcAft>
              <a:buClr>
                <a:srgbClr val="ED7D31"/>
              </a:buClr>
              <a:buFont typeface="+mj-lt"/>
              <a:buAutoNum type="arabicPeriod"/>
              <a:defRPr sz="1600">
                <a:solidFill>
                  <a:srgbClr val="ED7D31"/>
                </a:solidFill>
              </a:defRPr>
            </a:pPr>
            <a:r>
              <a:rPr sz="1600" dirty="0">
                <a:solidFill>
                  <a:srgbClr val="212121"/>
                </a:solidFill>
                <a:latin typeface="Aptos" panose="020B0004020202020204" pitchFamily="34" charset="0"/>
              </a:rPr>
              <a:t>Tertius punctus: Duis </a:t>
            </a:r>
            <a:r>
              <a:rPr sz="1600" dirty="0" err="1">
                <a:solidFill>
                  <a:srgbClr val="212121"/>
                </a:solidFill>
                <a:latin typeface="Aptos" panose="020B0004020202020204" pitchFamily="34" charset="0"/>
              </a:rPr>
              <a:t>aute</a:t>
            </a:r>
            <a:r>
              <a:rPr sz="1600" dirty="0">
                <a:solidFill>
                  <a:srgbClr val="212121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212121"/>
                </a:solidFill>
                <a:latin typeface="Aptos" panose="020B0004020202020204" pitchFamily="34" charset="0"/>
              </a:rPr>
              <a:t>irure</a:t>
            </a:r>
            <a:r>
              <a:rPr sz="1600" dirty="0">
                <a:solidFill>
                  <a:srgbClr val="212121"/>
                </a:solidFill>
                <a:latin typeface="Aptos" panose="020B0004020202020204" pitchFamily="34" charset="0"/>
              </a:rPr>
              <a:t> dolor in </a:t>
            </a:r>
            <a:r>
              <a:rPr sz="1600" dirty="0" err="1">
                <a:solidFill>
                  <a:srgbClr val="212121"/>
                </a:solidFill>
                <a:latin typeface="Aptos" panose="020B0004020202020204" pitchFamily="34" charset="0"/>
              </a:rPr>
              <a:t>reprehenderit</a:t>
            </a:r>
            <a:r>
              <a:rPr sz="1600" dirty="0">
                <a:solidFill>
                  <a:srgbClr val="212121"/>
                </a:solidFill>
                <a:latin typeface="Aptos" panose="020B0004020202020204" pitchFamily="34" charset="0"/>
              </a:rPr>
              <a:t> in </a:t>
            </a:r>
            <a:r>
              <a:rPr sz="1600" dirty="0" err="1">
                <a:solidFill>
                  <a:srgbClr val="212121"/>
                </a:solidFill>
                <a:latin typeface="Aptos" panose="020B0004020202020204" pitchFamily="34" charset="0"/>
              </a:rPr>
              <a:t>voluptate</a:t>
            </a:r>
            <a:r>
              <a:rPr sz="1600" dirty="0">
                <a:solidFill>
                  <a:srgbClr val="212121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212121"/>
                </a:solidFill>
                <a:latin typeface="Aptos" panose="020B0004020202020204" pitchFamily="34" charset="0"/>
              </a:rPr>
              <a:t>velit</a:t>
            </a:r>
            <a:r>
              <a:rPr sz="1600" dirty="0">
                <a:solidFill>
                  <a:srgbClr val="212121"/>
                </a:solidFill>
                <a:latin typeface="Aptos" panose="020B0004020202020204" pitchFamily="34" charset="0"/>
              </a:rPr>
              <a:t> esse </a:t>
            </a:r>
            <a:r>
              <a:rPr sz="1600" dirty="0" err="1">
                <a:solidFill>
                  <a:srgbClr val="212121"/>
                </a:solidFill>
                <a:latin typeface="Aptos" panose="020B0004020202020204" pitchFamily="34" charset="0"/>
              </a:rPr>
              <a:t>cillum</a:t>
            </a:r>
            <a:r>
              <a:rPr sz="1600" dirty="0">
                <a:solidFill>
                  <a:srgbClr val="212121"/>
                </a:solidFill>
                <a:latin typeface="Aptos" panose="020B0004020202020204" pitchFamily="34" charset="0"/>
              </a:rPr>
              <a:t> dolore </a:t>
            </a:r>
            <a:r>
              <a:rPr sz="1600" dirty="0" err="1">
                <a:solidFill>
                  <a:srgbClr val="212121"/>
                </a:solidFill>
                <a:latin typeface="Aptos" panose="020B0004020202020204" pitchFamily="34" charset="0"/>
              </a:rPr>
              <a:t>eu</a:t>
            </a:r>
            <a:r>
              <a:rPr sz="1600" dirty="0">
                <a:solidFill>
                  <a:srgbClr val="212121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212121"/>
                </a:solidFill>
                <a:latin typeface="Aptos" panose="020B0004020202020204" pitchFamily="34" charset="0"/>
              </a:rPr>
              <a:t>fugiat</a:t>
            </a:r>
            <a:r>
              <a:rPr sz="1600" dirty="0">
                <a:solidFill>
                  <a:srgbClr val="212121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212121"/>
                </a:solidFill>
                <a:latin typeface="Aptos" panose="020B0004020202020204" pitchFamily="34" charset="0"/>
              </a:rPr>
              <a:t>nulla</a:t>
            </a:r>
            <a:r>
              <a:rPr sz="1600" dirty="0">
                <a:solidFill>
                  <a:srgbClr val="212121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212121"/>
                </a:solidFill>
                <a:latin typeface="Aptos" panose="020B0004020202020204" pitchFamily="34" charset="0"/>
              </a:rPr>
              <a:t>pariatur</a:t>
            </a:r>
            <a:endParaRPr sz="1600" dirty="0">
              <a:solidFill>
                <a:srgbClr val="212121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64644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bar_bg"/>
          <p:cNvSpPr/>
          <p:nvPr/>
        </p:nvSpPr>
        <p:spPr>
          <a:xfrm>
            <a:off x="0" y="0"/>
            <a:ext cx="12192119" cy="1080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slide_title"/>
          <p:cNvSpPr txBox="1"/>
          <p:nvPr/>
        </p:nvSpPr>
        <p:spPr>
          <a:xfrm>
            <a:off x="432000" y="108000"/>
            <a:ext cx="10248119" cy="9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 dirty="0" err="1">
                <a:solidFill>
                  <a:srgbClr val="FFFFFF"/>
                </a:solidFill>
                <a:latin typeface="Garamond"/>
              </a:rPr>
              <a:t>Kép</a:t>
            </a:r>
            <a:r>
              <a:rPr sz="2200" b="1" dirty="0">
                <a:solidFill>
                  <a:srgbClr val="FFFFFF"/>
                </a:solidFill>
                <a:latin typeface="Garamond"/>
              </a:rPr>
              <a:t> </a:t>
            </a:r>
            <a:r>
              <a:rPr sz="2200" b="1" dirty="0" err="1">
                <a:solidFill>
                  <a:srgbClr val="FFFFFF"/>
                </a:solidFill>
                <a:latin typeface="Garamond"/>
              </a:rPr>
              <a:t>és</a:t>
            </a:r>
            <a:r>
              <a:rPr sz="2200" b="1" dirty="0">
                <a:solidFill>
                  <a:srgbClr val="FFFFFF"/>
                </a:solidFill>
                <a:latin typeface="Garamond"/>
              </a:rPr>
              <a:t> </a:t>
            </a:r>
            <a:r>
              <a:rPr sz="2200" b="1" dirty="0" err="1">
                <a:solidFill>
                  <a:srgbClr val="FFFFFF"/>
                </a:solidFill>
                <a:latin typeface="Garamond"/>
              </a:rPr>
              <a:t>szöveg</a:t>
            </a:r>
            <a:r>
              <a:rPr sz="2200" b="1" dirty="0">
                <a:solidFill>
                  <a:srgbClr val="FFFFFF"/>
                </a:solidFill>
                <a:latin typeface="Garamond"/>
              </a:rPr>
              <a:t> – Lorem ipsum dolor sit </a:t>
            </a:r>
            <a:r>
              <a:rPr sz="2200" b="1" dirty="0" err="1">
                <a:solidFill>
                  <a:srgbClr val="FFFFFF"/>
                </a:solidFill>
                <a:latin typeface="Garamond"/>
              </a:rPr>
              <a:t>amet</a:t>
            </a:r>
            <a:endParaRPr sz="2200" b="1" dirty="0">
              <a:solidFill>
                <a:srgbClr val="FFFFFF"/>
              </a:solidFill>
              <a:latin typeface="Garamond"/>
            </a:endParaRPr>
          </a:p>
        </p:txBody>
      </p:sp>
      <p:cxnSp>
        <p:nvCxnSpPr>
          <p:cNvPr id="5" name="separator_footer"/>
          <p:cNvCxnSpPr>
            <a:cxnSpLocks/>
          </p:cNvCxnSpPr>
          <p:nvPr/>
        </p:nvCxnSpPr>
        <p:spPr>
          <a:xfrm>
            <a:off x="432000" y="6426000"/>
            <a:ext cx="11328119" cy="0"/>
          </a:xfrm>
          <a:prstGeom prst="line">
            <a:avLst/>
          </a:prstGeom>
          <a:ln w="12700">
            <a:solidFill>
              <a:srgbClr val="D0D8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ooter_date"/>
          <p:cNvSpPr txBox="1"/>
          <p:nvPr/>
        </p:nvSpPr>
        <p:spPr>
          <a:xfrm>
            <a:off x="432000" y="6462000"/>
            <a:ext cx="2160000" cy="32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>
                <a:solidFill>
                  <a:srgbClr val="7A8A9E"/>
                </a:solidFill>
                <a:latin typeface="Calibri"/>
              </a:rPr>
              <a:t>2026.05.20.</a:t>
            </a:r>
          </a:p>
        </p:txBody>
      </p:sp>
      <p:sp>
        <p:nvSpPr>
          <p:cNvPr id="7" name="footer_author"/>
          <p:cNvSpPr txBox="1"/>
          <p:nvPr/>
        </p:nvSpPr>
        <p:spPr>
          <a:xfrm>
            <a:off x="0" y="6462000"/>
            <a:ext cx="12192119" cy="32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 i="0">
                <a:solidFill>
                  <a:srgbClr val="7A8A9E"/>
                </a:solidFill>
                <a:latin typeface="Calibri"/>
              </a:rPr>
              <a:t>Dr. Hári László</a:t>
            </a:r>
          </a:p>
        </p:txBody>
      </p:sp>
      <p:sp>
        <p:nvSpPr>
          <p:cNvPr id="8" name="footer_page"/>
          <p:cNvSpPr txBox="1"/>
          <p:nvPr/>
        </p:nvSpPr>
        <p:spPr>
          <a:xfrm>
            <a:off x="10680119" y="6462000"/>
            <a:ext cx="1080000" cy="32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 i="0">
                <a:solidFill>
                  <a:srgbClr val="7A8A9E"/>
                </a:solidFill>
                <a:latin typeface="Calibri"/>
              </a:rPr>
              <a:t>4</a:t>
            </a:r>
          </a:p>
        </p:txBody>
      </p:sp>
      <p:cxnSp>
        <p:nvCxnSpPr>
          <p:cNvPr id="9" name="col_separator"/>
          <p:cNvCxnSpPr>
            <a:cxnSpLocks/>
          </p:cNvCxnSpPr>
          <p:nvPr/>
        </p:nvCxnSpPr>
        <p:spPr>
          <a:xfrm>
            <a:off x="6615903" y="1296000"/>
            <a:ext cx="0" cy="4986000"/>
          </a:xfrm>
          <a:prstGeom prst="line">
            <a:avLst/>
          </a:prstGeom>
          <a:ln w="12700">
            <a:solidFill>
              <a:srgbClr val="D0D8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ol_left_body"/>
          <p:cNvSpPr txBox="1"/>
          <p:nvPr/>
        </p:nvSpPr>
        <p:spPr>
          <a:xfrm>
            <a:off x="432000" y="1296000"/>
            <a:ext cx="6003903" cy="22544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100"/>
              </a:spcAft>
            </a:pPr>
            <a:r>
              <a:rPr sz="1600" b="1" dirty="0">
                <a:solidFill>
                  <a:srgbClr val="D4622A"/>
                </a:solidFill>
                <a:latin typeface="Aptos" panose="020B0004020202020204" pitchFamily="34" charset="0"/>
              </a:rPr>
              <a:t>▸ 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Első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pont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: Lorem ipsum dolor sit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amet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,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consectetur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adipiscing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elit</a:t>
            </a:r>
            <a:endParaRPr sz="1600" dirty="0">
              <a:solidFill>
                <a:srgbClr val="1A1A2E"/>
              </a:solidFill>
              <a:latin typeface="Aptos" panose="020B0004020202020204" pitchFamily="34" charset="0"/>
            </a:endParaRPr>
          </a:p>
          <a:p>
            <a:pPr algn="l">
              <a:spcBef>
                <a:spcPts val="400"/>
              </a:spcBef>
              <a:spcAft>
                <a:spcPts val="100"/>
              </a:spcAft>
            </a:pPr>
            <a:r>
              <a:rPr sz="1600" b="1" dirty="0">
                <a:solidFill>
                  <a:srgbClr val="D4622A"/>
                </a:solidFill>
                <a:latin typeface="Aptos" panose="020B0004020202020204" pitchFamily="34" charset="0"/>
              </a:rPr>
              <a:t>▸ 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Második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pont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: Sed do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eiusmod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tempor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incididunt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ut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 labore et dolore magna</a:t>
            </a:r>
          </a:p>
          <a:p>
            <a:pPr algn="l">
              <a:spcBef>
                <a:spcPts val="400"/>
              </a:spcBef>
              <a:spcAft>
                <a:spcPts val="100"/>
              </a:spcAft>
            </a:pPr>
            <a:r>
              <a:rPr sz="1600" b="1" dirty="0">
                <a:solidFill>
                  <a:srgbClr val="D4622A"/>
                </a:solidFill>
                <a:latin typeface="Aptos" panose="020B0004020202020204" pitchFamily="34" charset="0"/>
              </a:rPr>
              <a:t>▸ 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Harmadik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pont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: Ut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enim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 ad minim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veniam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, quis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nostrud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 exercitation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ullamco</a:t>
            </a:r>
            <a:endParaRPr sz="1600" dirty="0">
              <a:solidFill>
                <a:srgbClr val="1A1A2E"/>
              </a:solidFill>
              <a:latin typeface="Aptos" panose="020B0004020202020204" pitchFamily="34" charset="0"/>
            </a:endParaRPr>
          </a:p>
          <a:p>
            <a:pPr algn="l">
              <a:spcBef>
                <a:spcPts val="400"/>
              </a:spcBef>
              <a:spcAft>
                <a:spcPts val="100"/>
              </a:spcAft>
            </a:pPr>
            <a:r>
              <a:rPr sz="1600" b="1" dirty="0">
                <a:solidFill>
                  <a:srgbClr val="D4622A"/>
                </a:solidFill>
                <a:latin typeface="Aptos" panose="020B0004020202020204" pitchFamily="34" charset="0"/>
              </a:rPr>
              <a:t>▸ 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Negyedik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pont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: Duis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aute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irure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 dolor in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reprehenderit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 in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voluptate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velit</a:t>
            </a:r>
            <a:endParaRPr sz="1600" dirty="0">
              <a:solidFill>
                <a:srgbClr val="1A1A2E"/>
              </a:solidFill>
              <a:latin typeface="Aptos" panose="020B0004020202020204" pitchFamily="34" charset="0"/>
            </a:endParaRPr>
          </a:p>
        </p:txBody>
      </p:sp>
      <p:sp>
        <p:nvSpPr>
          <p:cNvPr id="11" name="col_right_image"/>
          <p:cNvSpPr/>
          <p:nvPr/>
        </p:nvSpPr>
        <p:spPr>
          <a:xfrm>
            <a:off x="6795903" y="1296000"/>
            <a:ext cx="4964216" cy="3739500"/>
          </a:xfrm>
          <a:prstGeom prst="rect">
            <a:avLst/>
          </a:prstGeom>
          <a:solidFill>
            <a:srgbClr val="E8EDF3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i="1">
                <a:solidFill>
                  <a:srgbClr val="7A8A9E"/>
                </a:solidFill>
                <a:latin typeface="Aptos" panose="020B0004020202020204" pitchFamily="34" charset="0"/>
              </a:rPr>
              <a:t>[Kép / ábra helye]</a:t>
            </a:r>
          </a:p>
        </p:txBody>
      </p:sp>
      <p:sp>
        <p:nvSpPr>
          <p:cNvPr id="12" name="figure_caption"/>
          <p:cNvSpPr txBox="1"/>
          <p:nvPr/>
        </p:nvSpPr>
        <p:spPr>
          <a:xfrm>
            <a:off x="6795903" y="5107500"/>
            <a:ext cx="496421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1">
                <a:solidFill>
                  <a:srgbClr val="D4622A"/>
                </a:solidFill>
                <a:latin typeface="Aptos" panose="020B0004020202020204" pitchFamily="34" charset="0"/>
              </a:rPr>
              <a:t>1. ábra: </a:t>
            </a:r>
            <a:r>
              <a:rPr sz="1600" b="0" i="1">
                <a:solidFill>
                  <a:srgbClr val="4A5A6E"/>
                </a:solidFill>
                <a:latin typeface="Aptos" panose="020B0004020202020204" pitchFamily="34" charset="0"/>
              </a:rPr>
              <a:t>Az ábra rövid leírása lorem ipsum</a:t>
            </a:r>
          </a:p>
        </p:txBody>
      </p:sp>
      <p:pic>
        <p:nvPicPr>
          <p:cNvPr id="13" name="logo_small" descr="due_logo_pici.png">
            <a:extLst>
              <a:ext uri="{FF2B5EF4-FFF2-40B4-BE49-F238E27FC236}">
                <a16:creationId xmlns:a16="http://schemas.microsoft.com/office/drawing/2014/main" id="{777FF3AA-D68E-ABE6-C200-8F7DD6BFA7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256119" y="152426"/>
            <a:ext cx="792000" cy="77514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bar_bg"/>
          <p:cNvSpPr/>
          <p:nvPr/>
        </p:nvSpPr>
        <p:spPr>
          <a:xfrm>
            <a:off x="0" y="0"/>
            <a:ext cx="12192119" cy="1080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slide_title"/>
          <p:cNvSpPr txBox="1"/>
          <p:nvPr/>
        </p:nvSpPr>
        <p:spPr>
          <a:xfrm>
            <a:off x="432000" y="108000"/>
            <a:ext cx="10248119" cy="9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Garamond"/>
              </a:rPr>
              <a:t>Ábra – Lorem ipsum vizualizáció</a:t>
            </a:r>
          </a:p>
        </p:txBody>
      </p:sp>
      <p:cxnSp>
        <p:nvCxnSpPr>
          <p:cNvPr id="5" name="separator_footer"/>
          <p:cNvCxnSpPr/>
          <p:nvPr/>
        </p:nvCxnSpPr>
        <p:spPr>
          <a:xfrm>
            <a:off x="432000" y="6426000"/>
            <a:ext cx="11328119" cy="0"/>
          </a:xfrm>
          <a:prstGeom prst="line">
            <a:avLst/>
          </a:prstGeom>
          <a:ln w="9525">
            <a:solidFill>
              <a:srgbClr val="D0D8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ooter_date"/>
          <p:cNvSpPr txBox="1"/>
          <p:nvPr/>
        </p:nvSpPr>
        <p:spPr>
          <a:xfrm>
            <a:off x="432000" y="6462000"/>
            <a:ext cx="2160000" cy="32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>
                <a:solidFill>
                  <a:srgbClr val="7A8A9E"/>
                </a:solidFill>
                <a:latin typeface="Calibri"/>
              </a:rPr>
              <a:t>2026.05.20.</a:t>
            </a:r>
          </a:p>
        </p:txBody>
      </p:sp>
      <p:sp>
        <p:nvSpPr>
          <p:cNvPr id="7" name="footer_author"/>
          <p:cNvSpPr txBox="1"/>
          <p:nvPr/>
        </p:nvSpPr>
        <p:spPr>
          <a:xfrm>
            <a:off x="0" y="6462000"/>
            <a:ext cx="12192119" cy="32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 i="0">
                <a:solidFill>
                  <a:srgbClr val="7A8A9E"/>
                </a:solidFill>
                <a:latin typeface="Calibri"/>
              </a:rPr>
              <a:t>Dr. Hári László</a:t>
            </a:r>
          </a:p>
        </p:txBody>
      </p:sp>
      <p:sp>
        <p:nvSpPr>
          <p:cNvPr id="8" name="footer_page"/>
          <p:cNvSpPr txBox="1"/>
          <p:nvPr/>
        </p:nvSpPr>
        <p:spPr>
          <a:xfrm>
            <a:off x="10680119" y="6462000"/>
            <a:ext cx="1080000" cy="32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 i="0">
                <a:solidFill>
                  <a:srgbClr val="7A8A9E"/>
                </a:solidFill>
                <a:latin typeface="Calibri"/>
              </a:rPr>
              <a:t>5</a:t>
            </a:r>
          </a:p>
        </p:txBody>
      </p:sp>
      <p:sp>
        <p:nvSpPr>
          <p:cNvPr id="9" name="figure_image"/>
          <p:cNvSpPr/>
          <p:nvPr/>
        </p:nvSpPr>
        <p:spPr>
          <a:xfrm>
            <a:off x="432000" y="1296000"/>
            <a:ext cx="11328119" cy="4410000"/>
          </a:xfrm>
          <a:prstGeom prst="rect">
            <a:avLst/>
          </a:prstGeom>
          <a:solidFill>
            <a:srgbClr val="E8EDF3"/>
          </a:solidFill>
          <a:ln w="9525">
            <a:solidFill>
              <a:srgbClr val="D0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i="1" dirty="0">
                <a:solidFill>
                  <a:srgbClr val="7A8A9E"/>
                </a:solidFill>
                <a:latin typeface="Aptos" panose="020B0004020202020204" pitchFamily="34" charset="0"/>
              </a:rPr>
              <a:t>[</a:t>
            </a:r>
            <a:r>
              <a:rPr sz="1600" i="1" dirty="0" err="1">
                <a:solidFill>
                  <a:srgbClr val="7A8A9E"/>
                </a:solidFill>
                <a:latin typeface="Aptos" panose="020B0004020202020204" pitchFamily="34" charset="0"/>
              </a:rPr>
              <a:t>Ábra</a:t>
            </a:r>
            <a:r>
              <a:rPr sz="1600" i="1" dirty="0">
                <a:solidFill>
                  <a:srgbClr val="7A8A9E"/>
                </a:solidFill>
                <a:latin typeface="Aptos" panose="020B0004020202020204" pitchFamily="34" charset="0"/>
              </a:rPr>
              <a:t> </a:t>
            </a:r>
            <a:r>
              <a:rPr sz="1600" i="1" dirty="0" err="1">
                <a:solidFill>
                  <a:srgbClr val="7A8A9E"/>
                </a:solidFill>
                <a:latin typeface="Aptos" panose="020B0004020202020204" pitchFamily="34" charset="0"/>
              </a:rPr>
              <a:t>helye</a:t>
            </a:r>
            <a:r>
              <a:rPr sz="1600" i="1" dirty="0">
                <a:solidFill>
                  <a:srgbClr val="7A8A9E"/>
                </a:solidFill>
                <a:latin typeface="Aptos" panose="020B0004020202020204" pitchFamily="34" charset="0"/>
              </a:rPr>
              <a:t> – </a:t>
            </a:r>
            <a:r>
              <a:rPr sz="1600" i="1" dirty="0" err="1">
                <a:solidFill>
                  <a:srgbClr val="7A8A9E"/>
                </a:solidFill>
                <a:latin typeface="Aptos" panose="020B0004020202020204" pitchFamily="34" charset="0"/>
              </a:rPr>
              <a:t>cseréld</a:t>
            </a:r>
            <a:r>
              <a:rPr sz="1600" i="1" dirty="0">
                <a:solidFill>
                  <a:srgbClr val="7A8A9E"/>
                </a:solidFill>
                <a:latin typeface="Aptos" panose="020B0004020202020204" pitchFamily="34" charset="0"/>
              </a:rPr>
              <a:t> le </a:t>
            </a:r>
            <a:r>
              <a:rPr sz="1600" i="1" dirty="0" err="1">
                <a:solidFill>
                  <a:srgbClr val="7A8A9E"/>
                </a:solidFill>
                <a:latin typeface="Aptos" panose="020B0004020202020204" pitchFamily="34" charset="0"/>
              </a:rPr>
              <a:t>add_picture</a:t>
            </a:r>
            <a:r>
              <a:rPr sz="1600" i="1" dirty="0">
                <a:solidFill>
                  <a:srgbClr val="7A8A9E"/>
                </a:solidFill>
                <a:latin typeface="Aptos" panose="020B0004020202020204" pitchFamily="34" charset="0"/>
              </a:rPr>
              <a:t>()-</a:t>
            </a:r>
            <a:r>
              <a:rPr sz="1600" i="1" dirty="0" err="1">
                <a:solidFill>
                  <a:srgbClr val="7A8A9E"/>
                </a:solidFill>
                <a:latin typeface="Aptos" panose="020B0004020202020204" pitchFamily="34" charset="0"/>
              </a:rPr>
              <a:t>rel</a:t>
            </a:r>
            <a:r>
              <a:rPr sz="1600" i="1" dirty="0">
                <a:solidFill>
                  <a:srgbClr val="7A8A9E"/>
                </a:solidFill>
                <a:latin typeface="Aptos" panose="020B0004020202020204" pitchFamily="34" charset="0"/>
              </a:rPr>
              <a:t>]</a:t>
            </a:r>
          </a:p>
        </p:txBody>
      </p:sp>
      <p:cxnSp>
        <p:nvCxnSpPr>
          <p:cNvPr id="10" name="figure_separator"/>
          <p:cNvCxnSpPr/>
          <p:nvPr/>
        </p:nvCxnSpPr>
        <p:spPr>
          <a:xfrm>
            <a:off x="432000" y="5742000"/>
            <a:ext cx="11328119" cy="0"/>
          </a:xfrm>
          <a:prstGeom prst="line">
            <a:avLst/>
          </a:prstGeom>
          <a:ln w="6350">
            <a:solidFill>
              <a:srgbClr val="D0D8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figure_caption"/>
          <p:cNvSpPr txBox="1"/>
          <p:nvPr/>
        </p:nvSpPr>
        <p:spPr>
          <a:xfrm>
            <a:off x="432000" y="5814000"/>
            <a:ext cx="1132811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1">
                <a:solidFill>
                  <a:srgbClr val="D4622A"/>
                </a:solidFill>
                <a:latin typeface="Aptos" panose="020B0004020202020204" pitchFamily="34" charset="0"/>
              </a:rPr>
              <a:t>1. ábra: </a:t>
            </a:r>
            <a:r>
              <a:rPr sz="1600" b="0" i="1">
                <a:solidFill>
                  <a:srgbClr val="4A5A6E"/>
                </a:solidFill>
                <a:latin typeface="Aptos" panose="020B0004020202020204" pitchFamily="34" charset="0"/>
              </a:rPr>
              <a:t>Az ábra részletes felirata – lorem ipsum dolor sit amet consectetur</a:t>
            </a:r>
          </a:p>
        </p:txBody>
      </p:sp>
      <p:pic>
        <p:nvPicPr>
          <p:cNvPr id="12" name="logo_small" descr="due_logo_pici.png">
            <a:extLst>
              <a:ext uri="{FF2B5EF4-FFF2-40B4-BE49-F238E27FC236}">
                <a16:creationId xmlns:a16="http://schemas.microsoft.com/office/drawing/2014/main" id="{E8603FF6-8E4E-97FB-D9D4-070EF06154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256119" y="152426"/>
            <a:ext cx="792000" cy="77514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bar_bg"/>
          <p:cNvSpPr/>
          <p:nvPr/>
        </p:nvSpPr>
        <p:spPr>
          <a:xfrm>
            <a:off x="0" y="0"/>
            <a:ext cx="12192119" cy="1080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slide_title"/>
          <p:cNvSpPr txBox="1"/>
          <p:nvPr/>
        </p:nvSpPr>
        <p:spPr>
          <a:xfrm>
            <a:off x="432000" y="108000"/>
            <a:ext cx="10248119" cy="9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Garamond"/>
              </a:rPr>
              <a:t>Táblázat – Lorem ipsum adatok</a:t>
            </a:r>
          </a:p>
        </p:txBody>
      </p:sp>
      <p:cxnSp>
        <p:nvCxnSpPr>
          <p:cNvPr id="5" name="separator_footer"/>
          <p:cNvCxnSpPr/>
          <p:nvPr/>
        </p:nvCxnSpPr>
        <p:spPr>
          <a:xfrm>
            <a:off x="432000" y="6426000"/>
            <a:ext cx="11328119" cy="0"/>
          </a:xfrm>
          <a:prstGeom prst="line">
            <a:avLst/>
          </a:prstGeom>
          <a:ln w="9525">
            <a:solidFill>
              <a:srgbClr val="D0D8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ooter_date"/>
          <p:cNvSpPr txBox="1"/>
          <p:nvPr/>
        </p:nvSpPr>
        <p:spPr>
          <a:xfrm>
            <a:off x="432000" y="6462000"/>
            <a:ext cx="2160000" cy="32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>
                <a:solidFill>
                  <a:srgbClr val="7A8A9E"/>
                </a:solidFill>
                <a:latin typeface="Calibri"/>
              </a:rPr>
              <a:t>2026.05.20.</a:t>
            </a:r>
          </a:p>
        </p:txBody>
      </p:sp>
      <p:sp>
        <p:nvSpPr>
          <p:cNvPr id="7" name="footer_author"/>
          <p:cNvSpPr txBox="1"/>
          <p:nvPr/>
        </p:nvSpPr>
        <p:spPr>
          <a:xfrm>
            <a:off x="0" y="6462000"/>
            <a:ext cx="12192119" cy="32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 i="0">
                <a:solidFill>
                  <a:srgbClr val="7A8A9E"/>
                </a:solidFill>
                <a:latin typeface="Calibri"/>
              </a:rPr>
              <a:t>Dr. Hári László</a:t>
            </a:r>
          </a:p>
        </p:txBody>
      </p:sp>
      <p:sp>
        <p:nvSpPr>
          <p:cNvPr id="8" name="footer_page"/>
          <p:cNvSpPr txBox="1"/>
          <p:nvPr/>
        </p:nvSpPr>
        <p:spPr>
          <a:xfrm>
            <a:off x="10680119" y="6462000"/>
            <a:ext cx="1080000" cy="32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 i="0">
                <a:solidFill>
                  <a:srgbClr val="7A8A9E"/>
                </a:solidFill>
                <a:latin typeface="Calibri"/>
              </a:rPr>
              <a:t>6</a:t>
            </a:r>
          </a:p>
        </p:txBody>
      </p:sp>
      <p:sp>
        <p:nvSpPr>
          <p:cNvPr id="9" name="table_title"/>
          <p:cNvSpPr txBox="1"/>
          <p:nvPr/>
        </p:nvSpPr>
        <p:spPr>
          <a:xfrm>
            <a:off x="432000" y="1296000"/>
            <a:ext cx="1132811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1">
                <a:solidFill>
                  <a:srgbClr val="D4622A"/>
                </a:solidFill>
                <a:latin typeface="Aptos" panose="020B0004020202020204" pitchFamily="34" charset="0"/>
              </a:rPr>
              <a:t>1. táblázat: </a:t>
            </a:r>
            <a:r>
              <a:rPr sz="1600" b="0" i="1">
                <a:solidFill>
                  <a:srgbClr val="4A5A6E"/>
                </a:solidFill>
                <a:latin typeface="Aptos" panose="020B0004020202020204" pitchFamily="34" charset="0"/>
              </a:rPr>
              <a:t>Összefoglaló adatok – lorem ipsum measurement results</a:t>
            </a:r>
          </a:p>
        </p:txBody>
      </p:sp>
      <p:cxnSp>
        <p:nvCxnSpPr>
          <p:cNvPr id="10" name="table_title_separator"/>
          <p:cNvCxnSpPr/>
          <p:nvPr/>
        </p:nvCxnSpPr>
        <p:spPr>
          <a:xfrm>
            <a:off x="432000" y="1656000"/>
            <a:ext cx="11328119" cy="0"/>
          </a:xfrm>
          <a:prstGeom prst="line">
            <a:avLst/>
          </a:prstGeom>
          <a:ln w="6350">
            <a:solidFill>
              <a:srgbClr val="D0D8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224365"/>
              </p:ext>
            </p:extLst>
          </p:nvPr>
        </p:nvGraphicFramePr>
        <p:xfrm>
          <a:off x="432000" y="1728000"/>
          <a:ext cx="11328119" cy="455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20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20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20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320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10800">
                <a:tc>
                  <a:txBody>
                    <a:bodyPr/>
                    <a:lstStyle/>
                    <a:p>
                      <a:pPr algn="ctr"/>
                      <a:r>
                        <a:rPr sz="1600" b="1" dirty="0" err="1">
                          <a:solidFill>
                            <a:srgbClr val="FFFFFF"/>
                          </a:solidFill>
                          <a:latin typeface="Aptos" panose="020B0004020202020204" pitchFamily="34" charset="0"/>
                        </a:rPr>
                        <a:t>Paraméter</a:t>
                      </a:r>
                      <a:endParaRPr sz="1600" b="1" dirty="0">
                        <a:solidFill>
                          <a:srgbClr val="FFFFFF"/>
                        </a:solidFill>
                        <a:latin typeface="Aptos" panose="020B0004020202020204" pitchFamily="34" charset="0"/>
                      </a:endParaRPr>
                    </a:p>
                  </a:txBody>
                  <a:tcPr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Aptos" panose="020B0004020202020204" pitchFamily="34" charset="0"/>
                        </a:rPr>
                        <a:t>Mértékegység</a:t>
                      </a:r>
                    </a:p>
                  </a:txBody>
                  <a:tcPr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Aptos" panose="020B0004020202020204" pitchFamily="34" charset="0"/>
                        </a:rPr>
                        <a:t>Mért érték</a:t>
                      </a:r>
                    </a:p>
                  </a:txBody>
                  <a:tcPr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Aptos" panose="020B0004020202020204" pitchFamily="34" charset="0"/>
                        </a:rPr>
                        <a:t>Referencia</a:t>
                      </a:r>
                    </a:p>
                  </a:txBody>
                  <a:tcPr>
                    <a:solidFill>
                      <a:srgbClr val="0D1B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08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A1A2E"/>
                          </a:solidFill>
                          <a:latin typeface="Aptos" panose="020B0004020202020204" pitchFamily="34" charset="0"/>
                        </a:rPr>
                        <a:t>Lorem ipsum A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2E"/>
                          </a:solidFill>
                          <a:latin typeface="Aptos" panose="020B0004020202020204" pitchFamily="34" charset="0"/>
                        </a:rPr>
                        <a:t>mm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2E"/>
                          </a:solidFill>
                          <a:latin typeface="Aptos" panose="020B0004020202020204" pitchFamily="34" charset="0"/>
                        </a:rPr>
                        <a:t>12,4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2E"/>
                          </a:solidFill>
                          <a:latin typeface="Aptos" panose="020B0004020202020204" pitchFamily="34" charset="0"/>
                        </a:rPr>
                        <a:t>10–15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08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A1A2E"/>
                          </a:solidFill>
                          <a:latin typeface="Aptos" panose="020B0004020202020204" pitchFamily="34" charset="0"/>
                        </a:rPr>
                        <a:t>Lorem ipsum 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2E"/>
                          </a:solidFill>
                          <a:latin typeface="Aptos" panose="020B0004020202020204" pitchFamily="34" charset="0"/>
                        </a:rPr>
                        <a:t>Hz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2E"/>
                          </a:solidFill>
                          <a:latin typeface="Aptos" panose="020B0004020202020204" pitchFamily="34" charset="0"/>
                        </a:rPr>
                        <a:t>120,0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2E"/>
                          </a:solidFill>
                          <a:latin typeface="Aptos" panose="020B0004020202020204" pitchFamily="34" charset="0"/>
                        </a:rPr>
                        <a:t>100–140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08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A1A2E"/>
                          </a:solidFill>
                          <a:latin typeface="Aptos" panose="020B0004020202020204" pitchFamily="34" charset="0"/>
                        </a:rPr>
                        <a:t>Lorem ipsum C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2E"/>
                          </a:solidFill>
                          <a:latin typeface="Aptos" panose="020B0004020202020204" pitchFamily="34" charset="0"/>
                        </a:rPr>
                        <a:t>kPa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2E"/>
                          </a:solidFill>
                          <a:latin typeface="Aptos" panose="020B0004020202020204" pitchFamily="34" charset="0"/>
                        </a:rPr>
                        <a:t>0,82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2E"/>
                          </a:solidFill>
                          <a:latin typeface="Aptos" panose="020B0004020202020204" pitchFamily="34" charset="0"/>
                        </a:rPr>
                        <a:t>0,70–0,90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108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A1A2E"/>
                          </a:solidFill>
                          <a:latin typeface="Aptos" panose="020B0004020202020204" pitchFamily="34" charset="0"/>
                        </a:rPr>
                        <a:t>Lorem ipsum 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2E"/>
                          </a:solidFill>
                          <a:latin typeface="Aptos" panose="020B0004020202020204" pitchFamily="34" charset="0"/>
                        </a:rPr>
                        <a:t>°C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2E"/>
                          </a:solidFill>
                          <a:latin typeface="Aptos" panose="020B0004020202020204" pitchFamily="34" charset="0"/>
                        </a:rPr>
                        <a:t>38,5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>
                          <a:solidFill>
                            <a:srgbClr val="1A1A2E"/>
                          </a:solidFill>
                          <a:latin typeface="Aptos" panose="020B0004020202020204" pitchFamily="34" charset="0"/>
                        </a:rPr>
                        <a:t>35–42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12" name="logo_small" descr="due_logo_pici.png">
            <a:extLst>
              <a:ext uri="{FF2B5EF4-FFF2-40B4-BE49-F238E27FC236}">
                <a16:creationId xmlns:a16="http://schemas.microsoft.com/office/drawing/2014/main" id="{EAE58600-92A8-ECDF-D883-EBC730E93B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256119" y="152426"/>
            <a:ext cx="792000" cy="77514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bar_bg"/>
          <p:cNvSpPr/>
          <p:nvPr/>
        </p:nvSpPr>
        <p:spPr>
          <a:xfrm>
            <a:off x="0" y="0"/>
            <a:ext cx="12192119" cy="1080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slide_title"/>
          <p:cNvSpPr txBox="1"/>
          <p:nvPr/>
        </p:nvSpPr>
        <p:spPr>
          <a:xfrm>
            <a:off x="432000" y="327167"/>
            <a:ext cx="10248119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hu-HU" sz="2400" b="0" dirty="0">
                <a:solidFill>
                  <a:srgbClr val="FFFFFF"/>
                </a:solidFill>
                <a:latin typeface="Aptos"/>
              </a:rPr>
              <a:t>Irodalomjegyzék</a:t>
            </a:r>
          </a:p>
        </p:txBody>
      </p:sp>
      <p:cxnSp>
        <p:nvCxnSpPr>
          <p:cNvPr id="5" name="separator_footer"/>
          <p:cNvCxnSpPr/>
          <p:nvPr/>
        </p:nvCxnSpPr>
        <p:spPr>
          <a:xfrm>
            <a:off x="432000" y="6426000"/>
            <a:ext cx="11328119" cy="0"/>
          </a:xfrm>
          <a:prstGeom prst="line">
            <a:avLst/>
          </a:prstGeom>
          <a:ln w="9525">
            <a:solidFill>
              <a:srgbClr val="D0D8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ooter_date"/>
          <p:cNvSpPr txBox="1"/>
          <p:nvPr/>
        </p:nvSpPr>
        <p:spPr>
          <a:xfrm>
            <a:off x="432000" y="6462000"/>
            <a:ext cx="2160000" cy="32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>
                <a:solidFill>
                  <a:srgbClr val="7A8A9E"/>
                </a:solidFill>
                <a:latin typeface="Calibri"/>
              </a:rPr>
              <a:t>2026.05.20.</a:t>
            </a:r>
          </a:p>
        </p:txBody>
      </p:sp>
      <p:sp>
        <p:nvSpPr>
          <p:cNvPr id="7" name="footer_author"/>
          <p:cNvSpPr txBox="1"/>
          <p:nvPr/>
        </p:nvSpPr>
        <p:spPr>
          <a:xfrm>
            <a:off x="0" y="6462000"/>
            <a:ext cx="12192119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0">
                <a:solidFill>
                  <a:srgbClr val="7A8A9E"/>
                </a:solidFill>
                <a:latin typeface="Aptos" panose="020B0004020202020204" pitchFamily="34" charset="0"/>
              </a:rPr>
              <a:t>Dr. Hári László</a:t>
            </a:r>
          </a:p>
        </p:txBody>
      </p:sp>
      <p:sp>
        <p:nvSpPr>
          <p:cNvPr id="8" name="footer_page"/>
          <p:cNvSpPr txBox="1"/>
          <p:nvPr/>
        </p:nvSpPr>
        <p:spPr>
          <a:xfrm>
            <a:off x="10680119" y="6462000"/>
            <a:ext cx="1080000" cy="32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 i="0">
                <a:solidFill>
                  <a:srgbClr val="7A8A9E"/>
                </a:solidFill>
                <a:latin typeface="Calibri"/>
              </a:rPr>
              <a:t>2</a:t>
            </a:r>
          </a:p>
        </p:txBody>
      </p:sp>
      <p:sp>
        <p:nvSpPr>
          <p:cNvPr id="9" name="content_body"/>
          <p:cNvSpPr txBox="1"/>
          <p:nvPr/>
        </p:nvSpPr>
        <p:spPr>
          <a:xfrm>
            <a:off x="432000" y="1296000"/>
            <a:ext cx="11328119" cy="16030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l">
              <a:spcBef>
                <a:spcPts val="300"/>
              </a:spcBef>
              <a:spcAft>
                <a:spcPts val="100"/>
              </a:spcAft>
            </a:pPr>
            <a:r>
              <a:rPr lang="hu-HU" sz="1400" dirty="0">
                <a:solidFill>
                  <a:srgbClr val="ED7D31"/>
                </a:solidFill>
                <a:latin typeface="Aptos"/>
              </a:rPr>
              <a:t>[1]</a:t>
            </a:r>
            <a:r>
              <a:rPr lang="hu-HU" sz="1400" dirty="0">
                <a:solidFill>
                  <a:srgbClr val="212121"/>
                </a:solidFill>
                <a:latin typeface="Aptos"/>
              </a:rPr>
              <a:t>	Szerző, A. (2023). A cím. Kiadó, Város.</a:t>
            </a:r>
          </a:p>
          <a:p>
            <a:pPr marL="457200" indent="-457200" algn="l">
              <a:spcBef>
                <a:spcPts val="300"/>
              </a:spcBef>
              <a:spcAft>
                <a:spcPts val="100"/>
              </a:spcAft>
            </a:pPr>
            <a:r>
              <a:rPr lang="hu-HU" sz="1400" dirty="0">
                <a:solidFill>
                  <a:srgbClr val="ED7D31"/>
                </a:solidFill>
                <a:latin typeface="Aptos"/>
              </a:rPr>
              <a:t>[2]</a:t>
            </a:r>
            <a:r>
              <a:rPr lang="hu-HU" sz="1400" dirty="0">
                <a:solidFill>
                  <a:srgbClr val="212121"/>
                </a:solidFill>
                <a:latin typeface="Aptos"/>
              </a:rPr>
              <a:t>	Szerző, B. – Szerző, C. (2022). Cím. Folyóirat neve, 10(2), 45–67.</a:t>
            </a:r>
          </a:p>
          <a:p>
            <a:pPr marL="457200" indent="-457200" algn="l">
              <a:spcBef>
                <a:spcPts val="300"/>
              </a:spcBef>
              <a:spcAft>
                <a:spcPts val="100"/>
              </a:spcAft>
            </a:pPr>
            <a:r>
              <a:rPr lang="hu-HU" sz="1400" dirty="0">
                <a:solidFill>
                  <a:srgbClr val="ED7D31"/>
                </a:solidFill>
                <a:latin typeface="Aptos"/>
              </a:rPr>
              <a:t>[3]</a:t>
            </a:r>
            <a:r>
              <a:rPr lang="hu-HU" sz="1400" dirty="0">
                <a:solidFill>
                  <a:srgbClr val="212121"/>
                </a:solidFill>
                <a:latin typeface="Aptos"/>
              </a:rPr>
              <a:t>	Szerző, D. (2021). Fejezet címe. In: Szerkesztő (szerk.), Könyv. Kiadó.</a:t>
            </a:r>
          </a:p>
          <a:p>
            <a:pPr marL="457200" indent="-457200" algn="l">
              <a:spcBef>
                <a:spcPts val="300"/>
              </a:spcBef>
              <a:spcAft>
                <a:spcPts val="100"/>
              </a:spcAft>
            </a:pPr>
            <a:r>
              <a:rPr lang="hu-HU" sz="1400" dirty="0">
                <a:solidFill>
                  <a:srgbClr val="ED7D31"/>
                </a:solidFill>
                <a:latin typeface="Aptos"/>
              </a:rPr>
              <a:t>[4]</a:t>
            </a:r>
            <a:r>
              <a:rPr lang="hu-HU" sz="1400" dirty="0">
                <a:solidFill>
                  <a:srgbClr val="212121"/>
                </a:solidFill>
                <a:latin typeface="Aptos"/>
              </a:rPr>
              <a:t>	Szerző, E. (2020). Weboldal neve. URL: https://example.com [Letöltve: 2024]</a:t>
            </a:r>
          </a:p>
          <a:p>
            <a:pPr marL="457200" indent="-457200" algn="l">
              <a:spcBef>
                <a:spcPts val="300"/>
              </a:spcBef>
              <a:spcAft>
                <a:spcPts val="100"/>
              </a:spcAft>
            </a:pPr>
            <a:r>
              <a:rPr lang="hu-HU" sz="1400" dirty="0">
                <a:solidFill>
                  <a:srgbClr val="ED7D31"/>
                </a:solidFill>
                <a:latin typeface="Aptos"/>
              </a:rPr>
              <a:t>[5]</a:t>
            </a:r>
            <a:r>
              <a:rPr lang="hu-HU" sz="1400" dirty="0">
                <a:solidFill>
                  <a:srgbClr val="212121"/>
                </a:solidFill>
                <a:latin typeface="Aptos"/>
              </a:rPr>
              <a:t>	Szerző, F. (2019). Konferencia-előadás. In: Konferencia neve, 123–130.</a:t>
            </a:r>
          </a:p>
          <a:p>
            <a:endParaRPr sz="1400" dirty="0">
              <a:solidFill>
                <a:srgbClr val="212121"/>
              </a:solidFill>
              <a:latin typeface="Aptos"/>
            </a:endParaRPr>
          </a:p>
        </p:txBody>
      </p:sp>
      <p:pic>
        <p:nvPicPr>
          <p:cNvPr id="10" name="logo_small" descr="due_logo_pici.png">
            <a:extLst>
              <a:ext uri="{FF2B5EF4-FFF2-40B4-BE49-F238E27FC236}">
                <a16:creationId xmlns:a16="http://schemas.microsoft.com/office/drawing/2014/main" id="{63779CA6-65B5-658D-4353-BAB20F18A0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256119" y="152426"/>
            <a:ext cx="792000" cy="775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8877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bar_bg"/>
          <p:cNvSpPr/>
          <p:nvPr/>
        </p:nvSpPr>
        <p:spPr>
          <a:xfrm>
            <a:off x="0" y="0"/>
            <a:ext cx="12192119" cy="1080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slide_title"/>
          <p:cNvSpPr txBox="1"/>
          <p:nvPr/>
        </p:nvSpPr>
        <p:spPr>
          <a:xfrm>
            <a:off x="432000" y="327167"/>
            <a:ext cx="10248119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endParaRPr sz="2400" dirty="0"/>
          </a:p>
        </p:txBody>
      </p:sp>
      <p:cxnSp>
        <p:nvCxnSpPr>
          <p:cNvPr id="5" name="separator_footer"/>
          <p:cNvCxnSpPr/>
          <p:nvPr/>
        </p:nvCxnSpPr>
        <p:spPr>
          <a:xfrm>
            <a:off x="432000" y="6426000"/>
            <a:ext cx="11328119" cy="0"/>
          </a:xfrm>
          <a:prstGeom prst="line">
            <a:avLst/>
          </a:prstGeom>
          <a:ln w="9525">
            <a:solidFill>
              <a:srgbClr val="D0D8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ooter_date"/>
          <p:cNvSpPr txBox="1"/>
          <p:nvPr/>
        </p:nvSpPr>
        <p:spPr>
          <a:xfrm>
            <a:off x="432000" y="6462000"/>
            <a:ext cx="2160000" cy="32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>
                <a:solidFill>
                  <a:srgbClr val="7A8A9E"/>
                </a:solidFill>
                <a:latin typeface="Calibri"/>
              </a:rPr>
              <a:t>2026.05.20.</a:t>
            </a:r>
          </a:p>
        </p:txBody>
      </p:sp>
      <p:sp>
        <p:nvSpPr>
          <p:cNvPr id="7" name="footer_author"/>
          <p:cNvSpPr txBox="1"/>
          <p:nvPr/>
        </p:nvSpPr>
        <p:spPr>
          <a:xfrm>
            <a:off x="0" y="6462000"/>
            <a:ext cx="12192119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0">
                <a:solidFill>
                  <a:srgbClr val="7A8A9E"/>
                </a:solidFill>
                <a:latin typeface="Aptos" panose="020B0004020202020204" pitchFamily="34" charset="0"/>
              </a:rPr>
              <a:t>Dr. Hári László</a:t>
            </a:r>
          </a:p>
        </p:txBody>
      </p:sp>
      <p:sp>
        <p:nvSpPr>
          <p:cNvPr id="8" name="footer_page"/>
          <p:cNvSpPr txBox="1"/>
          <p:nvPr/>
        </p:nvSpPr>
        <p:spPr>
          <a:xfrm>
            <a:off x="10680119" y="6462000"/>
            <a:ext cx="1080000" cy="32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 i="0">
                <a:solidFill>
                  <a:srgbClr val="7A8A9E"/>
                </a:solidFill>
                <a:latin typeface="Calibri"/>
              </a:rPr>
              <a:t>2</a:t>
            </a:r>
          </a:p>
        </p:txBody>
      </p:sp>
      <p:pic>
        <p:nvPicPr>
          <p:cNvPr id="10" name="logo_small" descr="due_logo_pici.png">
            <a:extLst>
              <a:ext uri="{FF2B5EF4-FFF2-40B4-BE49-F238E27FC236}">
                <a16:creationId xmlns:a16="http://schemas.microsoft.com/office/drawing/2014/main" id="{63779CA6-65B5-658D-4353-BAB20F18A0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256119" y="152426"/>
            <a:ext cx="792000" cy="775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27327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bar_bg"/>
          <p:cNvSpPr/>
          <p:nvPr/>
        </p:nvSpPr>
        <p:spPr>
          <a:xfrm>
            <a:off x="0" y="0"/>
            <a:ext cx="12192119" cy="1080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slide_title"/>
          <p:cNvSpPr txBox="1"/>
          <p:nvPr/>
        </p:nvSpPr>
        <p:spPr>
          <a:xfrm>
            <a:off x="432000" y="327167"/>
            <a:ext cx="10248119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hu-HU" sz="2400" dirty="0">
                <a:solidFill>
                  <a:srgbClr val="FFFFFF"/>
                </a:solidFill>
                <a:latin typeface="Aptos"/>
              </a:rPr>
              <a:t>Változásjegyzék</a:t>
            </a:r>
          </a:p>
        </p:txBody>
      </p:sp>
      <p:cxnSp>
        <p:nvCxnSpPr>
          <p:cNvPr id="5" name="separator_footer"/>
          <p:cNvCxnSpPr/>
          <p:nvPr/>
        </p:nvCxnSpPr>
        <p:spPr>
          <a:xfrm>
            <a:off x="432000" y="6426000"/>
            <a:ext cx="11328119" cy="0"/>
          </a:xfrm>
          <a:prstGeom prst="line">
            <a:avLst/>
          </a:prstGeom>
          <a:ln w="9525">
            <a:solidFill>
              <a:srgbClr val="D0D8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ooter_date"/>
          <p:cNvSpPr txBox="1"/>
          <p:nvPr/>
        </p:nvSpPr>
        <p:spPr>
          <a:xfrm>
            <a:off x="432000" y="6462000"/>
            <a:ext cx="2160000" cy="32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>
                <a:solidFill>
                  <a:srgbClr val="7A8A9E"/>
                </a:solidFill>
                <a:latin typeface="Calibri"/>
              </a:rPr>
              <a:t>2026.05.20.</a:t>
            </a:r>
          </a:p>
        </p:txBody>
      </p:sp>
      <p:sp>
        <p:nvSpPr>
          <p:cNvPr id="7" name="footer_author"/>
          <p:cNvSpPr txBox="1"/>
          <p:nvPr/>
        </p:nvSpPr>
        <p:spPr>
          <a:xfrm>
            <a:off x="0" y="6462000"/>
            <a:ext cx="12192119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0">
                <a:solidFill>
                  <a:srgbClr val="7A8A9E"/>
                </a:solidFill>
                <a:latin typeface="Aptos" panose="020B0004020202020204" pitchFamily="34" charset="0"/>
              </a:rPr>
              <a:t>Dr. Hári László</a:t>
            </a:r>
          </a:p>
        </p:txBody>
      </p:sp>
      <p:sp>
        <p:nvSpPr>
          <p:cNvPr id="8" name="footer_page"/>
          <p:cNvSpPr txBox="1"/>
          <p:nvPr/>
        </p:nvSpPr>
        <p:spPr>
          <a:xfrm>
            <a:off x="10680119" y="6462000"/>
            <a:ext cx="1080000" cy="32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 i="0">
                <a:solidFill>
                  <a:srgbClr val="7A8A9E"/>
                </a:solidFill>
                <a:latin typeface="Calibri"/>
              </a:rPr>
              <a:t>2</a:t>
            </a:r>
          </a:p>
        </p:txBody>
      </p:sp>
      <p:sp>
        <p:nvSpPr>
          <p:cNvPr id="9" name="content_body"/>
          <p:cNvSpPr txBox="1"/>
          <p:nvPr/>
        </p:nvSpPr>
        <p:spPr>
          <a:xfrm>
            <a:off x="432000" y="1296000"/>
            <a:ext cx="11328119" cy="13721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  <a:tabLst>
                <a:tab pos="1016000" algn="l"/>
                <a:tab pos="2286000" algn="l"/>
                <a:tab pos="3810000" algn="l"/>
              </a:tabLst>
            </a:pPr>
            <a:r>
              <a:rPr lang="hu-HU" sz="1400" b="1" dirty="0">
                <a:solidFill>
                  <a:srgbClr val="003A70"/>
                </a:solidFill>
                <a:latin typeface="Aptos"/>
              </a:rPr>
              <a:t>Verzió	Dátum	Szerző	Leírás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endParaRPr sz="400" dirty="0">
              <a:solidFill>
                <a:srgbClr val="ED7D31"/>
              </a:solidFill>
            </a:endParaRPr>
          </a:p>
          <a:p>
            <a:pPr algn="l">
              <a:spcBef>
                <a:spcPts val="150"/>
              </a:spcBef>
              <a:spcAft>
                <a:spcPts val="100"/>
              </a:spcAft>
              <a:tabLst>
                <a:tab pos="1016000" algn="l"/>
                <a:tab pos="2286000" algn="l"/>
                <a:tab pos="3810000" algn="l"/>
              </a:tabLst>
            </a:pPr>
            <a:r>
              <a:rPr lang="hu-HU" sz="1400" dirty="0">
                <a:solidFill>
                  <a:srgbClr val="ED7D31"/>
                </a:solidFill>
                <a:latin typeface="Aptos"/>
              </a:rPr>
              <a:t>0.0</a:t>
            </a:r>
            <a:r>
              <a:rPr lang="hu-HU" sz="1400" dirty="0">
                <a:solidFill>
                  <a:srgbClr val="212121"/>
                </a:solidFill>
                <a:latin typeface="Aptos"/>
              </a:rPr>
              <a:t>	2026-05-24	Claude	</a:t>
            </a:r>
            <a:r>
              <a:rPr lang="hu-HU" sz="1400" dirty="0" err="1">
                <a:solidFill>
                  <a:srgbClr val="212121"/>
                </a:solidFill>
                <a:latin typeface="Aptos"/>
              </a:rPr>
              <a:t>Branding</a:t>
            </a:r>
            <a:endParaRPr lang="hu-HU" sz="1400" dirty="0">
              <a:solidFill>
                <a:srgbClr val="212121"/>
              </a:solidFill>
              <a:latin typeface="Aptos"/>
            </a:endParaRPr>
          </a:p>
          <a:p>
            <a:pPr algn="l">
              <a:spcBef>
                <a:spcPts val="150"/>
              </a:spcBef>
              <a:spcAft>
                <a:spcPts val="100"/>
              </a:spcAft>
              <a:tabLst>
                <a:tab pos="1016000" algn="l"/>
                <a:tab pos="2286000" algn="l"/>
                <a:tab pos="3810000" algn="l"/>
              </a:tabLst>
            </a:pPr>
            <a:r>
              <a:rPr lang="hu-HU" sz="1400" dirty="0">
                <a:solidFill>
                  <a:srgbClr val="ED7D31"/>
                </a:solidFill>
                <a:latin typeface="Aptos"/>
              </a:rPr>
              <a:t>0.1</a:t>
            </a:r>
            <a:r>
              <a:rPr lang="hu-HU" sz="1400" dirty="0">
                <a:solidFill>
                  <a:srgbClr val="212121"/>
                </a:solidFill>
                <a:latin typeface="Aptos"/>
              </a:rPr>
              <a:t>	2026-05-24	Hári László	</a:t>
            </a:r>
            <a:r>
              <a:rPr lang="hu-HU" sz="1400" dirty="0" err="1">
                <a:solidFill>
                  <a:srgbClr val="212121"/>
                </a:solidFill>
                <a:latin typeface="Aptos"/>
              </a:rPr>
              <a:t>Mindmap</a:t>
            </a:r>
            <a:endParaRPr lang="hu-HU" sz="1400" dirty="0">
              <a:solidFill>
                <a:srgbClr val="212121"/>
              </a:solidFill>
              <a:latin typeface="Aptos"/>
            </a:endParaRPr>
          </a:p>
          <a:p>
            <a:pPr algn="l">
              <a:spcBef>
                <a:spcPts val="150"/>
              </a:spcBef>
              <a:spcAft>
                <a:spcPts val="100"/>
              </a:spcAft>
              <a:tabLst>
                <a:tab pos="1016000" algn="l"/>
                <a:tab pos="2286000" algn="l"/>
                <a:tab pos="3810000" algn="l"/>
              </a:tabLst>
            </a:pPr>
            <a:r>
              <a:rPr lang="hu-HU" sz="1400" dirty="0">
                <a:solidFill>
                  <a:srgbClr val="ED7D31"/>
                </a:solidFill>
                <a:latin typeface="Aptos"/>
              </a:rPr>
              <a:t>0.2</a:t>
            </a:r>
            <a:r>
              <a:rPr lang="hu-HU" sz="1400" dirty="0">
                <a:solidFill>
                  <a:srgbClr val="212121"/>
                </a:solidFill>
                <a:latin typeface="Aptos"/>
              </a:rPr>
              <a:t>	2026-05-24	Claude</a:t>
            </a:r>
            <a:r>
              <a:rPr lang="hu-HU" sz="1400">
                <a:solidFill>
                  <a:srgbClr val="212121"/>
                </a:solidFill>
                <a:latin typeface="Aptos"/>
              </a:rPr>
              <a:t>	Finomítás</a:t>
            </a:r>
            <a:endParaRPr lang="hu-HU" sz="1400" dirty="0">
              <a:solidFill>
                <a:srgbClr val="212121"/>
              </a:solidFill>
              <a:latin typeface="Aptos"/>
            </a:endParaRPr>
          </a:p>
          <a:p>
            <a:endParaRPr sz="1400" dirty="0">
              <a:solidFill>
                <a:srgbClr val="212121"/>
              </a:solidFill>
              <a:latin typeface="Aptos"/>
            </a:endParaRPr>
          </a:p>
        </p:txBody>
      </p:sp>
      <p:pic>
        <p:nvPicPr>
          <p:cNvPr id="10" name="logo_small" descr="due_logo_pici.png">
            <a:extLst>
              <a:ext uri="{FF2B5EF4-FFF2-40B4-BE49-F238E27FC236}">
                <a16:creationId xmlns:a16="http://schemas.microsoft.com/office/drawing/2014/main" id="{63779CA6-65B5-658D-4353-BAB20F18A0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256119" y="152426"/>
            <a:ext cx="792000" cy="775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35335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[1779642564775]">
  <a:themeElements>
    <a:clrScheme name="Office">
      <a:dk1>
        <a:srgbClr val="212121"/>
      </a:dk1>
      <a:lt1>
        <a:srgbClr val="FFFFFF"/>
      </a:lt1>
      <a:dk2>
        <a:srgbClr val="003A70"/>
      </a:dk2>
      <a:lt2>
        <a:srgbClr val="F2F2F2"/>
      </a:lt2>
      <a:accent1>
        <a:srgbClr val="003A70"/>
      </a:accent1>
      <a:accent2>
        <a:srgbClr val="ED7D31"/>
      </a:accent2>
      <a:accent3>
        <a:srgbClr val="2E74B5"/>
      </a:accent3>
      <a:accent4>
        <a:srgbClr val="70AD47"/>
      </a:accent4>
      <a:accent5>
        <a:srgbClr val="FFC000"/>
      </a:accent5>
      <a:accent6>
        <a:srgbClr val="5A5A5A"/>
      </a:accent6>
      <a:hlink>
        <a:srgbClr val="003A70"/>
      </a:hlink>
      <a:folHlink>
        <a:srgbClr val="7F7F7F"/>
      </a:folHlink>
    </a:clrScheme>
    <a:fontScheme name="Office">
      <a:majorFont>
        <a:latin typeface="Apto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59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7F45988C-382B-4614-8C53-45C3FD16C5DF}">
  <we:reference id="wa200010001" version="1.0.0.1" store="hu-HU" storeType="OMEX"/>
  <we:alternateReferences>
    <we:reference id="WA200010001" version="1.0.0.1" store="" storeType="OMEX"/>
  </we:alternateReferences>
  <we:properties>
    <we:property name="claude.fileId" value="&quot;7405527b-01ff-46cd-986b-3ab2542bcbc5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103</TotalTime>
  <Words>2072</Words>
  <Application>Microsoft Office PowerPoint</Application>
  <PresentationFormat>Szélesvásznú</PresentationFormat>
  <Paragraphs>259</Paragraphs>
  <Slides>12</Slides>
  <Notes>12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12</vt:i4>
      </vt:variant>
    </vt:vector>
  </HeadingPairs>
  <TitlesOfParts>
    <vt:vector size="17" baseType="lpstr">
      <vt:lpstr>Aptos</vt:lpstr>
      <vt:lpstr>Arial</vt:lpstr>
      <vt:lpstr>Calibri</vt:lpstr>
      <vt:lpstr>Garamond</vt:lpstr>
      <vt:lpstr>Office Theme [1779642564775]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Hári László</dc:creator>
  <cp:keywords/>
  <dc:description>generated using python-pptx</dc:description>
  <cp:lastModifiedBy>László Hári</cp:lastModifiedBy>
  <cp:revision>33</cp:revision>
  <dcterms:created xsi:type="dcterms:W3CDTF">2013-01-27T09:14:16Z</dcterms:created>
  <dcterms:modified xsi:type="dcterms:W3CDTF">2026-06-03T16:42:13Z</dcterms:modified>
  <cp:category/>
</cp:coreProperties>
</file>