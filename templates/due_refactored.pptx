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14"/>
  </p:notesMasterIdLst>
  <p:sldIdLst>
    <p:sldId id="274" r:id="rId2"/>
    <p:sldId id="281" r:id="rId3"/>
    <p:sldId id="275" r:id="rId4"/>
    <p:sldId id="257" r:id="rId5"/>
    <p:sldId id="264" r:id="rId6"/>
    <p:sldId id="277" r:id="rId7"/>
    <p:sldId id="259" r:id="rId8"/>
    <p:sldId id="260" r:id="rId9"/>
    <p:sldId id="261" r:id="rId10"/>
    <p:sldId id="283" r:id="rId11"/>
    <p:sldId id="285" r:id="rId12"/>
    <p:sldId id="28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4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11" autoAdjust="0"/>
  </p:normalViewPr>
  <p:slideViewPr>
    <p:cSldViewPr snapToGrid="0" snapToObjects="1">
      <p:cViewPr>
        <p:scale>
          <a:sx n="66" d="100"/>
          <a:sy n="66" d="100"/>
        </p:scale>
        <p:origin x="2196" y="7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197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 xml:space="preserve">CÍM DIA – </a:t>
            </a:r>
            <a:r>
              <a:rPr dirty="0" err="1"/>
              <a:t>szerkesztési</a:t>
            </a:r>
            <a:r>
              <a:rPr dirty="0"/>
              <a:t xml:space="preserve"> </a:t>
            </a:r>
            <a:r>
              <a:rPr dirty="0" err="1"/>
              <a:t>útmutató</a:t>
            </a:r>
            <a:endParaRPr dirty="0"/>
          </a:p>
          <a:p>
            <a:r>
              <a:rPr dirty="0"/>
              <a:t>─────────────────────────────────────────</a:t>
            </a:r>
          </a:p>
          <a:p>
            <a:r>
              <a:rPr dirty="0" err="1"/>
              <a:t>slide_main_title</a:t>
            </a:r>
            <a:r>
              <a:rPr dirty="0"/>
              <a:t xml:space="preserve">  : </a:t>
            </a:r>
            <a:r>
              <a:rPr dirty="0" err="1"/>
              <a:t>főcím</a:t>
            </a:r>
            <a:r>
              <a:rPr dirty="0"/>
              <a:t xml:space="preserve"> (max. 2–3 </a:t>
            </a:r>
            <a:r>
              <a:rPr dirty="0" err="1"/>
              <a:t>sor</a:t>
            </a:r>
            <a:r>
              <a:rPr dirty="0"/>
              <a:t xml:space="preserve">, Garamond 34pt </a:t>
            </a:r>
            <a:r>
              <a:rPr dirty="0" err="1"/>
              <a:t>fehér</a:t>
            </a:r>
            <a:r>
              <a:rPr dirty="0"/>
              <a:t>)</a:t>
            </a:r>
          </a:p>
          <a:p>
            <a:r>
              <a:rPr dirty="0" err="1"/>
              <a:t>slide_subtitle</a:t>
            </a:r>
            <a:r>
              <a:rPr dirty="0"/>
              <a:t xml:space="preserve">    : </a:t>
            </a:r>
            <a:r>
              <a:rPr dirty="0" err="1"/>
              <a:t>tantárgy</a:t>
            </a:r>
            <a:r>
              <a:rPr dirty="0"/>
              <a:t xml:space="preserve"> / </a:t>
            </a:r>
            <a:r>
              <a:rPr dirty="0" err="1"/>
              <a:t>intézet</a:t>
            </a:r>
            <a:r>
              <a:rPr dirty="0"/>
              <a:t xml:space="preserve"> (</a:t>
            </a:r>
            <a:r>
              <a:rPr lang="hu-HU" dirty="0" err="1"/>
              <a:t>Aptos</a:t>
            </a:r>
            <a:r>
              <a:rPr dirty="0"/>
              <a:t xml:space="preserve"> 15pt, </a:t>
            </a:r>
            <a:r>
              <a:rPr dirty="0" err="1"/>
              <a:t>dőlt</a:t>
            </a:r>
            <a:r>
              <a:rPr dirty="0"/>
              <a:t xml:space="preserve">, </a:t>
            </a:r>
            <a:r>
              <a:rPr dirty="0" err="1"/>
              <a:t>szürke</a:t>
            </a:r>
            <a:r>
              <a:rPr dirty="0"/>
              <a:t>)</a:t>
            </a:r>
          </a:p>
          <a:p>
            <a:r>
              <a:rPr dirty="0" err="1"/>
              <a:t>footer_author</a:t>
            </a:r>
            <a:r>
              <a:rPr dirty="0"/>
              <a:t xml:space="preserve">     : </a:t>
            </a:r>
            <a:r>
              <a:rPr dirty="0" err="1"/>
              <a:t>előadó</a:t>
            </a:r>
            <a:r>
              <a:rPr dirty="0"/>
              <a:t xml:space="preserve"> neve</a:t>
            </a:r>
          </a:p>
          <a:p>
            <a:r>
              <a:rPr dirty="0" err="1"/>
              <a:t>footer_date</a:t>
            </a:r>
            <a:r>
              <a:rPr dirty="0"/>
              <a:t xml:space="preserve">       : </a:t>
            </a:r>
            <a:r>
              <a:rPr dirty="0" err="1"/>
              <a:t>dátum</a:t>
            </a:r>
            <a:r>
              <a:rPr dirty="0"/>
              <a:t xml:space="preserve"> (ÉÉÉÉ.HH.NN. </a:t>
            </a:r>
            <a:r>
              <a:rPr dirty="0" err="1"/>
              <a:t>formátum</a:t>
            </a:r>
            <a:r>
              <a:rPr dirty="0"/>
              <a:t>)</a:t>
            </a:r>
          </a:p>
          <a:p>
            <a:r>
              <a:rPr dirty="0" err="1"/>
              <a:t>watermark_logo</a:t>
            </a:r>
            <a:r>
              <a:rPr dirty="0"/>
              <a:t xml:space="preserve">    : </a:t>
            </a:r>
            <a:r>
              <a:rPr dirty="0" err="1"/>
              <a:t>vízjel</a:t>
            </a:r>
            <a:r>
              <a:rPr dirty="0"/>
              <a:t xml:space="preserve"> </a:t>
            </a:r>
            <a:r>
              <a:rPr dirty="0" err="1"/>
              <a:t>logó</a:t>
            </a:r>
            <a:r>
              <a:rPr dirty="0"/>
              <a:t xml:space="preserve"> – NE </a:t>
            </a:r>
            <a:r>
              <a:rPr dirty="0" err="1"/>
              <a:t>töröld</a:t>
            </a:r>
            <a:r>
              <a:rPr dirty="0"/>
              <a:t>; opacity XML-ben van</a:t>
            </a:r>
          </a:p>
          <a:p>
            <a:r>
              <a:rPr dirty="0" err="1"/>
              <a:t>logo_small</a:t>
            </a:r>
            <a:r>
              <a:rPr dirty="0"/>
              <a:t xml:space="preserve">        : </a:t>
            </a:r>
            <a:r>
              <a:rPr dirty="0" err="1"/>
              <a:t>kis</a:t>
            </a:r>
            <a:r>
              <a:rPr dirty="0"/>
              <a:t xml:space="preserve"> </a:t>
            </a:r>
            <a:r>
              <a:rPr dirty="0" err="1"/>
              <a:t>logó</a:t>
            </a:r>
            <a:r>
              <a:rPr dirty="0"/>
              <a:t xml:space="preserve"> </a:t>
            </a:r>
            <a:r>
              <a:rPr dirty="0" err="1"/>
              <a:t>jobb</a:t>
            </a:r>
            <a:r>
              <a:rPr dirty="0"/>
              <a:t xml:space="preserve"> </a:t>
            </a:r>
            <a:r>
              <a:rPr dirty="0" err="1"/>
              <a:t>felső</a:t>
            </a:r>
            <a:r>
              <a:rPr dirty="0"/>
              <a:t xml:space="preserve"> </a:t>
            </a:r>
            <a:r>
              <a:rPr dirty="0" err="1"/>
              <a:t>sarokba</a:t>
            </a:r>
            <a:endParaRPr dirty="0"/>
          </a:p>
          <a:p>
            <a:endParaRPr dirty="0"/>
          </a:p>
          <a:p>
            <a:r>
              <a:rPr dirty="0" err="1"/>
              <a:t>Cowork</a:t>
            </a:r>
            <a:r>
              <a:rPr dirty="0"/>
              <a:t xml:space="preserve"> </a:t>
            </a:r>
            <a:r>
              <a:rPr dirty="0" err="1"/>
              <a:t>utasítás</a:t>
            </a:r>
            <a:r>
              <a:rPr dirty="0"/>
              <a:t xml:space="preserve"> </a:t>
            </a:r>
            <a:r>
              <a:rPr dirty="0" err="1"/>
              <a:t>példa</a:t>
            </a:r>
            <a:r>
              <a:rPr dirty="0"/>
              <a:t>:</a:t>
            </a:r>
          </a:p>
          <a:p>
            <a:r>
              <a:rPr dirty="0"/>
              <a:t xml:space="preserve">  '</a:t>
            </a:r>
            <a:r>
              <a:rPr dirty="0" err="1"/>
              <a:t>Cseréld</a:t>
            </a:r>
            <a:r>
              <a:rPr dirty="0"/>
              <a:t xml:space="preserve"> le a </a:t>
            </a:r>
            <a:r>
              <a:rPr dirty="0" err="1"/>
              <a:t>slide_main_title</a:t>
            </a:r>
            <a:r>
              <a:rPr dirty="0"/>
              <a:t xml:space="preserve"> </a:t>
            </a:r>
            <a:r>
              <a:rPr dirty="0" err="1"/>
              <a:t>szövegét</a:t>
            </a:r>
            <a:r>
              <a:rPr dirty="0"/>
              <a:t xml:space="preserve"> </a:t>
            </a:r>
            <a:r>
              <a:rPr dirty="0" err="1"/>
              <a:t>erre</a:t>
            </a:r>
            <a:r>
              <a:rPr dirty="0"/>
              <a:t>: ...'</a:t>
            </a:r>
          </a:p>
          <a:p>
            <a:r>
              <a:rPr dirty="0"/>
              <a:t xml:space="preserve">  'Az </a:t>
            </a:r>
            <a:r>
              <a:rPr dirty="0" err="1"/>
              <a:t>footer_author</a:t>
            </a:r>
            <a:r>
              <a:rPr dirty="0"/>
              <a:t xml:space="preserve"> </a:t>
            </a:r>
            <a:r>
              <a:rPr dirty="0" err="1"/>
              <a:t>mezőbe</a:t>
            </a:r>
            <a:r>
              <a:rPr dirty="0"/>
              <a:t xml:space="preserve"> </a:t>
            </a:r>
            <a:r>
              <a:rPr dirty="0" err="1"/>
              <a:t>írd</a:t>
            </a:r>
            <a:r>
              <a:rPr dirty="0"/>
              <a:t xml:space="preserve"> be: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50886-CE11-DF65-11A8-3E9D73BB3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6D950-E4F3-4521-893A-27FEB9FCCA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33C44-8910-3B73-5B59-55092FB81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 xml:space="preserve">content_body  : felsorolás (Calibri 13.5pt); </a:t>
            </a:r>
          </a:p>
          <a:p>
            <a:r>
              <a:t xml:space="preserve"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 xml:space="preserve">  'A slide_title szövegét cseréld erre: ...'</a:t>
            </a:r>
          </a:p>
          <a:p>
            <a:r>
              <a:t xml:space="preserve">  'A content_body 3. bulletjét írd át: ...'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814A9-680E-972A-D43F-27357B81F3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77365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55E8B-BF41-D958-3757-F8B20B055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EEF653-FACD-A2E4-B91D-3442D8769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5B391-86B6-1719-59C0-222EBF083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 xml:space="preserve">SZAKASZFEJLÉC DIA – </a:t>
            </a:r>
            <a:r>
              <a:rPr dirty="0" err="1"/>
              <a:t>szerkesztési</a:t>
            </a:r>
            <a:r>
              <a:rPr dirty="0"/>
              <a:t xml:space="preserve"> </a:t>
            </a:r>
            <a:r>
              <a:rPr dirty="0" err="1"/>
              <a:t>útmutató</a:t>
            </a:r>
            <a:endParaRPr dirty="0"/>
          </a:p>
          <a:p>
            <a:r>
              <a:rPr dirty="0"/>
              <a:t>─────────────────────────────────────────</a:t>
            </a:r>
          </a:p>
          <a:p>
            <a:r>
              <a:rPr dirty="0" err="1"/>
              <a:t>section_number</a:t>
            </a:r>
            <a:r>
              <a:rPr dirty="0"/>
              <a:t xml:space="preserve">      : </a:t>
            </a:r>
            <a:r>
              <a:rPr dirty="0" err="1"/>
              <a:t>fejezet</a:t>
            </a:r>
            <a:r>
              <a:rPr dirty="0"/>
              <a:t xml:space="preserve"> </a:t>
            </a:r>
            <a:r>
              <a:rPr dirty="0" err="1"/>
              <a:t>sorszáma</a:t>
            </a:r>
            <a:r>
              <a:rPr dirty="0"/>
              <a:t xml:space="preserve"> (pl. '03') – Garamond 72pt</a:t>
            </a:r>
          </a:p>
          <a:p>
            <a:r>
              <a:rPr dirty="0" err="1"/>
              <a:t>section_title</a:t>
            </a:r>
            <a:r>
              <a:rPr dirty="0"/>
              <a:t xml:space="preserve">       : </a:t>
            </a:r>
            <a:r>
              <a:rPr dirty="0" err="1"/>
              <a:t>fejezet</a:t>
            </a:r>
            <a:r>
              <a:rPr dirty="0"/>
              <a:t xml:space="preserve"> neve (max 2 </a:t>
            </a:r>
            <a:r>
              <a:rPr dirty="0" err="1"/>
              <a:t>sor</a:t>
            </a:r>
            <a:r>
              <a:rPr dirty="0"/>
              <a:t xml:space="preserve">, Garamond 24pt </a:t>
            </a:r>
            <a:r>
              <a:rPr dirty="0" err="1"/>
              <a:t>fehér</a:t>
            </a:r>
            <a:r>
              <a:rPr dirty="0"/>
              <a:t>)</a:t>
            </a:r>
          </a:p>
          <a:p>
            <a:r>
              <a:rPr dirty="0" err="1"/>
              <a:t>section_description</a:t>
            </a:r>
            <a:r>
              <a:rPr dirty="0"/>
              <a:t xml:space="preserve"> : </a:t>
            </a:r>
            <a:r>
              <a:rPr dirty="0" err="1"/>
              <a:t>jobb</a:t>
            </a:r>
            <a:r>
              <a:rPr dirty="0"/>
              <a:t xml:space="preserve"> </a:t>
            </a:r>
            <a:r>
              <a:rPr dirty="0" err="1"/>
              <a:t>oldali</a:t>
            </a:r>
            <a:r>
              <a:rPr dirty="0"/>
              <a:t xml:space="preserve"> </a:t>
            </a:r>
            <a:r>
              <a:rPr dirty="0" err="1"/>
              <a:t>rövid</a:t>
            </a:r>
            <a:r>
              <a:rPr dirty="0"/>
              <a:t xml:space="preserve"> </a:t>
            </a:r>
            <a:r>
              <a:rPr dirty="0" err="1"/>
              <a:t>leírás</a:t>
            </a:r>
            <a:r>
              <a:rPr dirty="0"/>
              <a:t xml:space="preserve"> (Calibri 16pt)</a:t>
            </a:r>
          </a:p>
          <a:p>
            <a:r>
              <a:rPr dirty="0" err="1"/>
              <a:t>bottom_stripe</a:t>
            </a:r>
            <a:r>
              <a:rPr dirty="0"/>
              <a:t xml:space="preserve">       : </a:t>
            </a:r>
            <a:r>
              <a:rPr dirty="0" err="1"/>
              <a:t>narancs</a:t>
            </a:r>
            <a:r>
              <a:rPr dirty="0"/>
              <a:t xml:space="preserve"> </a:t>
            </a:r>
            <a:r>
              <a:rPr dirty="0" err="1"/>
              <a:t>alap</a:t>
            </a:r>
            <a:r>
              <a:rPr dirty="0"/>
              <a:t xml:space="preserve"> </a:t>
            </a:r>
            <a:r>
              <a:rPr dirty="0" err="1"/>
              <a:t>sáv</a:t>
            </a:r>
            <a:r>
              <a:rPr dirty="0"/>
              <a:t xml:space="preserve"> – NE </a:t>
            </a:r>
            <a:r>
              <a:rPr dirty="0" err="1"/>
              <a:t>módosítsd</a:t>
            </a:r>
            <a:endParaRPr dirty="0"/>
          </a:p>
          <a:p>
            <a:r>
              <a:rPr dirty="0" err="1"/>
              <a:t>section_bg_left</a:t>
            </a:r>
            <a:r>
              <a:rPr dirty="0"/>
              <a:t xml:space="preserve">     : navy </a:t>
            </a:r>
            <a:r>
              <a:rPr dirty="0" err="1"/>
              <a:t>bal</a:t>
            </a:r>
            <a:r>
              <a:rPr dirty="0"/>
              <a:t xml:space="preserve"> </a:t>
            </a:r>
            <a:r>
              <a:rPr dirty="0" err="1"/>
              <a:t>sáv</a:t>
            </a:r>
            <a:r>
              <a:rPr dirty="0"/>
              <a:t xml:space="preserve"> – NE </a:t>
            </a:r>
            <a:r>
              <a:rPr dirty="0" err="1"/>
              <a:t>módosítsd</a:t>
            </a:r>
            <a:endParaRPr dirty="0"/>
          </a:p>
          <a:p>
            <a:endParaRPr dirty="0"/>
          </a:p>
          <a:p>
            <a:r>
              <a:rPr dirty="0" err="1"/>
              <a:t>Cowork</a:t>
            </a:r>
            <a:r>
              <a:rPr dirty="0"/>
              <a:t xml:space="preserve"> </a:t>
            </a:r>
            <a:r>
              <a:rPr dirty="0" err="1"/>
              <a:t>utasítás</a:t>
            </a:r>
            <a:r>
              <a:rPr dirty="0"/>
              <a:t>:</a:t>
            </a:r>
          </a:p>
          <a:p>
            <a:r>
              <a:rPr dirty="0"/>
              <a:t xml:space="preserve">  'A </a:t>
            </a:r>
            <a:r>
              <a:rPr dirty="0" err="1"/>
              <a:t>section_number</a:t>
            </a:r>
            <a:r>
              <a:rPr dirty="0"/>
              <a:t xml:space="preserve"> </a:t>
            </a:r>
            <a:r>
              <a:rPr dirty="0" err="1"/>
              <a:t>értékét</a:t>
            </a:r>
            <a:r>
              <a:rPr dirty="0"/>
              <a:t xml:space="preserve"> </a:t>
            </a:r>
            <a:r>
              <a:rPr dirty="0" err="1"/>
              <a:t>cseréld</a:t>
            </a:r>
            <a:r>
              <a:rPr dirty="0"/>
              <a:t>: 03'</a:t>
            </a:r>
          </a:p>
          <a:p>
            <a:r>
              <a:rPr dirty="0"/>
              <a:t xml:space="preserve">  'A </a:t>
            </a:r>
            <a:r>
              <a:rPr dirty="0" err="1"/>
              <a:t>section_title</a:t>
            </a:r>
            <a:r>
              <a:rPr dirty="0"/>
              <a:t xml:space="preserve"> </a:t>
            </a:r>
            <a:r>
              <a:rPr dirty="0" err="1"/>
              <a:t>szövege</a:t>
            </a:r>
            <a:r>
              <a:rPr dirty="0"/>
              <a:t xml:space="preserve"> </a:t>
            </a:r>
            <a:r>
              <a:rPr dirty="0" err="1"/>
              <a:t>legyen</a:t>
            </a:r>
            <a:r>
              <a:rPr dirty="0"/>
              <a:t>: ...'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45925-CAB8-3895-75E8-B4D48EC0F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11760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 xml:space="preserve">content_body  : felsorolás (Calibri 13.5pt); </a:t>
            </a:r>
          </a:p>
          <a:p>
            <a:r>
              <a:t xml:space="preserve"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 xml:space="preserve">  'A slide_title szövegét cseréld erre: ...'</a:t>
            </a:r>
          </a:p>
          <a:p>
            <a:r>
              <a:t xml:space="preserve"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55680-55D7-47FA-0E76-C47B7A672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EFF75-B238-7F3E-4DD2-12C6529026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3DD28-28A4-502C-D647-A15569295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 xml:space="preserve">content_body  : felsorolás (Calibri 13.5pt); </a:t>
            </a:r>
          </a:p>
          <a:p>
            <a:r>
              <a:t xml:space="preserve"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 xml:space="preserve">  'A slide_title szövegét cseréld erre: ...'</a:t>
            </a:r>
          </a:p>
          <a:p>
            <a:r>
              <a:t xml:space="preserve">  'A content_body 3. bulletjét írd át: ...'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9EE00-929B-332C-DEF1-C19DC03B7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38911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FB7CD-33E7-1BC8-B6BD-4076BA536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6283F4-4227-06E7-7AF6-F8CEF85751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B0999-E8F6-71A3-C8C2-B8939D7CD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 xml:space="preserve">content_body  : felsorolás (Calibri 13.5pt); </a:t>
            </a:r>
          </a:p>
          <a:p>
            <a:r>
              <a:t xml:space="preserve"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 xml:space="preserve">  'A slide_title szövegét cseréld erre: ...'</a:t>
            </a:r>
          </a:p>
          <a:p>
            <a:r>
              <a:t xml:space="preserve">  'A content_body 3. bulletjét írd át: ...'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80343-DCA1-F857-50A5-02A9B7080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3463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KÉP + SZÖVEG DIA – </a:t>
            </a:r>
            <a:r>
              <a:rPr dirty="0" err="1"/>
              <a:t>szerkesztési</a:t>
            </a:r>
            <a:r>
              <a:rPr dirty="0"/>
              <a:t> </a:t>
            </a:r>
            <a:r>
              <a:rPr dirty="0" err="1"/>
              <a:t>útmutató</a:t>
            </a:r>
            <a:endParaRPr dirty="0"/>
          </a:p>
          <a:p>
            <a:r>
              <a:rPr dirty="0"/>
              <a:t>─────────────────────────────────────────</a:t>
            </a:r>
          </a:p>
          <a:p>
            <a:r>
              <a:rPr dirty="0" err="1"/>
              <a:t>slide_title</a:t>
            </a:r>
            <a:r>
              <a:rPr dirty="0"/>
              <a:t>      : </a:t>
            </a:r>
            <a:r>
              <a:rPr dirty="0" err="1"/>
              <a:t>cím</a:t>
            </a:r>
            <a:r>
              <a:rPr dirty="0"/>
              <a:t> (max 1–2 </a:t>
            </a:r>
            <a:r>
              <a:rPr dirty="0" err="1"/>
              <a:t>sor</a:t>
            </a:r>
            <a:r>
              <a:rPr dirty="0"/>
              <a:t>, navy </a:t>
            </a:r>
            <a:r>
              <a:rPr dirty="0" err="1"/>
              <a:t>sávban</a:t>
            </a:r>
            <a:r>
              <a:rPr dirty="0"/>
              <a:t>)</a:t>
            </a:r>
          </a:p>
          <a:p>
            <a:r>
              <a:rPr dirty="0" err="1"/>
              <a:t>col_left_body</a:t>
            </a:r>
            <a:r>
              <a:rPr dirty="0"/>
              <a:t>    : </a:t>
            </a:r>
            <a:r>
              <a:rPr dirty="0" err="1"/>
              <a:t>bal</a:t>
            </a:r>
            <a:r>
              <a:rPr dirty="0"/>
              <a:t> </a:t>
            </a:r>
            <a:r>
              <a:rPr dirty="0" err="1"/>
              <a:t>oldali</a:t>
            </a:r>
            <a:r>
              <a:rPr dirty="0"/>
              <a:t> </a:t>
            </a:r>
            <a:r>
              <a:rPr dirty="0" err="1"/>
              <a:t>felsorolás</a:t>
            </a:r>
            <a:endParaRPr dirty="0"/>
          </a:p>
          <a:p>
            <a:r>
              <a:rPr dirty="0" err="1"/>
              <a:t>col_right_image</a:t>
            </a:r>
            <a:r>
              <a:rPr dirty="0"/>
              <a:t>  : </a:t>
            </a:r>
            <a:r>
              <a:rPr dirty="0" err="1"/>
              <a:t>kép</a:t>
            </a:r>
            <a:r>
              <a:rPr dirty="0"/>
              <a:t> placeholder – </a:t>
            </a:r>
            <a:r>
              <a:rPr dirty="0" err="1"/>
              <a:t>cseréld</a:t>
            </a:r>
            <a:r>
              <a:rPr dirty="0"/>
              <a:t> le: </a:t>
            </a:r>
          </a:p>
          <a:p>
            <a:r>
              <a:rPr dirty="0"/>
              <a:t>                   </a:t>
            </a:r>
            <a:r>
              <a:rPr dirty="0" err="1"/>
              <a:t>slide.shapes</a:t>
            </a:r>
            <a:r>
              <a:rPr dirty="0"/>
              <a:t>['</a:t>
            </a:r>
            <a:r>
              <a:rPr dirty="0" err="1"/>
              <a:t>col_right_image</a:t>
            </a:r>
            <a:r>
              <a:rPr dirty="0"/>
              <a:t>'] </a:t>
            </a:r>
            <a:r>
              <a:rPr dirty="0" err="1"/>
              <a:t>törlése</a:t>
            </a:r>
            <a:r>
              <a:rPr dirty="0"/>
              <a:t> </a:t>
            </a:r>
            <a:r>
              <a:rPr dirty="0" err="1"/>
              <a:t>után</a:t>
            </a:r>
            <a:endParaRPr dirty="0"/>
          </a:p>
          <a:p>
            <a:r>
              <a:rPr dirty="0"/>
              <a:t>                   </a:t>
            </a:r>
            <a:r>
              <a:rPr dirty="0" err="1"/>
              <a:t>slide.shapes.add_picture</a:t>
            </a:r>
            <a:r>
              <a:rPr dirty="0"/>
              <a:t>(...) </a:t>
            </a:r>
            <a:r>
              <a:rPr dirty="0" err="1"/>
              <a:t>ugyanazon</a:t>
            </a:r>
            <a:r>
              <a:rPr dirty="0"/>
              <a:t> </a:t>
            </a:r>
            <a:r>
              <a:rPr dirty="0" err="1"/>
              <a:t>koordinátákkal</a:t>
            </a:r>
            <a:endParaRPr dirty="0"/>
          </a:p>
          <a:p>
            <a:r>
              <a:rPr dirty="0" err="1"/>
              <a:t>figure_caption</a:t>
            </a:r>
            <a:r>
              <a:rPr dirty="0"/>
              <a:t>   : '1. </a:t>
            </a:r>
            <a:r>
              <a:rPr dirty="0" err="1"/>
              <a:t>ábra</a:t>
            </a:r>
            <a:r>
              <a:rPr dirty="0"/>
              <a:t>: [</a:t>
            </a:r>
            <a:r>
              <a:rPr dirty="0" err="1"/>
              <a:t>szöveg</a:t>
            </a:r>
            <a:r>
              <a:rPr dirty="0"/>
              <a:t>]' – runs[0]=</a:t>
            </a:r>
            <a:r>
              <a:rPr dirty="0" err="1"/>
              <a:t>szám+prefix</a:t>
            </a:r>
            <a:r>
              <a:rPr dirty="0"/>
              <a:t>, runs[1]=</a:t>
            </a:r>
            <a:r>
              <a:rPr dirty="0" err="1"/>
              <a:t>szöveg</a:t>
            </a:r>
            <a:endParaRPr dirty="0"/>
          </a:p>
          <a:p>
            <a:r>
              <a:rPr dirty="0" err="1"/>
              <a:t>col_separator</a:t>
            </a:r>
            <a:r>
              <a:rPr dirty="0"/>
              <a:t>    : CONNECTOR </a:t>
            </a:r>
            <a:r>
              <a:rPr dirty="0" err="1"/>
              <a:t>vonal</a:t>
            </a:r>
            <a:r>
              <a:rPr dirty="0"/>
              <a:t> – NE </a:t>
            </a:r>
            <a:r>
              <a:rPr dirty="0" err="1"/>
              <a:t>módosítsd</a:t>
            </a:r>
            <a:endParaRPr dirty="0"/>
          </a:p>
          <a:p>
            <a:endParaRPr dirty="0"/>
          </a:p>
          <a:p>
            <a:r>
              <a:rPr dirty="0" err="1"/>
              <a:t>Cowork</a:t>
            </a:r>
            <a:r>
              <a:rPr dirty="0"/>
              <a:t> </a:t>
            </a:r>
            <a:r>
              <a:rPr dirty="0" err="1"/>
              <a:t>koordináták</a:t>
            </a:r>
            <a:r>
              <a:rPr dirty="0"/>
              <a:t>: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bal</a:t>
            </a:r>
            <a:r>
              <a:rPr dirty="0"/>
              <a:t> </a:t>
            </a:r>
            <a:r>
              <a:rPr dirty="0" err="1"/>
              <a:t>széle</a:t>
            </a:r>
            <a:r>
              <a:rPr dirty="0"/>
              <a:t> : ML + CW*0.53 + GAP  ≈ 20.2 cm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teteje</a:t>
            </a:r>
            <a:r>
              <a:rPr dirty="0"/>
              <a:t>    : TITLE_H + 6mm = 36 mm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szélesség</a:t>
            </a:r>
            <a:r>
              <a:rPr dirty="0"/>
              <a:t> : ~14.8 cm</a:t>
            </a:r>
          </a:p>
          <a:p>
            <a:r>
              <a:rPr dirty="0"/>
              <a:t>  </a:t>
            </a:r>
            <a:r>
              <a:rPr dirty="0" err="1"/>
              <a:t>kép</a:t>
            </a:r>
            <a:r>
              <a:rPr dirty="0"/>
              <a:t> </a:t>
            </a:r>
            <a:r>
              <a:rPr dirty="0" err="1"/>
              <a:t>magassága</a:t>
            </a:r>
            <a:r>
              <a:rPr dirty="0"/>
              <a:t> : ~11.3 cm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ÁBRA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   : dia és ábra témája</a:t>
            </a:r>
          </a:p>
          <a:p>
            <a:r>
              <a:t>figure_image     : kép placeholder – koordináták:</a:t>
            </a:r>
          </a:p>
          <a:p>
            <a:r>
              <a:t xml:space="preserve">                   l=ML=12mm, t=CT≈36mm, w=CW≈309mm, h≈133mm</a:t>
            </a:r>
          </a:p>
          <a:p>
            <a:r>
              <a:t xml:space="preserve">                   Cseréld: töröld a placeholder-t, add add_picture()</a:t>
            </a:r>
          </a:p>
          <a:p>
            <a:r>
              <a:t>figure_caption   : ábra felirat</a:t>
            </a:r>
          </a:p>
          <a:p>
            <a:r>
              <a:t xml:space="preserve">                   runs[0].text = '1. ábra: '</a:t>
            </a:r>
          </a:p>
          <a:p>
            <a:r>
              <a:t xml:space="preserve">                   runs[1].text = 'a felirat szövege'</a:t>
            </a:r>
          </a:p>
          <a:p>
            <a:r>
              <a:t>figure_separator : CONNECTOR vonal – NE módosítsd</a:t>
            </a:r>
          </a:p>
          <a:p>
            <a:endParaRPr/>
          </a:p>
          <a:p>
            <a:r>
              <a:t>Ábra sorszámozás: az egész prezentációban folyamatos (nem dianként újra)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TÁBLÁZAT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        : dia témája (navy sávban)</a:t>
            </a:r>
          </a:p>
          <a:p>
            <a:r>
              <a:t>table_title           : '1. táblázat: [felirat]'</a:t>
            </a:r>
          </a:p>
          <a:p>
            <a:r>
              <a:t xml:space="preserve">                        runs[0].text = '1. táblázat: '</a:t>
            </a:r>
          </a:p>
          <a:p>
            <a:r>
              <a:t xml:space="preserve">                        runs[1].text = 'a felirat szövege'</a:t>
            </a:r>
          </a:p>
          <a:p>
            <a:r>
              <a:t>table_title_separator : CONNECTOR vonal – NE módosítsd</a:t>
            </a:r>
          </a:p>
          <a:p>
            <a:r>
              <a:t>data_table (shape)    : python-pptx Table objektum</a:t>
            </a:r>
          </a:p>
          <a:p>
            <a:r>
              <a:t xml:space="preserve">                        cella elérése: table.cell(sor, oszlop).text = ...</a:t>
            </a:r>
          </a:p>
          <a:p>
            <a:r>
              <a:t xml:space="preserve">                        fejléc: sor=0, adatok: sor=1..(ROWS-1)</a:t>
            </a:r>
          </a:p>
          <a:p>
            <a:endParaRPr/>
          </a:p>
          <a:p>
            <a:r>
              <a:t>Sorok/oszlopok módosítása:</a:t>
            </a:r>
          </a:p>
          <a:p>
            <a:r>
              <a:t xml:space="preserve">  Sorokat a python-pptx nem tud dinamikusan hozzáadni –</a:t>
            </a:r>
          </a:p>
          <a:p>
            <a:r>
              <a:t xml:space="preserve">  a táblát törölve és újra létrehozva kell generálni.</a:t>
            </a:r>
          </a:p>
          <a:p>
            <a:r>
              <a:t xml:space="preserve">  Cowork szkript: 'Hozz létre új táblázat diát N sorral és M oszloppal.'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 xml:space="preserve">content_body  : felsorolás (Calibri 13.5pt); </a:t>
            </a:r>
          </a:p>
          <a:p>
            <a:r>
              <a:t xml:space="preserve"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 xml:space="preserve">  'A slide_title szövegét cseréld erre: ...'</a:t>
            </a:r>
          </a:p>
          <a:p>
            <a:r>
              <a:t xml:space="preserve"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 xml:space="preserve">content_body  : felsorolás (Calibri 13.5pt); </a:t>
            </a:r>
          </a:p>
          <a:p>
            <a:r>
              <a:t xml:space="preserve"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 xml:space="preserve">  'A slide_title szövegét cseréld erre: ...'</a:t>
            </a:r>
          </a:p>
          <a:p>
            <a:r>
              <a:t xml:space="preserve"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TARTALOM DIA – szerkesztési útmutató</a:t>
            </a:r>
          </a:p>
          <a:p>
            <a:r>
              <a:t>─────────────────────────────────────────</a:t>
            </a:r>
          </a:p>
          <a:p>
            <a:r>
              <a:t>slide_title   : cím a navy sávban (max 3 sor, Garamond 22pt fehér)</a:t>
            </a:r>
          </a:p>
          <a:p>
            <a:r>
              <a:t xml:space="preserve">content_body  : felsorolás (Calibri 13.5pt); </a:t>
            </a:r>
          </a:p>
          <a:p>
            <a:r>
              <a:t xml:space="preserve">                módosítás: paragraphs[i].runs[1].text = 'új szöveg'</a:t>
            </a:r>
          </a:p>
          <a:p>
            <a:r>
              <a:t>separator_footer : lábléc CONNECTOR vonal (ne módosítsd)</a:t>
            </a:r>
          </a:p>
          <a:p>
            <a:r>
              <a:t>footer_date   : bal lábléc (dátum)</a:t>
            </a:r>
          </a:p>
          <a:p>
            <a:r>
              <a:t>footer_author : közép lábléc (szerző)</a:t>
            </a:r>
          </a:p>
          <a:p>
            <a:r>
              <a:t>footer_page   : jobb lábléc (oldalszám – integer)</a:t>
            </a:r>
          </a:p>
          <a:p>
            <a:endParaRPr/>
          </a:p>
          <a:p>
            <a:r>
              <a:t>Cowork utasítás példa:</a:t>
            </a:r>
          </a:p>
          <a:p>
            <a:r>
              <a:t xml:space="preserve">  'A slide_title szövegét cseréld erre: ...'</a:t>
            </a:r>
          </a:p>
          <a:p>
            <a:r>
              <a:t xml:space="preserve">  'A content_body 3. bulletjét írd át: ...'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U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bar_bg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logo_small" descr="due_logo_pici.png"/>
          <p:cNvPicPr>
            <a:picLocks noChangeAspect="1"/>
          </p:cNvPicPr>
          <p:nvPr/>
        </p:nvPicPr>
        <p:blipFill>
          <a:blip r:embed="rId1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  <p:cxnSp>
        <p:nvCxnSpPr>
          <p:cNvPr id="12" name="separator_footer"/>
          <p:cNvCxnSpPr/>
          <p:nvPr/>
        </p:nvCxnSpPr>
        <p:spPr>
          <a:xfrm>
            <a:off x="432000" y="6426000"/>
            <a:ext cx="11328119" cy="0"/>
          </a:xfrm>
          <a:prstGeom prst="line">
            <a:avLst/>
          </a:prstGeom>
          <a:ln w="9525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hu-HU" altLang="en-US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navy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ccent_stripe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watermark_logo" descr="due_logo_nagy.png"/>
          <p:cNvPicPr>
            <a:picLocks noChangeAspect="1"/>
          </p:cNvPicPr>
          <p:nvPr/>
        </p:nvPicPr>
        <p:blipFill>
          <a:blip r:embed="rId3">
            <a:alphaModFix amt="12000"/>
          </a:blip>
          <a:stretch/>
        </p:blipFill>
        <p:spPr>
          <a:xfrm>
            <a:off x="7224119" y="2545200"/>
            <a:ext cx="5760000" cy="5760000"/>
          </a:xfrm>
          <a:prstGeom prst="rect">
            <a:avLst/>
          </a:prstGeom>
        </p:spPr>
      </p:pic>
      <p:sp>
        <p:nvSpPr>
          <p:cNvPr id="6" name="slide_main_title"/>
          <p:cNvSpPr txBox="1"/>
          <p:nvPr/>
        </p:nvSpPr>
        <p:spPr>
          <a:xfrm>
            <a:off x="720000" y="1260000"/>
            <a:ext cx="9888119" cy="2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i="0" dirty="0" err="1">
                <a:solidFill>
                  <a:srgbClr val="FFFFFF"/>
                </a:solidFill>
                <a:latin typeface="Garamond"/>
              </a:rPr>
              <a:t>Előadás</a:t>
            </a:r>
            <a:r>
              <a:rPr sz="3400" b="1" i="0" dirty="0">
                <a:solidFill>
                  <a:srgbClr val="FFFFFF"/>
                </a:solidFill>
                <a:latin typeface="Garamond"/>
              </a:rPr>
              <a:t xml:space="preserve"> </a:t>
            </a:r>
            <a:r>
              <a:rPr sz="3400" b="1" i="0" dirty="0" err="1">
                <a:solidFill>
                  <a:srgbClr val="FFFFFF"/>
                </a:solidFill>
                <a:latin typeface="Garamond"/>
              </a:rPr>
              <a:t>főcíme</a:t>
            </a:r>
            <a:r>
              <a:rPr sz="3400" b="1" i="0" dirty="0">
                <a:solidFill>
                  <a:srgbClr val="FFFFFF"/>
                </a:solidFill>
                <a:latin typeface="Garamond"/>
              </a:rPr>
              <a:t xml:space="preserve">:
Lorem ipsum dolor sit </a:t>
            </a:r>
            <a:r>
              <a:rPr sz="3400" b="1" i="0" dirty="0" err="1">
                <a:solidFill>
                  <a:srgbClr val="FFFFFF"/>
                </a:solidFill>
                <a:latin typeface="Garamond"/>
              </a:rPr>
              <a:t>amet</a:t>
            </a:r>
            <a:r>
              <a:rPr sz="3400" b="1" i="0" dirty="0">
                <a:solidFill>
                  <a:srgbClr val="FFFFFF"/>
                </a:solidFill>
                <a:latin typeface="Garamond"/>
              </a:rPr>
              <a:t xml:space="preserve"> </a:t>
            </a:r>
            <a:r>
              <a:rPr sz="3400" b="1" i="0" dirty="0" err="1">
                <a:solidFill>
                  <a:srgbClr val="FFFFFF"/>
                </a:solidFill>
                <a:latin typeface="Garamond"/>
              </a:rPr>
              <a:t>consectetur</a:t>
            </a:r>
            <a:endParaRPr sz="3400" b="1" i="0" dirty="0">
              <a:solidFill>
                <a:srgbClr val="FFFFFF"/>
              </a:solidFill>
              <a:latin typeface="Garamond"/>
            </a:endParaRPr>
          </a:p>
        </p:txBody>
      </p:sp>
      <p:cxnSp>
        <p:nvCxnSpPr>
          <p:cNvPr id="7" name="title_rule"/>
          <p:cNvCxnSpPr/>
          <p:nvPr/>
        </p:nvCxnSpPr>
        <p:spPr>
          <a:xfrm>
            <a:off x="720000" y="3960000"/>
            <a:ext cx="4320000" cy="0"/>
          </a:xfrm>
          <a:prstGeom prst="line">
            <a:avLst/>
          </a:prstGeom>
          <a:ln w="254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_subtitle"/>
          <p:cNvSpPr txBox="1"/>
          <p:nvPr/>
        </p:nvSpPr>
        <p:spPr>
          <a:xfrm>
            <a:off x="720000" y="4140000"/>
            <a:ext cx="1075211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hu-HU" sz="1600" b="0" i="1" dirty="0">
                <a:solidFill>
                  <a:srgbClr val="7A8A9E"/>
                </a:solidFill>
                <a:latin typeface="Aptos" panose="020B0004020202020204" pitchFamily="34" charset="0"/>
              </a:rPr>
              <a:t xml:space="preserve">Egyetem neve – Képzés neve </a:t>
            </a:r>
            <a:r>
              <a:rPr sz="1600" b="0" i="1" dirty="0">
                <a:solidFill>
                  <a:srgbClr val="7A8A9E"/>
                </a:solidFill>
                <a:latin typeface="Aptos" panose="020B0004020202020204" pitchFamily="34" charset="0"/>
              </a:rPr>
              <a:t xml:space="preserve">– </a:t>
            </a:r>
            <a:r>
              <a:rPr sz="1600" b="0" i="1" dirty="0" err="1">
                <a:solidFill>
                  <a:srgbClr val="7A8A9E"/>
                </a:solidFill>
                <a:latin typeface="Aptos" panose="020B0004020202020204" pitchFamily="34" charset="0"/>
              </a:rPr>
              <a:t>Intézet</a:t>
            </a:r>
            <a:r>
              <a:rPr sz="1600" b="0" i="1" dirty="0">
                <a:solidFill>
                  <a:srgbClr val="7A8A9E"/>
                </a:solidFill>
                <a:latin typeface="Aptos" panose="020B0004020202020204" pitchFamily="34" charset="0"/>
              </a:rPr>
              <a:t xml:space="preserve"> neve</a:t>
            </a:r>
            <a:r>
              <a:rPr lang="hu-HU" sz="1600" i="1" dirty="0">
                <a:solidFill>
                  <a:srgbClr val="7A8A9E"/>
                </a:solidFill>
                <a:latin typeface="Aptos" panose="020B0004020202020204" pitchFamily="34" charset="0"/>
              </a:rPr>
              <a:t xml:space="preserve">  –  Tantárgy neve</a:t>
            </a:r>
            <a:endParaRPr sz="1600" b="0" i="1" dirty="0">
              <a:solidFill>
                <a:srgbClr val="7A8A9E"/>
              </a:solidFill>
              <a:latin typeface="Aptos" panose="020B0004020202020204" pitchFamily="34" charset="0"/>
            </a:endParaRPr>
          </a:p>
        </p:txBody>
      </p:sp>
      <p:sp>
        <p:nvSpPr>
          <p:cNvPr id="9" name="footer_author"/>
          <p:cNvSpPr txBox="1"/>
          <p:nvPr/>
        </p:nvSpPr>
        <p:spPr>
          <a:xfrm>
            <a:off x="720000" y="5850000"/>
            <a:ext cx="5040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10" name="footer_date"/>
          <p:cNvSpPr txBox="1"/>
          <p:nvPr/>
        </p:nvSpPr>
        <p:spPr>
          <a:xfrm>
            <a:off x="720000" y="6354000"/>
            <a:ext cx="28800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003A70"/>
                </a:solidFill>
                <a:latin typeface="Aptos" panose="020B0004020202020204" pitchFamily="34" charset="0"/>
              </a:rPr>
              <a:t>2026.05.20.</a:t>
            </a:r>
          </a:p>
        </p:txBody>
      </p:sp>
    </p:spTree>
    <p:extLst>
      <p:ext uri="{BB962C8B-B14F-4D97-AF65-F5344CB8AC3E}">
        <p14:creationId xmlns:p14="http://schemas.microsoft.com/office/powerpoint/2010/main" val="4251927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083DF-5349-0397-F90D-0B334788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_title">
            <a:extLst>
              <a:ext uri="{FF2B5EF4-FFF2-40B4-BE49-F238E27FC236}">
                <a16:creationId xmlns:a16="http://schemas.microsoft.com/office/drawing/2014/main" id="{C02EE7BC-359B-AF6A-3ABA-6BB0AA2FF615}"/>
              </a:ext>
            </a:extLst>
          </p:cNvPr>
          <p:cNvSpPr txBox="1"/>
          <p:nvPr/>
        </p:nvSpPr>
        <p:spPr>
          <a:xfrm>
            <a:off x="432000" y="342556"/>
            <a:ext cx="10248119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Tartalom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6" name="footer_date">
            <a:extLst>
              <a:ext uri="{FF2B5EF4-FFF2-40B4-BE49-F238E27FC236}">
                <a16:creationId xmlns:a16="http://schemas.microsoft.com/office/drawing/2014/main" id="{6F077C84-8685-21CB-C27A-AF00DE504042}"/>
              </a:ext>
            </a:extLst>
          </p:cNvPr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>
            <a:extLst>
              <a:ext uri="{FF2B5EF4-FFF2-40B4-BE49-F238E27FC236}">
                <a16:creationId xmlns:a16="http://schemas.microsoft.com/office/drawing/2014/main" id="{91D4CFB3-89CC-C58A-AA17-42DD5563327C}"/>
              </a:ext>
            </a:extLst>
          </p:cNvPr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>
            <a:extLst>
              <a:ext uri="{FF2B5EF4-FFF2-40B4-BE49-F238E27FC236}">
                <a16:creationId xmlns:a16="http://schemas.microsoft.com/office/drawing/2014/main" id="{DC23E99F-B203-0E6E-7AB7-568EF5010DBA}"/>
              </a:ext>
            </a:extLst>
          </p:cNvPr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>
            <a:extLst>
              <a:ext uri="{FF2B5EF4-FFF2-40B4-BE49-F238E27FC236}">
                <a16:creationId xmlns:a16="http://schemas.microsoft.com/office/drawing/2014/main" id="{7EE0F0E6-B429-F36B-BD43-9FA7D1621C06}"/>
              </a:ext>
            </a:extLst>
          </p:cNvPr>
          <p:cNvSpPr txBox="1"/>
          <p:nvPr/>
        </p:nvSpPr>
        <p:spPr>
          <a:xfrm>
            <a:off x="432000" y="1296000"/>
            <a:ext cx="11328119" cy="4977573"/>
          </a:xfrm>
          <a:prstGeom prst="rect">
            <a:avLst/>
          </a:prstGeom>
          <a:noFill/>
        </p:spPr>
        <p:txBody>
          <a:bodyPr wrap="square" numCol="1">
            <a:noAutofit/>
          </a:bodyPr>
          <a:lstStyle/>
          <a:p>
            <a:pPr algn="l"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 xml:space="preserve">1.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Első fejezet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 xml:space="preserve">	1.1.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Első szakasz</a:t>
            </a:r>
          </a:p>
          <a:p>
            <a:pPr algn="l"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 xml:space="preserve">		1.1.1.</a:t>
            </a:r>
            <a:r>
              <a:rPr sz="1600" dirty="0">
                <a:solidFill>
                  <a:srgbClr val="ED7D31"/>
                </a:solidFill>
                <a:latin typeface="Aptos" panose="020B0004020202020204" pitchFamily="34" charset="0"/>
              </a:rPr>
              <a:t xml:space="preserve"> 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Első alszakasz</a:t>
            </a: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>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 xml:space="preserve">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fejezet</a:t>
            </a: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 xml:space="preserve">	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 xml:space="preserve">.1.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szakasz</a:t>
            </a: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defTabSz="180000">
              <a:spcBef>
                <a:spcPts val="400"/>
              </a:spcBef>
              <a:spcAft>
                <a:spcPts val="100"/>
              </a:spcAft>
            </a:pPr>
            <a:r>
              <a:rPr lang="hu-HU" sz="1600" dirty="0">
                <a:solidFill>
                  <a:srgbClr val="ED7D31"/>
                </a:solidFill>
                <a:latin typeface="Aptos" panose="020B0004020202020204" pitchFamily="34" charset="0"/>
              </a:rPr>
              <a:t xml:space="preserve">		2</a:t>
            </a:r>
            <a:r>
              <a:rPr lang="es-ES" sz="1600" dirty="0">
                <a:solidFill>
                  <a:srgbClr val="ED7D31"/>
                </a:solidFill>
                <a:latin typeface="Aptos" panose="020B0004020202020204" pitchFamily="34" charset="0"/>
              </a:rPr>
              <a:t xml:space="preserve">.1.1.  </a:t>
            </a:r>
            <a:r>
              <a:rPr lang="hu-HU" sz="1600" dirty="0">
                <a:solidFill>
                  <a:srgbClr val="212121"/>
                </a:solidFill>
                <a:latin typeface="Aptos" panose="020B0004020202020204" pitchFamily="34" charset="0"/>
              </a:rPr>
              <a:t>Második alszakasz</a:t>
            </a:r>
            <a:endParaRPr lang="es-ES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 defTabSz="180000">
              <a:spcBef>
                <a:spcPts val="400"/>
              </a:spcBef>
              <a:spcAft>
                <a:spcPts val="100"/>
              </a:spcAft>
            </a:pP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455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88865-2C40-468A-8BE1-A830291B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_bg_left">
            <a:extLst>
              <a:ext uri="{FF2B5EF4-FFF2-40B4-BE49-F238E27FC236}">
                <a16:creationId xmlns:a16="http://schemas.microsoft.com/office/drawing/2014/main" id="{7A470439-C485-0C09-A4E5-CBEE5F251329}"/>
              </a:ext>
            </a:extLst>
          </p:cNvPr>
          <p:cNvSpPr/>
          <p:nvPr/>
        </p:nvSpPr>
        <p:spPr>
          <a:xfrm>
            <a:off x="0" y="0"/>
            <a:ext cx="5120689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section_accent_line">
            <a:extLst>
              <a:ext uri="{FF2B5EF4-FFF2-40B4-BE49-F238E27FC236}">
                <a16:creationId xmlns:a16="http://schemas.microsoft.com/office/drawing/2014/main" id="{59FCE9DB-E97D-36F4-B3D6-C9B442E65468}"/>
              </a:ext>
            </a:extLst>
          </p:cNvPr>
          <p:cNvCxnSpPr/>
          <p:nvPr/>
        </p:nvCxnSpPr>
        <p:spPr>
          <a:xfrm>
            <a:off x="5120688" y="0"/>
            <a:ext cx="0" cy="6858000"/>
          </a:xfrm>
          <a:prstGeom prst="line">
            <a:avLst/>
          </a:prstGeom>
          <a:ln w="3810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ottom_stripe">
            <a:extLst>
              <a:ext uri="{FF2B5EF4-FFF2-40B4-BE49-F238E27FC236}">
                <a16:creationId xmlns:a16="http://schemas.microsoft.com/office/drawing/2014/main" id="{78201977-051C-530E-3AC9-659A0CE85B58}"/>
              </a:ext>
            </a:extLst>
          </p:cNvPr>
          <p:cNvSpPr/>
          <p:nvPr/>
        </p:nvSpPr>
        <p:spPr>
          <a:xfrm>
            <a:off x="0" y="6678000"/>
            <a:ext cx="12192119" cy="1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section_number">
            <a:extLst>
              <a:ext uri="{FF2B5EF4-FFF2-40B4-BE49-F238E27FC236}">
                <a16:creationId xmlns:a16="http://schemas.microsoft.com/office/drawing/2014/main" id="{C08E8861-3D89-BCFA-75D3-BAE0F468F95C}"/>
              </a:ext>
            </a:extLst>
          </p:cNvPr>
          <p:cNvSpPr txBox="1"/>
          <p:nvPr/>
        </p:nvSpPr>
        <p:spPr>
          <a:xfrm>
            <a:off x="432000" y="2738835"/>
            <a:ext cx="4544689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200" b="1" i="0" dirty="0">
                <a:solidFill>
                  <a:srgbClr val="ED7D31"/>
                </a:solidFill>
                <a:latin typeface="Garamond"/>
              </a:rPr>
              <a:t>0</a:t>
            </a:r>
            <a:r>
              <a:rPr lang="hu-HU" sz="7200" b="1" i="0" dirty="0">
                <a:solidFill>
                  <a:srgbClr val="ED7D31"/>
                </a:solidFill>
                <a:latin typeface="Garamond"/>
              </a:rPr>
              <a:t>1</a:t>
            </a:r>
            <a:endParaRPr sz="7200" b="1" i="0" dirty="0">
              <a:solidFill>
                <a:srgbClr val="ED7D31"/>
              </a:solidFill>
              <a:latin typeface="Garamond"/>
            </a:endParaRPr>
          </a:p>
        </p:txBody>
      </p:sp>
      <p:sp>
        <p:nvSpPr>
          <p:cNvPr id="6" name="section_title">
            <a:extLst>
              <a:ext uri="{FF2B5EF4-FFF2-40B4-BE49-F238E27FC236}">
                <a16:creationId xmlns:a16="http://schemas.microsoft.com/office/drawing/2014/main" id="{6073252F-F104-79A4-2730-ED51B846E467}"/>
              </a:ext>
            </a:extLst>
          </p:cNvPr>
          <p:cNvSpPr txBox="1"/>
          <p:nvPr/>
        </p:nvSpPr>
        <p:spPr>
          <a:xfrm>
            <a:off x="432000" y="3566160"/>
            <a:ext cx="4544689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hu-HU" sz="2400" b="1" i="0" dirty="0">
                <a:solidFill>
                  <a:srgbClr val="FFFFFF"/>
                </a:solidFill>
                <a:latin typeface="Garamond"/>
              </a:rPr>
              <a:t>Fejezet</a:t>
            </a:r>
            <a:r>
              <a:rPr sz="2400" b="1" i="0" dirty="0">
                <a:solidFill>
                  <a:srgbClr val="FFFFFF"/>
                </a:solidFill>
                <a:latin typeface="Garamond"/>
              </a:rPr>
              <a:t xml:space="preserve"> neve –
Lorem ipsum</a:t>
            </a:r>
          </a:p>
        </p:txBody>
      </p:sp>
      <p:sp>
        <p:nvSpPr>
          <p:cNvPr id="7" name="section_description">
            <a:extLst>
              <a:ext uri="{FF2B5EF4-FFF2-40B4-BE49-F238E27FC236}">
                <a16:creationId xmlns:a16="http://schemas.microsoft.com/office/drawing/2014/main" id="{FB7ABF20-6B07-5960-4E2E-A44AB8704085}"/>
              </a:ext>
            </a:extLst>
          </p:cNvPr>
          <p:cNvSpPr txBox="1"/>
          <p:nvPr/>
        </p:nvSpPr>
        <p:spPr>
          <a:xfrm>
            <a:off x="5768689" y="2767280"/>
            <a:ext cx="627943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 xml:space="preserve">Ez a 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fejezet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 xml:space="preserve"> 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témájának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
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rövid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 xml:space="preserve"> 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összefoglalója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 xml:space="preserve">.
Lorem ipsum dolor sit 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amet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,
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consectetur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 xml:space="preserve"> 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adipiscing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 xml:space="preserve"> </a:t>
            </a:r>
            <a:r>
              <a:rPr sz="1600" b="0" i="0" dirty="0" err="1">
                <a:solidFill>
                  <a:srgbClr val="212121"/>
                </a:solidFill>
                <a:latin typeface="Aptos" panose="020B0004020202020204" pitchFamily="34" charset="0"/>
              </a:rPr>
              <a:t>elit</a:t>
            </a:r>
            <a:r>
              <a:rPr sz="1600" b="0" i="0" dirty="0">
                <a:solidFill>
                  <a:srgbClr val="212121"/>
                </a:solidFill>
                <a:latin typeface="Aptos" panose="020B0004020202020204" pitchFamily="34" charset="0"/>
              </a:rPr>
              <a:t>.</a:t>
            </a:r>
          </a:p>
        </p:txBody>
      </p:sp>
      <p:pic>
        <p:nvPicPr>
          <p:cNvPr id="10" name="logo_small" descr="due_logo_pici.png">
            <a:extLst>
              <a:ext uri="{FF2B5EF4-FFF2-40B4-BE49-F238E27FC236}">
                <a16:creationId xmlns:a16="http://schemas.microsoft.com/office/drawing/2014/main" id="{F4615F05-B95E-9834-FEAB-B0D24EA14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6119" y="152426"/>
            <a:ext cx="792000" cy="77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536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_title"/>
          <p:cNvSpPr txBox="1"/>
          <p:nvPr/>
        </p:nvSpPr>
        <p:spPr>
          <a:xfrm>
            <a:off x="432000" y="342556"/>
            <a:ext cx="10248119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Első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fejezet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/>
          <p:cNvSpPr txBox="1"/>
          <p:nvPr/>
        </p:nvSpPr>
        <p:spPr>
          <a:xfrm>
            <a:off x="432000" y="1296000"/>
            <a:ext cx="113281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Primus punctus: Lorem ipsum dolor sit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elit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sed do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labore et dolore magna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aliqua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8B3D5-B7E8-81DA-1C5D-B270CB42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_title">
            <a:extLst>
              <a:ext uri="{FF2B5EF4-FFF2-40B4-BE49-F238E27FC236}">
                <a16:creationId xmlns:a16="http://schemas.microsoft.com/office/drawing/2014/main" id="{96B11FEA-FF88-09B3-1F7B-F3C1727132D3}"/>
              </a:ext>
            </a:extLst>
          </p:cNvPr>
          <p:cNvSpPr txBox="1"/>
          <p:nvPr/>
        </p:nvSpPr>
        <p:spPr>
          <a:xfrm>
            <a:off x="432000" y="173279"/>
            <a:ext cx="10248119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Első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fejezet</a:t>
            </a:r>
            <a:endParaRPr lang="hu-HU" sz="2200" b="1" dirty="0">
              <a:solidFill>
                <a:srgbClr val="FFFFFF"/>
              </a:solidFill>
              <a:latin typeface="Garamond"/>
            </a:endParaRPr>
          </a:p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1.1. Első szakasz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6" name="footer_date">
            <a:extLst>
              <a:ext uri="{FF2B5EF4-FFF2-40B4-BE49-F238E27FC236}">
                <a16:creationId xmlns:a16="http://schemas.microsoft.com/office/drawing/2014/main" id="{52CC730B-6681-762B-45E2-E31B91DC1A74}"/>
              </a:ext>
            </a:extLst>
          </p:cNvPr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>
            <a:extLst>
              <a:ext uri="{FF2B5EF4-FFF2-40B4-BE49-F238E27FC236}">
                <a16:creationId xmlns:a16="http://schemas.microsoft.com/office/drawing/2014/main" id="{7CD98314-DEAB-5C44-8066-09D023A8A15D}"/>
              </a:ext>
            </a:extLst>
          </p:cNvPr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>
            <a:extLst>
              <a:ext uri="{FF2B5EF4-FFF2-40B4-BE49-F238E27FC236}">
                <a16:creationId xmlns:a16="http://schemas.microsoft.com/office/drawing/2014/main" id="{A2123CE8-FBF0-6CD4-2656-41F359372421}"/>
              </a:ext>
            </a:extLst>
          </p:cNvPr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>
            <a:extLst>
              <a:ext uri="{FF2B5EF4-FFF2-40B4-BE49-F238E27FC236}">
                <a16:creationId xmlns:a16="http://schemas.microsoft.com/office/drawing/2014/main" id="{0B42CABB-E559-DADD-DA9F-B029EDC29C06}"/>
              </a:ext>
            </a:extLst>
          </p:cNvPr>
          <p:cNvSpPr txBox="1"/>
          <p:nvPr/>
        </p:nvSpPr>
        <p:spPr>
          <a:xfrm>
            <a:off x="432000" y="1296000"/>
            <a:ext cx="11328119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Primus punctus: Lorem ipsum dolor sit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elit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sed do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labore et dolore magna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aliqua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Secundus punctus: Ut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enim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ad minim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veniam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quis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nostrud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exercitation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ullamco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laboris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nisi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aliquip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ex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ea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commodo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consequat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81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A1579-6991-55D8-4BDA-125E3D4B5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_title">
            <a:extLst>
              <a:ext uri="{FF2B5EF4-FFF2-40B4-BE49-F238E27FC236}">
                <a16:creationId xmlns:a16="http://schemas.microsoft.com/office/drawing/2014/main" id="{96D470E7-127A-5756-4AD1-2692BED1507A}"/>
              </a:ext>
            </a:extLst>
          </p:cNvPr>
          <p:cNvSpPr txBox="1"/>
          <p:nvPr/>
        </p:nvSpPr>
        <p:spPr>
          <a:xfrm>
            <a:off x="432000" y="4002"/>
            <a:ext cx="10248119" cy="11079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Első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fejezet</a:t>
            </a:r>
            <a:endParaRPr lang="hu-HU" sz="2200" b="1" dirty="0">
              <a:solidFill>
                <a:srgbClr val="FFFFFF"/>
              </a:solidFill>
              <a:latin typeface="Garamond"/>
            </a:endParaRPr>
          </a:p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1.1. Első szakasz</a:t>
            </a:r>
          </a:p>
          <a:p>
            <a:pPr algn="l"/>
            <a:r>
              <a:rPr lang="hu-HU" sz="2200" b="1" dirty="0">
                <a:solidFill>
                  <a:srgbClr val="FFFFFF"/>
                </a:solidFill>
                <a:latin typeface="Garamond"/>
              </a:rPr>
              <a:t>1.1.1. Első alszakasz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6" name="footer_date">
            <a:extLst>
              <a:ext uri="{FF2B5EF4-FFF2-40B4-BE49-F238E27FC236}">
                <a16:creationId xmlns:a16="http://schemas.microsoft.com/office/drawing/2014/main" id="{7A92BB04-2E1E-360E-71E1-50B6238FDC05}"/>
              </a:ext>
            </a:extLst>
          </p:cNvPr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>
            <a:extLst>
              <a:ext uri="{FF2B5EF4-FFF2-40B4-BE49-F238E27FC236}">
                <a16:creationId xmlns:a16="http://schemas.microsoft.com/office/drawing/2014/main" id="{B54449D1-67B4-B0BC-4EC7-4D92828B027B}"/>
              </a:ext>
            </a:extLst>
          </p:cNvPr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>
            <a:extLst>
              <a:ext uri="{FF2B5EF4-FFF2-40B4-BE49-F238E27FC236}">
                <a16:creationId xmlns:a16="http://schemas.microsoft.com/office/drawing/2014/main" id="{B5878863-1C05-C30B-FD8D-383331F4EE6B}"/>
              </a:ext>
            </a:extLst>
          </p:cNvPr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>
            <a:extLst>
              <a:ext uri="{FF2B5EF4-FFF2-40B4-BE49-F238E27FC236}">
                <a16:creationId xmlns:a16="http://schemas.microsoft.com/office/drawing/2014/main" id="{4F9D2E34-E7BD-2E74-63FC-17E38F954F21}"/>
              </a:ext>
            </a:extLst>
          </p:cNvPr>
          <p:cNvSpPr txBox="1"/>
          <p:nvPr/>
        </p:nvSpPr>
        <p:spPr>
          <a:xfrm>
            <a:off x="432000" y="1296000"/>
            <a:ext cx="11328119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ED7D31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Primus punctus: Lorem ipsum dolor sit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elit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sed do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labore et dolore magna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aliqua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ED7D31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Secundus punctus: Ut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enim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ad minim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veniam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quis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nostrud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exercitation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ullamco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laboris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nisi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aliquip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ex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ea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commodo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consequat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ED7D31"/>
                </a:solidFill>
                <a:latin typeface="Aptos" panose="020B0004020202020204" pitchFamily="34" charset="0"/>
              </a:rPr>
              <a:t>▸  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Tertius punctus: Duis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aute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irure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dolor in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reprehenderit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in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voluptate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velit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esse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cillum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dolore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eu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fugiat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nulla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pariatur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</p:txBody>
      </p:sp>
      <p:sp>
        <p:nvSpPr>
          <p:cNvPr id="4" name="content_body">
            <a:extLst>
              <a:ext uri="{FF2B5EF4-FFF2-40B4-BE49-F238E27FC236}">
                <a16:creationId xmlns:a16="http://schemas.microsoft.com/office/drawing/2014/main" id="{0403A95D-DC8A-0364-1343-1A4EA2E3B655}"/>
              </a:ext>
            </a:extLst>
          </p:cNvPr>
          <p:cNvSpPr txBox="1"/>
          <p:nvPr/>
        </p:nvSpPr>
        <p:spPr>
          <a:xfrm>
            <a:off x="431881" y="2963679"/>
            <a:ext cx="11328119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400"/>
              </a:spcBef>
              <a:spcAft>
                <a:spcPts val="100"/>
              </a:spcAft>
              <a:buClr>
                <a:srgbClr val="ED7D31"/>
              </a:buClr>
              <a:buFont typeface="+mj-lt"/>
              <a:buAutoNum type="arabicPeriod"/>
              <a:defRPr sz="1600">
                <a:solidFill>
                  <a:srgbClr val="ED7D31"/>
                </a:solidFill>
              </a:defRPr>
            </a:pP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Primus punctus: Lorem ipsum dolor sit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elit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sed do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labore et dolore magna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aliqua</a:t>
            </a:r>
            <a:endParaRPr lang="hu-HU"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marL="342900" indent="-342900" algn="l">
              <a:spcBef>
                <a:spcPts val="400"/>
              </a:spcBef>
              <a:spcAft>
                <a:spcPts val="100"/>
              </a:spcAft>
              <a:buClr>
                <a:srgbClr val="ED7D31"/>
              </a:buClr>
              <a:buFont typeface="+mj-lt"/>
              <a:buAutoNum type="arabicPeriod"/>
              <a:defRPr sz="1600">
                <a:solidFill>
                  <a:srgbClr val="ED7D31"/>
                </a:solidFill>
              </a:defRPr>
            </a:pP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Secundus punctus: Ut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enim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ad minim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veniam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, quis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nostrud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exercitation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ullamco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laboris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nisi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aliquip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ex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ea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commodo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consequat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  <a:p>
            <a:pPr marL="342900" indent="-342900" algn="l">
              <a:spcBef>
                <a:spcPts val="400"/>
              </a:spcBef>
              <a:spcAft>
                <a:spcPts val="100"/>
              </a:spcAft>
              <a:buClr>
                <a:srgbClr val="ED7D31"/>
              </a:buClr>
              <a:buFont typeface="+mj-lt"/>
              <a:buAutoNum type="arabicPeriod"/>
              <a:defRPr sz="1600">
                <a:solidFill>
                  <a:srgbClr val="ED7D31"/>
                </a:solidFill>
              </a:defRPr>
            </a:pP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Tertius punctus: Duis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aute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irure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dolor in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reprehenderit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in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voluptate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velit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esse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cillum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dolore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eu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fugiat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nulla</a:t>
            </a:r>
            <a:r>
              <a:rPr sz="1600" dirty="0">
                <a:solidFill>
                  <a:srgbClr val="212121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212121"/>
                </a:solidFill>
                <a:latin typeface="Aptos" panose="020B0004020202020204" pitchFamily="34" charset="0"/>
              </a:rPr>
              <a:t>pariatur</a:t>
            </a:r>
            <a:endParaRPr sz="1600" dirty="0">
              <a:solidFill>
                <a:srgbClr val="21212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464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 dirty="0" err="1">
                <a:solidFill>
                  <a:srgbClr val="FFFFFF"/>
                </a:solidFill>
                <a:latin typeface="Garamond"/>
              </a:rPr>
              <a:t>Kép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és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szöveg</a:t>
            </a:r>
            <a:r>
              <a:rPr sz="2200" b="1" dirty="0">
                <a:solidFill>
                  <a:srgbClr val="FFFFFF"/>
                </a:solidFill>
                <a:latin typeface="Garamond"/>
              </a:rPr>
              <a:t> – Lorem ipsum dolor sit </a:t>
            </a:r>
            <a:r>
              <a:rPr sz="2200" b="1" dirty="0" err="1">
                <a:solidFill>
                  <a:srgbClr val="FFFFFF"/>
                </a:solidFill>
                <a:latin typeface="Garamond"/>
              </a:rPr>
              <a:t>amet</a:t>
            </a:r>
            <a:endParaRPr sz="2200" b="1" dirty="0">
              <a:solidFill>
                <a:srgbClr val="FFFFFF"/>
              </a:solidFill>
              <a:latin typeface="Garamond"/>
            </a:endParaRPr>
          </a:p>
        </p:txBody>
      </p: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4</a:t>
            </a:r>
          </a:p>
        </p:txBody>
      </p:sp>
      <p:cxnSp>
        <p:nvCxnSpPr>
          <p:cNvPr id="9" name="col_separator"/>
          <p:cNvCxnSpPr>
            <a:cxnSpLocks/>
          </p:cNvCxnSpPr>
          <p:nvPr/>
        </p:nvCxnSpPr>
        <p:spPr>
          <a:xfrm>
            <a:off x="6615903" y="1296000"/>
            <a:ext cx="0" cy="4986000"/>
          </a:xfrm>
          <a:prstGeom prst="line">
            <a:avLst/>
          </a:prstGeom>
          <a:ln w="12700">
            <a:solidFill>
              <a:srgbClr val="D0D8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l_left_body"/>
          <p:cNvSpPr txBox="1"/>
          <p:nvPr/>
        </p:nvSpPr>
        <p:spPr>
          <a:xfrm>
            <a:off x="432000" y="1296000"/>
            <a:ext cx="6003903" cy="225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Első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Lorem ipsum dolor sit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amet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consectetur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adipiscing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elit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Második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Sed do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eiusmod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tempor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incididunt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labore et dolore magna</a:t>
            </a: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Harmadik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Ut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enim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ad minim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veniam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, quis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nostrud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exercitation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ullamco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600" b="1" dirty="0">
                <a:solidFill>
                  <a:srgbClr val="D4622A"/>
                </a:solidFill>
                <a:latin typeface="Aptos" panose="020B0004020202020204" pitchFamily="34" charset="0"/>
              </a:rPr>
              <a:t>▸ 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Negyedik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pont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: Duis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aute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irure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dolor in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reprehenderit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in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voluptate</a:t>
            </a:r>
            <a:r>
              <a:rPr sz="1600" dirty="0">
                <a:solidFill>
                  <a:srgbClr val="1A1A2E"/>
                </a:solidFill>
                <a:latin typeface="Aptos" panose="020B0004020202020204" pitchFamily="34" charset="0"/>
              </a:rPr>
              <a:t> </a:t>
            </a:r>
            <a:r>
              <a:rPr sz="1600" dirty="0" err="1">
                <a:solidFill>
                  <a:srgbClr val="1A1A2E"/>
                </a:solidFill>
                <a:latin typeface="Aptos" panose="020B0004020202020204" pitchFamily="34" charset="0"/>
              </a:rPr>
              <a:t>velit</a:t>
            </a:r>
            <a:endParaRPr sz="1600" dirty="0">
              <a:solidFill>
                <a:srgbClr val="1A1A2E"/>
              </a:solidFill>
              <a:latin typeface="Aptos" panose="020B0004020202020204" pitchFamily="34" charset="0"/>
            </a:endParaRPr>
          </a:p>
        </p:txBody>
      </p:sp>
      <p:sp>
        <p:nvSpPr>
          <p:cNvPr id="11" name="col_right_image"/>
          <p:cNvSpPr/>
          <p:nvPr/>
        </p:nvSpPr>
        <p:spPr>
          <a:xfrm>
            <a:off x="6795903" y="1296000"/>
            <a:ext cx="4964216" cy="3739500"/>
          </a:xfrm>
          <a:prstGeom prst="rect">
            <a:avLst/>
          </a:prstGeom>
          <a:solidFill>
            <a:srgbClr val="E8EDF3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i="1">
                <a:solidFill>
                  <a:srgbClr val="7A8A9E"/>
                </a:solidFill>
                <a:latin typeface="Aptos" panose="020B0004020202020204" pitchFamily="34" charset="0"/>
              </a:rPr>
              <a:t>[Kép / ábra helye]</a:t>
            </a:r>
          </a:p>
        </p:txBody>
      </p:sp>
      <p:sp>
        <p:nvSpPr>
          <p:cNvPr id="12" name="figure_caption"/>
          <p:cNvSpPr txBox="1"/>
          <p:nvPr/>
        </p:nvSpPr>
        <p:spPr>
          <a:xfrm>
            <a:off x="6795903" y="5107500"/>
            <a:ext cx="49642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D4622A"/>
                </a:solidFill>
                <a:latin typeface="Aptos" panose="020B0004020202020204" pitchFamily="34" charset="0"/>
              </a:rPr>
              <a:t>1. ábra: </a:t>
            </a:r>
            <a:r>
              <a:rPr sz="1600" b="0" i="1">
                <a:solidFill>
                  <a:srgbClr val="4A5A6E"/>
                </a:solidFill>
                <a:latin typeface="Aptos" panose="020B0004020202020204" pitchFamily="34" charset="0"/>
              </a:rPr>
              <a:t>Az ábra rövid leírása lorem ipsum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aramond"/>
              </a:rPr>
              <a:t>Ábra – Lorem ipsum vizualizáció</a:t>
            </a:r>
          </a:p>
        </p:txBody>
      </p: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5</a:t>
            </a:r>
          </a:p>
        </p:txBody>
      </p:sp>
      <p:sp>
        <p:nvSpPr>
          <p:cNvPr id="9" name="figure_image"/>
          <p:cNvSpPr/>
          <p:nvPr/>
        </p:nvSpPr>
        <p:spPr>
          <a:xfrm>
            <a:off x="432000" y="1296000"/>
            <a:ext cx="11328119" cy="4410000"/>
          </a:xfrm>
          <a:prstGeom prst="rect">
            <a:avLst/>
          </a:prstGeom>
          <a:solidFill>
            <a:srgbClr val="E8EDF3"/>
          </a:solidFill>
          <a:ln w="9525">
            <a:solidFill>
              <a:srgbClr val="D0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[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Ábra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 xml:space="preserve"> 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helye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 xml:space="preserve"> – 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cseréld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 xml:space="preserve"> le 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add_picture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()-</a:t>
            </a:r>
            <a:r>
              <a:rPr sz="1600" i="1" dirty="0" err="1">
                <a:solidFill>
                  <a:srgbClr val="7A8A9E"/>
                </a:solidFill>
                <a:latin typeface="Aptos" panose="020B0004020202020204" pitchFamily="34" charset="0"/>
              </a:rPr>
              <a:t>rel</a:t>
            </a:r>
            <a:r>
              <a:rPr sz="1600" i="1" dirty="0">
                <a:solidFill>
                  <a:srgbClr val="7A8A9E"/>
                </a:solidFill>
                <a:latin typeface="Aptos" panose="020B0004020202020204" pitchFamily="34" charset="0"/>
              </a:rPr>
              <a:t>]</a:t>
            </a:r>
          </a:p>
        </p:txBody>
      </p:sp>
      <p:cxnSp>
        <p:nvCxnSpPr>
          <p:cNvPr id="10" name="figure_separator"/>
          <p:cNvCxnSpPr/>
          <p:nvPr/>
        </p:nvCxnSpPr>
        <p:spPr>
          <a:xfrm>
            <a:off x="432000" y="5742000"/>
            <a:ext cx="11328119" cy="0"/>
          </a:xfrm>
          <a:prstGeom prst="line">
            <a:avLst/>
          </a:prstGeom>
          <a:ln w="6350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igure_caption"/>
          <p:cNvSpPr txBox="1"/>
          <p:nvPr/>
        </p:nvSpPr>
        <p:spPr>
          <a:xfrm>
            <a:off x="432000" y="5814000"/>
            <a:ext cx="11328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D4622A"/>
                </a:solidFill>
                <a:latin typeface="Aptos" panose="020B0004020202020204" pitchFamily="34" charset="0"/>
              </a:rPr>
              <a:t xml:space="preserve">1. ábra: </a:t>
            </a:r>
            <a:r>
              <a:rPr sz="1600" b="0" i="1">
                <a:solidFill>
                  <a:srgbClr val="4A5A6E"/>
                </a:solidFill>
                <a:latin typeface="Aptos" panose="020B0004020202020204" pitchFamily="34" charset="0"/>
              </a:rPr>
              <a:t>Az ábra részletes felirata – lorem ipsum dolor sit amet consectetur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_title"/>
          <p:cNvSpPr txBox="1"/>
          <p:nvPr/>
        </p:nvSpPr>
        <p:spPr>
          <a:xfrm>
            <a:off x="432000" y="108000"/>
            <a:ext cx="1024811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Garamond"/>
              </a:rPr>
              <a:t>Táblázat – Lorem ipsum adatok</a:t>
            </a:r>
          </a:p>
        </p:txBody>
      </p: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7A8A9E"/>
                </a:solidFill>
                <a:latin typeface="Calibri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6</a:t>
            </a:r>
          </a:p>
        </p:txBody>
      </p:sp>
      <p:sp>
        <p:nvSpPr>
          <p:cNvPr id="9" name="table_title"/>
          <p:cNvSpPr txBox="1"/>
          <p:nvPr/>
        </p:nvSpPr>
        <p:spPr>
          <a:xfrm>
            <a:off x="432000" y="1296000"/>
            <a:ext cx="11328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D4622A"/>
                </a:solidFill>
                <a:latin typeface="Aptos" panose="020B0004020202020204" pitchFamily="34" charset="0"/>
              </a:rPr>
              <a:t xml:space="preserve">1. táblázat: </a:t>
            </a:r>
            <a:r>
              <a:rPr sz="1600" b="0" i="1">
                <a:solidFill>
                  <a:srgbClr val="4A5A6E"/>
                </a:solidFill>
                <a:latin typeface="Aptos" panose="020B0004020202020204" pitchFamily="34" charset="0"/>
              </a:rPr>
              <a:t>Összefoglaló adatok – lorem ipsum measurement results</a:t>
            </a:r>
          </a:p>
        </p:txBody>
      </p:sp>
      <p:cxnSp>
        <p:nvCxnSpPr>
          <p:cNvPr id="10" name="table_title_separator"/>
          <p:cNvCxnSpPr/>
          <p:nvPr/>
        </p:nvCxnSpPr>
        <p:spPr>
          <a:xfrm>
            <a:off x="432000" y="1656000"/>
            <a:ext cx="11328119" cy="0"/>
          </a:xfrm>
          <a:prstGeom prst="line">
            <a:avLst/>
          </a:prstGeom>
          <a:ln w="6350">
            <a:solidFill>
              <a:srgbClr val="D0D8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24365"/>
              </p:ext>
            </p:extLst>
          </p:nvPr>
        </p:nvGraphicFramePr>
        <p:xfrm>
          <a:off x="432000" y="1728000"/>
          <a:ext cx="11328119" cy="45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2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2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2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080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Paraméter</a:t>
                      </a:r>
                      <a:endParaRPr sz="1600" b="1" dirty="0">
                        <a:solidFill>
                          <a:srgbClr val="FFFFFF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Mértékegység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Mért érték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Referencia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mm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12,4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10–15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120,0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100–140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C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kPa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0,82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0,70–0,90</a:t>
                      </a:r>
                    </a:p>
                  </a:txBody>
                  <a:tcPr>
                    <a:solidFill>
                      <a:srgbClr val="EF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Lorem ipsum 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38,5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1A1A2E"/>
                          </a:solidFill>
                          <a:latin typeface="Aptos" panose="020B0004020202020204" pitchFamily="34" charset="0"/>
                        </a:rPr>
                        <a:t>35–42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_title"/>
          <p:cNvSpPr txBox="1"/>
          <p:nvPr/>
        </p:nvSpPr>
        <p:spPr>
          <a:xfrm>
            <a:off x="432000" y="327167"/>
            <a:ext cx="1024811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400" b="0" dirty="0">
                <a:solidFill>
                  <a:srgbClr val="FFFFFF"/>
                </a:solidFill>
                <a:latin typeface="Aptos"/>
              </a:rPr>
              <a:t>Irodalomjegyzék</a:t>
            </a:r>
          </a:p>
        </p:txBody>
      </p: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/>
          <p:cNvSpPr txBox="1"/>
          <p:nvPr/>
        </p:nvSpPr>
        <p:spPr>
          <a:xfrm>
            <a:off x="432000" y="1296000"/>
            <a:ext cx="11328119" cy="160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[1]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 xml:space="preserve">	Szerző, A. (2023). A cím. Kiadó, Város.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[2]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 xml:space="preserve">	Szerző, B. – Szerző, C. (2022). Cím. Folyóirat neve, 10(2), 45–67.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[3]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 xml:space="preserve">	Szerző, D. (2021). Fejezet címe. In: Szerkesztő (szerk.), Könyv. Kiadó.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[4]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 xml:space="preserve">	Szerző, E. (2020). Weboldal neve. URL: https://example.com [Letöltve: 2024]</a:t>
            </a:r>
          </a:p>
          <a:p>
            <a:pPr marL="457200" indent="-457200" algn="l">
              <a:spcBef>
                <a:spcPts val="300"/>
              </a:spcBef>
              <a:spcAft>
                <a:spcPts val="100"/>
              </a:spcAf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[5]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 xml:space="preserve">	Szerző, F. (2019). Konferencia-előadás. In: Konferencia neve, 123–130.</a:t>
            </a:r>
          </a:p>
          <a:p>
            <a:endParaRPr sz="1400" dirty="0">
              <a:solidFill>
                <a:srgbClr val="21212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5887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_title"/>
          <p:cNvSpPr txBox="1"/>
          <p:nvPr/>
        </p:nvSpPr>
        <p:spPr>
          <a:xfrm>
            <a:off x="432000" y="327167"/>
            <a:ext cx="1024811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endParaRPr sz="2400" dirty="0"/>
          </a:p>
        </p:txBody>
      </p: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22732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_title"/>
          <p:cNvSpPr txBox="1"/>
          <p:nvPr/>
        </p:nvSpPr>
        <p:spPr>
          <a:xfrm>
            <a:off x="432000" y="327167"/>
            <a:ext cx="1024811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hu-HU" sz="2400" dirty="0">
                <a:solidFill>
                  <a:srgbClr val="FFFFFF"/>
                </a:solidFill>
                <a:latin typeface="Aptos"/>
              </a:rPr>
              <a:t>Változásjegyzék</a:t>
            </a:r>
          </a:p>
        </p:txBody>
      </p:sp>
      <p:sp>
        <p:nvSpPr>
          <p:cNvPr id="6" name="footer_date"/>
          <p:cNvSpPr txBox="1"/>
          <p:nvPr/>
        </p:nvSpPr>
        <p:spPr>
          <a:xfrm>
            <a:off x="432000" y="6462000"/>
            <a:ext cx="21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7A8A9E"/>
                </a:solidFill>
                <a:latin typeface="Calibri"/>
              </a:rPr>
              <a:t>2026.05.20.</a:t>
            </a:r>
          </a:p>
        </p:txBody>
      </p:sp>
      <p:sp>
        <p:nvSpPr>
          <p:cNvPr id="7" name="footer_author"/>
          <p:cNvSpPr txBox="1"/>
          <p:nvPr/>
        </p:nvSpPr>
        <p:spPr>
          <a:xfrm>
            <a:off x="0" y="6462000"/>
            <a:ext cx="1219211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8A9E"/>
                </a:solidFill>
                <a:latin typeface="Aptos" panose="020B0004020202020204" pitchFamily="34" charset="0"/>
              </a:rPr>
              <a:t>Dr. Hári László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10680119" y="6462000"/>
            <a:ext cx="108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7A8A9E"/>
                </a:solidFill>
                <a:latin typeface="Calibri"/>
              </a:rPr>
              <a:t>2</a:t>
            </a:r>
          </a:p>
        </p:txBody>
      </p:sp>
      <p:sp>
        <p:nvSpPr>
          <p:cNvPr id="9" name="content_body"/>
          <p:cNvSpPr txBox="1"/>
          <p:nvPr/>
        </p:nvSpPr>
        <p:spPr>
          <a:xfrm>
            <a:off x="432000" y="1296000"/>
            <a:ext cx="11328119" cy="1372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b="1" dirty="0">
                <a:solidFill>
                  <a:srgbClr val="003A70"/>
                </a:solidFill>
                <a:latin typeface="Aptos"/>
              </a:rPr>
              <a:t>Verzió	Dátum	Szerző	Leírás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400" dirty="0">
              <a:solidFill>
                <a:srgbClr val="ED7D31"/>
              </a:solidFill>
            </a:endParaRPr>
          </a:p>
          <a:p>
            <a:pPr algn="l">
              <a:spcBef>
                <a:spcPts val="150"/>
              </a:spcBef>
              <a:spcAft>
                <a:spcPts val="1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0.0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 xml:space="preserve">	2026-05-24	Claude	</a:t>
            </a:r>
            <a:r>
              <a:rPr lang="hu-HU" sz="1400" dirty="0" err="1">
                <a:solidFill>
                  <a:srgbClr val="212121"/>
                </a:solidFill>
                <a:latin typeface="Aptos"/>
              </a:rPr>
              <a:t>Branding</a:t>
            </a:r>
            <a:endParaRPr lang="hu-HU" sz="1400" dirty="0">
              <a:solidFill>
                <a:srgbClr val="212121"/>
              </a:solidFill>
              <a:latin typeface="Aptos"/>
            </a:endParaRPr>
          </a:p>
          <a:p>
            <a:pPr algn="l">
              <a:spcBef>
                <a:spcPts val="150"/>
              </a:spcBef>
              <a:spcAft>
                <a:spcPts val="1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0.1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 xml:space="preserve">	2026-05-24	Hári László	</a:t>
            </a:r>
            <a:r>
              <a:rPr lang="hu-HU" sz="1400" dirty="0" err="1">
                <a:solidFill>
                  <a:srgbClr val="212121"/>
                </a:solidFill>
                <a:latin typeface="Aptos"/>
              </a:rPr>
              <a:t>Mindmap</a:t>
            </a:r>
            <a:endParaRPr lang="hu-HU" sz="1400" dirty="0">
              <a:solidFill>
                <a:srgbClr val="212121"/>
              </a:solidFill>
              <a:latin typeface="Aptos"/>
            </a:endParaRPr>
          </a:p>
          <a:p>
            <a:pPr algn="l">
              <a:spcBef>
                <a:spcPts val="150"/>
              </a:spcBef>
              <a:spcAft>
                <a:spcPts val="100"/>
              </a:spcAft>
              <a:tabLst>
                <a:tab pos="1016000" algn="l"/>
                <a:tab pos="2286000" algn="l"/>
                <a:tab pos="3810000" algn="l"/>
              </a:tabLst>
            </a:pPr>
            <a:r>
              <a:rPr lang="hu-HU" sz="1400" dirty="0">
                <a:solidFill>
                  <a:srgbClr val="ED7D31"/>
                </a:solidFill>
                <a:latin typeface="Aptos"/>
              </a:rPr>
              <a:t>0.2</a:t>
            </a:r>
            <a:r>
              <a:rPr lang="hu-HU" sz="1400" dirty="0">
                <a:solidFill>
                  <a:srgbClr val="212121"/>
                </a:solidFill>
                <a:latin typeface="Aptos"/>
              </a:rPr>
              <a:t xml:space="preserve">	2026-05-24	Claude</a:t>
            </a:r>
            <a:r>
              <a:rPr lang="hu-HU" sz="1400">
                <a:solidFill>
                  <a:srgbClr val="212121"/>
                </a:solidFill>
                <a:latin typeface="Aptos"/>
              </a:rPr>
              <a:t xml:space="preserve">	Finomítás</a:t>
            </a:r>
            <a:endParaRPr lang="hu-HU" sz="1400" dirty="0">
              <a:solidFill>
                <a:srgbClr val="212121"/>
              </a:solidFill>
              <a:latin typeface="Aptos"/>
            </a:endParaRPr>
          </a:p>
          <a:p>
            <a:endParaRPr sz="1400" dirty="0">
              <a:solidFill>
                <a:srgbClr val="21212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843533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9642564775]">
  <a:themeElements>
    <a:clrScheme name="Office">
      <a:dk1>
        <a:srgbClr val="212121"/>
      </a:dk1>
      <a:lt1>
        <a:srgbClr val="FFFFFF"/>
      </a:lt1>
      <a:dk2>
        <a:srgbClr val="003A70"/>
      </a:dk2>
      <a:lt2>
        <a:srgbClr val="F2F2F2"/>
      </a:lt2>
      <a:accent1>
        <a:srgbClr val="003A70"/>
      </a:accent1>
      <a:accent2>
        <a:srgbClr val="ED7D31"/>
      </a:accent2>
      <a:accent3>
        <a:srgbClr val="2E74B5"/>
      </a:accent3>
      <a:accent4>
        <a:srgbClr val="70AD47"/>
      </a:accent4>
      <a:accent5>
        <a:srgbClr val="FFC000"/>
      </a:accent5>
      <a:accent6>
        <a:srgbClr val="5A5A5A"/>
      </a:accent6>
      <a:hlink>
        <a:srgbClr val="003A70"/>
      </a:hlink>
      <a:folHlink>
        <a:srgbClr val="7F7F7F"/>
      </a:folHlink>
    </a:clrScheme>
    <a:fontScheme name="Office">
      <a:maj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F45988C-382B-4614-8C53-45C3FD16C5DF}">
  <we:reference id="wa200010001" version="1.0.0.1" store="hu-HU" storeType="OMEX"/>
  <we:alternateReferences>
    <we:reference id="WA200010001" version="1.0.0.1" store="" storeType="OMEX"/>
  </we:alternateReferences>
  <we:properties>
    <we:property name="claude.fileId" value="&quot;7405527b-01ff-46cd-986b-3ab2542bcbc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2074</Words>
  <Application>Microsoft Office PowerPoint</Application>
  <PresentationFormat>Szélesvásznú</PresentationFormat>
  <Paragraphs>259</Paragraphs>
  <Slides>12</Slides>
  <Notes>12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Garamond</vt:lpstr>
      <vt:lpstr>Office Theme [1779642564775]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Hári László</dc:creator>
  <cp:keywords/>
  <dc:description>generated using python-pptx</dc:description>
  <cp:lastModifiedBy>László Hári</cp:lastModifiedBy>
  <cp:revision>31</cp:revision>
  <dcterms:created xsi:type="dcterms:W3CDTF">2013-01-27T09:14:16Z</dcterms:created>
  <dcterms:modified xsi:type="dcterms:W3CDTF">2026-05-29T16:08:50Z</dcterms:modified>
  <cp:category/>
</cp:coreProperties>
</file>