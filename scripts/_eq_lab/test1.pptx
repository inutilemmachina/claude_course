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486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/>
              <a:t>Natív egyenlet-teszt (OMML):</a:t>
            </a:r>
          </a:p>
          <a:p>
            <a:r>
              <a:t>ahol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sSub>
                      <m:e>
                        <m:r>
                          <m:t>P</m:t>
                        </m:r>
                      </m:e>
                      <m:sub>
                        <m:r>
                          <m:t>o</m:t>
                        </m:r>
                      </m:sub>
                    </m:sSub>
                  </m:oMath>
                </a14:m>
              </mc:Choice>
              <mc:Fallback>
                <a:r>
                  <a:t>[képlet]</a:t>
                </a:r>
              </mc:Fallback>
            </mc:AlternateContent>
            <a:r>
              <a:t> és </a:t>
            </a:r>
          </a:p>
          <a:p>
            <a:r>
              <a:t>a teljes nyomásviszony </a:t>
            </a:r>
            <mc:AlternateContent xmlns:mc="http://schemas.openxmlformats.org/markup-compatibility/2006">
              <mc:Choice xmlns:a14="http://schemas.microsoft.com/office/drawing/2010/main" Requires="a14">
                <a14:m>
                  <m:oMath xmlns:m="http://schemas.openxmlformats.org/officeDocument/2006/math">
                    <m:r>
                      <m:t>B=</m:t>
                    </m:r>
                    <m:f>
                      <m:fPr>
                        <m:type m:val="bar"/>
                      </m:fPr>
                      <m:num>
                        <m:r>
                          <m:t>U</m:t>
                        </m:r>
                      </m:num>
                      <m:den>
                        <m:r>
                          <m:t>2a</m:t>
                        </m:r>
                      </m:den>
                    </m:f>
                    <m:rad>
                      <m:radPr>
                        <m:degHide m:val="on"/>
                      </m:radPr>
                      <m:deg/>
                      <m:e>
                        <m:f>
                          <m:fPr>
                            <m:type m:val="bar"/>
                          </m:fPr>
                          <m:num>
                            <m:sSub>
                              <m:e>
                                <m:r>
                                  <m:t>V</m:t>
                                </m:r>
                              </m:e>
                              <m:sub>
                                <m:r>
                                  <m:t>p</m:t>
                                </m:r>
                              </m:sub>
                            </m:sSub>
                          </m:num>
                          <m:den>
                            <m:sSub>
                              <m:e>
                                <m:r>
                                  <m:t>A</m:t>
                                </m:r>
                              </m:e>
                              <m:sub>
                                <m:r>
                                  <m:t>c</m:t>
                                </m:r>
                              </m:sub>
                            </m:sSub>
                            <m:sSub>
                              <m:e>
                                <m:r>
                                  <m:t>L</m:t>
                                </m:r>
                              </m:e>
                              <m:sub>
                                <m:r>
                                  <m:t>c</m:t>
                                </m:r>
                              </m:sub>
                            </m:sSub>
                          </m:den>
                        </m:f>
                      </m:e>
                    </m:rad>
                  </m:oMath>
                </a14:m>
              </mc:Choice>
              <mc:Fallback>
                <a:r>
                  <a:t>[képlet]</a:t>
                </a:r>
              </mc:Fallback>
            </mc:AlternateContent>
            <a:r>
              <a:t> a B-paraméter.</a:t>
            </a:r>
          </a:p>
          <a:p>
            <a:pPr algn="ctr"/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>
                      <m:r>
                        <m:t>SM=</m:t>
                      </m:r>
                      <m:f>
                        <m:fPr>
                          <m:type m:val="bar"/>
                        </m:fPr>
                        <m:num>
                          <m:sSub>
                            <m:e>
                              <m:d>
                                <m:dPr>
                                  <m:sepChr m:val=""/>
                                </m:dPr>
                                <m:e>
                                  <m:sSub>
                                    <m:e>
                                      <m:r>
                                        <m:t>P</m:t>
                                      </m:r>
                                    </m:e>
                                    <m:sub>
                                      <m:r>
                                        <m:t>o</m:t>
                                      </m:r>
                                    </m:sub>
                                  </m:sSub>
                                  <m:r>
                                    <m:t>/</m:t>
                                  </m:r>
                                  <m:sSub>
                                    <m:e>
                                      <m:r>
                                        <m:t>P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  <m:sSub>
                                    <m:e>
                                      <m:r>
                                        <m:t>)</m:t>
                                      </m:r>
                                    </m:e>
                                    <m:sub>
                                      <m:r>
                                        <m:t>Surge</m:t>
                                      </m:r>
                                    </m:sub>
                                  </m:sSub>
                                  <m:r>
                                    <m:t>−</m:t>
                                  </m:r>
                                  <m:r>
                                    <m:t>(</m:t>
                                  </m:r>
                                  <m:sSub>
                                    <m:e>
                                      <m:r>
                                        <m:t>P</m:t>
                                      </m:r>
                                    </m:e>
                                    <m:sub>
                                      <m:r>
                                        <m:t>o</m:t>
                                      </m:r>
                                    </m:sub>
                                  </m:sSub>
                                  <m:r>
                                    <m:t>/</m:t>
                                  </m:r>
                                  <m:sSub>
                                    <m:e>
                                      <m:r>
                                        <m:t>P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t>SA</m:t>
                              </m:r>
                            </m:sub>
                          </m:sSub>
                        </m:num>
                        <m:den>
                          <m:sSub>
                            <m:e>
                              <m:d>
                                <m:dPr>
                                  <m:sepChr m:val=""/>
                                </m:dPr>
                                <m:e>
                                  <m:sSub>
                                    <m:e>
                                      <m:r>
                                        <m:t>P</m:t>
                                      </m:r>
                                    </m:e>
                                    <m:sub>
                                      <m:r>
                                        <m:t>o</m:t>
                                      </m:r>
                                    </m:sub>
                                  </m:sSub>
                                  <m:r>
                                    <m:t>/</m:t>
                                  </m:r>
                                  <m:sSub>
                                    <m:e>
                                      <m:r>
                                        <m:t>P</m:t>
                                      </m:r>
                                    </m:e>
                                    <m:sub>
                                      <m:r>
                                        <m:t>i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m:t>SA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</mc:Choice>
              <mc:Fallback>
                <a:r>
                  <a:t>[képlet]</a:t>
                </a:r>
              </mc:Fallback>
            </mc:AlternateContent>
          </a:p>
          <a:p>
            <a:pPr algn="ctr"/>
            <mc:AlternateContent xmlns:mc="http://schemas.openxmlformats.org/markup-compatibility/2006">
              <mc:Choice xmlns:a14="http://schemas.microsoft.com/office/drawing/2010/main" Requires="a14">
                <a14:m>
                  <m:oMathPara xmlns:m="http://schemas.openxmlformats.org/officeDocument/2006/math">
                    <m:oMath>
                      <m:f>
                        <m:fPr>
                          <m:type m:val="bar"/>
                        </m:fPr>
                        <m:num>
                          <m:r>
                            <m:t>∂PR</m:t>
                          </m:r>
                        </m:num>
                        <m:den>
                          <m:r>
                            <m:t>∂m</m:t>
                          </m:r>
                        </m:den>
                      </m:f>
                      <m:r>
                        <m:t>≤0</m:t>
                      </m:r>
                    </m:oMath>
                  </m:oMathPara>
                </a14:m>
              </mc:Choice>
              <mc:Fallback>
                <a:r>
                  <a:t>[képlet]</a:t>
                </a:r>
              </mc:Fallback>
            </mc:AlternateContent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